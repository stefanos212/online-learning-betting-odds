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c7c447e8-ee6c-d268-b0cf-ca0267ab95b0}">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OGD</c:v>
                </c:pt>
              </c:strCache>
            </c:strRef>
          </c:tx>
          <c:spPr>
            <a:solidFill>
              <a:srgbClr val="0F4C81"/>
            </a:solidFill>
            <a:ln w="38100" cap="flat">
              <a:solidFill>
                <a:srgbClr val="0F4C81"/>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F4C81"/>
              </a:solidFill>
              <a:ln w="9525" cap="flat">
                <a:solidFill>
                  <a:srgbClr val="0F4C81"/>
                </a:solidFill>
                <a:prstDash val="solid"/>
                <a:round/>
              </a:ln>
              <a:effectLst/>
            </c:spPr>
          </c:marker>
          <c:cat>
            <c:multiLvlStrRef>
              <c:f>Sheet1!$A$2:$A$16</c:f>
              <c:multiLvlStrCache>
                <c:ptCount val="15"/>
                <c:lvl>
                  <c:pt idx="0">
                    <c:v>1</c:v>
                  </c:pt>
                  <c:pt idx="1">
                    <c:v>2</c:v>
                  </c:pt>
                  <c:pt idx="2">
                    <c:v>5</c:v>
                  </c:pt>
                  <c:pt idx="3">
                    <c:v>10</c:v>
                  </c:pt>
                  <c:pt idx="4">
                    <c:v>25</c:v>
                  </c:pt>
                  <c:pt idx="5">
                    <c:v>50</c:v>
                  </c:pt>
                  <c:pt idx="6">
                    <c:v>75</c:v>
                  </c:pt>
                  <c:pt idx="7">
                    <c:v>90</c:v>
                  </c:pt>
                  <c:pt idx="8">
                    <c:v>100</c:v>
                  </c:pt>
                  <c:pt idx="9">
                    <c:v>110</c:v>
                  </c:pt>
                  <c:pt idx="10">
                    <c:v>125</c:v>
                  </c:pt>
                  <c:pt idx="11">
                    <c:v>150</c:v>
                  </c:pt>
                  <c:pt idx="12">
                    <c:v>200</c:v>
                  </c:pt>
                  <c:pt idx="13">
                    <c:v>500</c:v>
                  </c:pt>
                  <c:pt idx="14">
                    <c:v>1000</c:v>
                  </c:pt>
                </c:lvl>
              </c:multiLvlStrCache>
            </c:multiLvlStrRef>
          </c:cat>
          <c:val>
            <c:numRef>
              <c:f>Sheet1!$B$2:$B$16</c:f>
              <c:numCache>
                <c:formatCode>General</c:formatCode>
                <c:ptCount val="15"/>
                <c:pt idx="0">
                  <c:v>0.99803</c:v>
                </c:pt>
                <c:pt idx="1">
                  <c:v>0.998</c:v>
                </c:pt>
                <c:pt idx="2">
                  <c:v>0.99794</c:v>
                </c:pt>
                <c:pt idx="3">
                  <c:v>0.99789</c:v>
                </c:pt>
                <c:pt idx="4">
                  <c:v>0.9978</c:v>
                </c:pt>
                <c:pt idx="5">
                  <c:v>0.9977</c:v>
                </c:pt>
                <c:pt idx="6">
                  <c:v>0.99766</c:v>
                </c:pt>
                <c:pt idx="7">
                  <c:v>0.99765</c:v>
                </c:pt>
                <c:pt idx="8">
                  <c:v>0.99765</c:v>
                </c:pt>
                <c:pt idx="9">
                  <c:v>0.99765</c:v>
                </c:pt>
                <c:pt idx="10">
                  <c:v>0.99766</c:v>
                </c:pt>
                <c:pt idx="11">
                  <c:v>0.99769</c:v>
                </c:pt>
                <c:pt idx="12">
                  <c:v>0.99778</c:v>
                </c:pt>
                <c:pt idx="13">
                  <c:v>0.99858</c:v>
                </c:pt>
                <c:pt idx="14">
                  <c:v>0.99895</c:v>
                </c:pt>
              </c:numCache>
            </c:numRef>
          </c:val>
          <c:smooth val="0"/>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C6B8A"/>
                    </a:solidFill>
                    <a:latin typeface="+mn-lt"/>
                  </a:defRPr>
                </a:pPr>
                <a:r>
                  <a:rPr sz="1200" b="0" i="0" u="none" strike="noStrike">
                    <a:solidFill>
                      <a:srgbClr val="5C6B8A"/>
                    </a:solidFill>
                    <a:latin typeface="+mn-lt"/>
                  </a:rPr>
                  <a:t>step multiplier (1 = textbook schedule)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0.9995"/>
          <c:min val="0.9975"/>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calibrated log-loss</c:v>
                </c:pt>
              </c:strCache>
            </c:strRef>
          </c:tx>
          <c:spPr>
            <a:solidFill>
              <a:srgbClr val="C1121F"/>
            </a:solidFill>
            <a:effectLst/>
          </c:spPr>
          <c:invertIfNegative val="0"/>
          <c:dLbls>
            <c:numFmt formatCode="0.00000" sourceLinked="0"/>
            <c:txPr>
              <a:bodyPr/>
              <a:lstStyle/>
              <a:p>
                <a:pPr>
                  <a:defRPr b="0" i="0" strike="noStrike" sz="1100" u="none">
                    <a:solidFill>
                      <a:srgbClr val="5C6B8A"/>
                    </a:solidFill>
                    <a:latin typeface="+mn-lt"/>
                  </a:defRPr>
                </a:pPr>
              </a:p>
            </c:txPr>
            <c:showLegendKey val="0"/>
            <c:showVal val="1"/>
            <c:showCatName val="0"/>
            <c:showSerName val="0"/>
            <c:showPercent val="0"/>
            <c:showBubbleSize val="0"/>
            <c:showLeaderLines val="0"/>
          </c:dLbls>
          <c:dPt>
            <c:idx val="0"/>
            <c:invertIfNegative val="0"/>
            <c:bubble3D val="0"/>
            <c:spPr>
              <a:solidFill>
                <a:srgbClr val="C1121F"/>
              </a:solidFill>
              <a:effectLst/>
            </c:spPr>
          </c:dPt>
          <c:dPt>
            <c:idx val="1"/>
            <c:invertIfNegative val="0"/>
            <c:bubble3D val="0"/>
            <c:spPr>
              <a:solidFill>
                <a:srgbClr val="0F4C81"/>
              </a:solidFill>
              <a:effectLst/>
            </c:spPr>
          </c:dPt>
          <c:dPt>
            <c:idx val="2"/>
            <c:invertIfNegative val="0"/>
            <c:bubble3D val="0"/>
            <c:spPr>
              <a:solidFill>
                <a:srgbClr val="0F4C81"/>
              </a:solidFill>
              <a:effectLst/>
            </c:spPr>
          </c:dPt>
          <c:dPt>
            <c:idx val="3"/>
            <c:invertIfNegative val="0"/>
            <c:bubble3D val="0"/>
            <c:spPr>
              <a:solidFill>
                <a:srgbClr val="0F4C81"/>
              </a:solidFill>
              <a:effectLst/>
            </c:spPr>
          </c:dPt>
          <c:dPt>
            <c:idx val="4"/>
            <c:invertIfNegative val="0"/>
            <c:bubble3D val="0"/>
            <c:spPr>
              <a:solidFill>
                <a:srgbClr val="0F4C81"/>
              </a:solidFill>
              <a:effectLst/>
            </c:spPr>
          </c:dPt>
          <c:dPt>
            <c:idx val="5"/>
            <c:invertIfNegative val="0"/>
            <c:bubble3D val="0"/>
            <c:spPr>
              <a:solidFill>
                <a:srgbClr val="C1121F"/>
              </a:solidFill>
              <a:effectLst/>
            </c:spPr>
          </c:dPt>
          <c:dPt>
            <c:idx val="6"/>
            <c:invertIfNegative val="0"/>
            <c:bubble3D val="0"/>
            <c:spPr>
              <a:solidFill>
                <a:srgbClr val="C1121F"/>
              </a:solidFill>
              <a:effectLst/>
            </c:spPr>
          </c:dPt>
          <c:dPt>
            <c:idx val="7"/>
            <c:invertIfNegative val="0"/>
            <c:bubble3D val="0"/>
            <c:spPr>
              <a:solidFill>
                <a:srgbClr val="C1121F"/>
              </a:solidFill>
              <a:effectLst/>
            </c:spPr>
          </c:dPt>
          <c:dPt>
            <c:idx val="8"/>
            <c:invertIfNegative val="0"/>
            <c:bubble3D val="0"/>
            <c:spPr>
              <a:solidFill>
                <a:srgbClr val="C1121F"/>
              </a:solidFill>
              <a:effectLst/>
            </c:spPr>
          </c:dPt>
          <c:cat>
            <c:multiLvlStrRef>
              <c:f>Sheet1!$A$2:$A$10</c:f>
              <c:multiLvlStrCache>
                <c:ptCount val="9"/>
                <c:lvl>
                  <c:pt idx="0">
                    <c:v>PSC</c:v>
                  </c:pt>
                  <c:pt idx="1">
                    <c:v>OGD</c:v>
                  </c:pt>
                  <c:pt idx="2">
                    <c:v>Hedge</c:v>
                  </c:pt>
                  <c:pt idx="3">
                    <c:v>FTRL</c:v>
                  </c:pt>
                  <c:pt idx="4">
                    <c:v>Uniform average</c:v>
                  </c:pt>
                  <c:pt idx="5">
                    <c:v>B365C</c:v>
                  </c:pt>
                  <c:pt idx="6">
                    <c:v>BWC</c:v>
                  </c:pt>
                  <c:pt idx="7">
                    <c:v>VC_BV</c:v>
                  </c:pt>
                  <c:pt idx="8">
                    <c:v>WH</c:v>
                  </c:pt>
                </c:lvl>
              </c:multiLvlStrCache>
            </c:multiLvlStrRef>
          </c:cat>
          <c:val>
            <c:numRef>
              <c:f>Sheet1!$B$2:$B$10</c:f>
              <c:numCache>
                <c:formatCode>General</c:formatCode>
                <c:ptCount val="9"/>
                <c:pt idx="0">
                  <c:v>0.99685</c:v>
                </c:pt>
                <c:pt idx="1">
                  <c:v>0.99693</c:v>
                </c:pt>
                <c:pt idx="2">
                  <c:v>0.99773</c:v>
                </c:pt>
                <c:pt idx="3">
                  <c:v>0.99774</c:v>
                </c:pt>
                <c:pt idx="4">
                  <c:v>0.99813</c:v>
                </c:pt>
                <c:pt idx="5">
                  <c:v>0.9991</c:v>
                </c:pt>
                <c:pt idx="6">
                  <c:v>0.99919</c:v>
                </c:pt>
                <c:pt idx="7">
                  <c:v>1.00026</c:v>
                </c:pt>
                <c:pt idx="8">
                  <c:v>1.00048</c:v>
                </c:pt>
              </c:numCache>
            </c:numRef>
          </c:val>
        </c:ser>
        <c:dLbls>
          <c:numFmt formatCode="0.00000" sourceLinked="0"/>
          <c:txPr>
            <a:bodyPr/>
            <a:lstStyle/>
            <a:p>
              <a:pPr>
                <a:defRPr b="0" i="0" strike="noStrike" sz="1100" u="none">
                  <a:solidFill>
                    <a:srgbClr val="5C6B8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1.0012"/>
          <c:min val="0.9965"/>
        </c:scaling>
        <c:delete val="0"/>
        <c:axPos val="b"/>
        <c:majorGridlines>
          <c:spPr>
            <a:ln w="1270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opening (13)</c:v>
                </c:pt>
              </c:strCache>
            </c:strRef>
          </c:tx>
          <c:spPr>
            <a:solidFill>
              <a:srgbClr val="C1121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OGD</c:v>
                  </c:pt>
                  <c:pt idx="1">
                    <c:v>Hedge</c:v>
                  </c:pt>
                  <c:pt idx="2">
                    <c:v>FTRL</c:v>
                  </c:pt>
                  <c:pt idx="3">
                    <c:v>Uniform</c:v>
                  </c:pt>
                </c:lvl>
              </c:multiLvlStrCache>
            </c:multiLvlStrRef>
          </c:cat>
          <c:val>
            <c:numRef>
              <c:f>Sheet1!$B$2:$B$5</c:f>
              <c:numCache>
                <c:formatCode>General</c:formatCode>
                <c:ptCount val="4"/>
                <c:pt idx="0">
                  <c:v>1.00076</c:v>
                </c:pt>
                <c:pt idx="1">
                  <c:v>1.00088</c:v>
                </c:pt>
                <c:pt idx="2">
                  <c:v>1.00088</c:v>
                </c:pt>
                <c:pt idx="3">
                  <c:v>1.0008</c:v>
                </c:pt>
              </c:numCache>
            </c:numRef>
          </c:val>
        </c:ser>
        <c:ser>
          <c:idx val="1"/>
          <c:order val="1"/>
          <c:tx>
            <c:strRef>
              <c:f>Sheet1!$C$1</c:f>
              <c:strCache>
                <c:ptCount val="1"/>
                <c:pt idx="0">
                  <c:v>all (26)</c:v>
                </c:pt>
              </c:strCache>
            </c:strRef>
          </c:tx>
          <c:spPr>
            <a:solidFill>
              <a:srgbClr val="5C6B8A"/>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OGD</c:v>
                  </c:pt>
                  <c:pt idx="1">
                    <c:v>Hedge</c:v>
                  </c:pt>
                  <c:pt idx="2">
                    <c:v>FTRL</c:v>
                  </c:pt>
                  <c:pt idx="3">
                    <c:v>Uniform</c:v>
                  </c:pt>
                </c:lvl>
              </c:multiLvlStrCache>
            </c:multiLvlStrRef>
          </c:cat>
          <c:val>
            <c:numRef>
              <c:f>Sheet1!$C$2:$C$5</c:f>
              <c:numCache>
                <c:formatCode>General</c:formatCode>
                <c:ptCount val="4"/>
                <c:pt idx="0">
                  <c:v>0.99745</c:v>
                </c:pt>
                <c:pt idx="1">
                  <c:v>0.99842</c:v>
                </c:pt>
                <c:pt idx="2">
                  <c:v>0.99843</c:v>
                </c:pt>
                <c:pt idx="3">
                  <c:v>0.99886</c:v>
                </c:pt>
              </c:numCache>
            </c:numRef>
          </c:val>
        </c:ser>
        <c:ser>
          <c:idx val="2"/>
          <c:order val="2"/>
          <c:tx>
            <c:strRef>
              <c:f>Sheet1!$D$1</c:f>
              <c:strCache>
                <c:ptCount val="1"/>
                <c:pt idx="0">
                  <c:v>closing (13)</c:v>
                </c:pt>
              </c:strCache>
            </c:strRef>
          </c:tx>
          <c:spPr>
            <a:solidFill>
              <a:srgbClr val="0F4C81"/>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Sheet1!$A$2:$A$5</c:f>
              <c:multiLvlStrCache>
                <c:ptCount val="4"/>
                <c:lvl>
                  <c:pt idx="0">
                    <c:v>OGD</c:v>
                  </c:pt>
                  <c:pt idx="1">
                    <c:v>Hedge</c:v>
                  </c:pt>
                  <c:pt idx="2">
                    <c:v>FTRL</c:v>
                  </c:pt>
                  <c:pt idx="3">
                    <c:v>Uniform</c:v>
                  </c:pt>
                </c:lvl>
              </c:multiLvlStrCache>
            </c:multiLvlStrRef>
          </c:cat>
          <c:val>
            <c:numRef>
              <c:f>Sheet1!$D$2:$D$5</c:f>
              <c:numCache>
                <c:formatCode>General</c:formatCode>
                <c:ptCount val="4"/>
                <c:pt idx="0">
                  <c:v>0.99722</c:v>
                </c:pt>
                <c:pt idx="1">
                  <c:v>0.99762</c:v>
                </c:pt>
                <c:pt idx="2">
                  <c:v>0.99761</c:v>
                </c:pt>
                <c:pt idx="3">
                  <c:v>0.99748</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1.002"/>
          <c:min val="0.996"/>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C6B8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closing advantage</c:v>
                </c:pt>
              </c:strCache>
            </c:strRef>
          </c:tx>
          <c:spPr>
            <a:solidFill>
              <a:srgbClr val="C7D2DE"/>
            </a:solidFill>
            <a:effectLst/>
          </c:spPr>
          <c:invertIfNegative val="0"/>
          <c:dLbls>
            <c:numFmt formatCode="0.0000" sourceLinked="0"/>
            <c:txPr>
              <a:bodyPr/>
              <a:lstStyle/>
              <a:p>
                <a:pPr>
                  <a:defRPr b="0" i="0" strike="noStrike" sz="1100" u="none">
                    <a:solidFill>
                      <a:srgbClr val="5C6B8A"/>
                    </a:solidFill>
                    <a:latin typeface="+mn-lt"/>
                  </a:defRPr>
                </a:pPr>
              </a:p>
            </c:txPr>
            <c:showLegendKey val="0"/>
            <c:showVal val="1"/>
            <c:showCatName val="0"/>
            <c:showSerName val="0"/>
            <c:showPercent val="0"/>
            <c:showBubbleSize val="0"/>
            <c:showLeaderLines val="0"/>
          </c:dLbls>
          <c:dPt>
            <c:idx val="0"/>
            <c:invertIfNegative val="0"/>
            <c:bubble3D val="0"/>
            <c:spPr>
              <a:solidFill>
                <a:srgbClr val="C7D2DE"/>
              </a:solidFill>
              <a:effectLst/>
            </c:spPr>
          </c:dPt>
          <c:dPt>
            <c:idx val="1"/>
            <c:invertIfNegative val="0"/>
            <c:bubble3D val="0"/>
            <c:spPr>
              <a:solidFill>
                <a:srgbClr val="9FB3C8"/>
              </a:solidFill>
              <a:effectLst/>
            </c:spPr>
          </c:dPt>
          <c:dPt>
            <c:idx val="2"/>
            <c:invertIfNegative val="0"/>
            <c:bubble3D val="0"/>
            <c:spPr>
              <a:solidFill>
                <a:srgbClr val="6E8CA8"/>
              </a:solidFill>
              <a:effectLst/>
            </c:spPr>
          </c:dPt>
          <c:dPt>
            <c:idx val="3"/>
            <c:invertIfNegative val="0"/>
            <c:bubble3D val="0"/>
            <c:spPr>
              <a:solidFill>
                <a:srgbClr val="3D6B8E"/>
              </a:solidFill>
              <a:effectLst/>
            </c:spPr>
          </c:dPt>
          <c:dPt>
            <c:idx val="4"/>
            <c:invertIfNegative val="0"/>
            <c:bubble3D val="0"/>
            <c:spPr>
              <a:solidFill>
                <a:srgbClr val="0F4C81"/>
              </a:solidFill>
              <a:effectLst/>
            </c:spPr>
          </c:dPt>
          <c:cat>
            <c:multiLvlStrRef>
              <c:f>Sheet1!$A$2:$A$6</c:f>
              <c:multiLvlStrCache>
                <c:ptCount val="5"/>
                <c:lvl>
                  <c:pt idx="0">
                    <c:v>Q1
quiet</c:v>
                  </c:pt>
                  <c:pt idx="1">
                    <c:v>Q2</c:v>
                  </c:pt>
                  <c:pt idx="2">
                    <c:v>Q3</c:v>
                  </c:pt>
                  <c:pt idx="3">
                    <c:v>Q4</c:v>
                  </c:pt>
                  <c:pt idx="4">
                    <c:v>Q5
noisy</c:v>
                  </c:pt>
                </c:lvl>
              </c:multiLvlStrCache>
            </c:multiLvlStrRef>
          </c:cat>
          <c:val>
            <c:numRef>
              <c:f>Sheet1!$B$2:$B$6</c:f>
              <c:numCache>
                <c:formatCode>General</c:formatCode>
                <c:ptCount val="5"/>
                <c:pt idx="0">
                  <c:v>0.0004386258771955</c:v>
                </c:pt>
                <c:pt idx="1">
                  <c:v>0.0007151847052722</c:v>
                </c:pt>
                <c:pt idx="2">
                  <c:v>0.0019983758222999</c:v>
                </c:pt>
                <c:pt idx="3">
                  <c:v>0.0045231329698202</c:v>
                </c:pt>
                <c:pt idx="4">
                  <c:v>0.0115806553449734</c:v>
                </c:pt>
              </c:numCache>
            </c:numRef>
          </c:val>
        </c:ser>
        <c:dLbls>
          <c:numFmt formatCode="0.0000" sourceLinked="0"/>
          <c:txPr>
            <a:bodyPr/>
            <a:lstStyle/>
            <a:p>
              <a:pPr>
                <a:defRPr b="0" i="0" strike="noStrike" sz="1100" u="none">
                  <a:solidFill>
                    <a:srgbClr val="5C6B8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log10 growth</c:v>
                </c:pt>
              </c:strCache>
            </c:strRef>
          </c:tx>
          <c:spPr>
            <a:solidFill>
              <a:srgbClr val="2F7D5C"/>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dPt>
            <c:idx val="0"/>
            <c:invertIfNegative val="0"/>
            <c:bubble3D val="0"/>
            <c:spPr>
              <a:solidFill>
                <a:srgbClr val="2F7D5C"/>
              </a:solidFill>
              <a:effectLst/>
            </c:spPr>
          </c:dPt>
          <c:dPt>
            <c:idx val="1"/>
            <c:invertIfNegative val="0"/>
            <c:bubble3D val="0"/>
            <c:spPr>
              <a:solidFill>
                <a:srgbClr val="2F7D5C"/>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dPt>
            <c:idx val="7"/>
            <c:invertIfNegative val="0"/>
            <c:bubble3D val="0"/>
            <c:spPr>
              <a:solidFill>
                <a:srgbClr val="94A3B8"/>
              </a:solidFill>
              <a:effectLst/>
            </c:spPr>
          </c:dPt>
          <c:dPt>
            <c:idx val="8"/>
            <c:invertIfNegative val="0"/>
            <c:bubble3D val="0"/>
            <c:spPr>
              <a:solidFill>
                <a:srgbClr val="C1121F"/>
              </a:solidFill>
              <a:effectLst/>
            </c:spPr>
          </c:dPt>
          <c:cat>
            <c:multiLvlStrRef>
              <c:f>Sheet1!$A$2:$A$10</c:f>
              <c:multiLvlStrCache>
                <c:ptCount val="9"/>
                <c:lvl>
                  <c:pt idx="0">
                    <c:v>WHC</c:v>
                  </c:pt>
                  <c:pt idx="1">
                    <c:v>IW</c:v>
                  </c:pt>
                  <c:pt idx="2">
                    <c:v>BWC</c:v>
                  </c:pt>
                  <c:pt idx="3">
                    <c:v>WH</c:v>
                  </c:pt>
                  <c:pt idx="4">
                    <c:v>BW</c:v>
                  </c:pt>
                  <c:pt idx="5">
                    <c:v>VC_BVC</c:v>
                  </c:pt>
                  <c:pt idx="6">
                    <c:v>B365C</c:v>
                  </c:pt>
                  <c:pt idx="7">
                    <c:v>PS</c:v>
                  </c:pt>
                  <c:pt idx="8">
                    <c:v>PSC</c:v>
                  </c:pt>
                </c:lvl>
              </c:multiLvlStrCache>
            </c:multiLvlStrRef>
          </c:cat>
          <c:val>
            <c:numRef>
              <c:f>Sheet1!$B$2:$B$10</c:f>
              <c:numCache>
                <c:formatCode>General</c:formatCode>
                <c:ptCount val="9"/>
                <c:pt idx="0">
                  <c:v>1.586</c:v>
                </c:pt>
                <c:pt idx="1">
                  <c:v>0.897</c:v>
                </c:pt>
                <c:pt idx="2">
                  <c:v>0.258</c:v>
                </c:pt>
                <c:pt idx="3">
                  <c:v>0.14</c:v>
                </c:pt>
                <c:pt idx="4">
                  <c:v>0.037</c:v>
                </c:pt>
                <c:pt idx="5">
                  <c:v>-0.125</c:v>
                </c:pt>
                <c:pt idx="6">
                  <c:v>-0.237</c:v>
                </c:pt>
                <c:pt idx="7">
                  <c:v>-0.585</c:v>
                </c:pt>
                <c:pt idx="8">
                  <c:v>-3.699</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2"/>
          <c:min val="-4"/>
        </c:scaling>
        <c:delete val="0"/>
        <c:axPos val="l"/>
        <c:majorGridlines>
          <c:spPr>
            <a:ln w="12700" cap="flat">
              <a:solidFill>
                <a:srgbClr val="E2E8F0"/>
              </a:solidFill>
              <a:prstDash val="solid"/>
              <a:round/>
            </a:ln>
          </c:spPr>
        </c:majorGridlines>
        <c:title>
          <c:tx>
            <c:rich>
              <a:bodyPr/>
              <a:lstStyle/>
              <a:p>
                <a:pPr>
                  <a:defRPr sz="1200" b="0" i="0" u="none" strike="noStrike">
                    <a:solidFill>
                      <a:srgbClr val="5C6B8A"/>
                    </a:solidFill>
                    <a:latin typeface="+mn-lt"/>
                  </a:defRPr>
                </a:pPr>
                <a:r>
                  <a:rPr sz="1200" b="0" i="0" u="none" strike="noStrike">
                    <a:solidFill>
                      <a:srgbClr val="5C6B8A"/>
                    </a:solidFill>
                    <a:latin typeface="+mn-lt"/>
                  </a:rPr>
                  <a:t>log10 (final bankroll / stake)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Greeting, then straight to the question. Twenty minutes, so no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thesis in one question. Stress what is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Calibrate expectations here or the result numbers mean nothing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recur throughout. They explain Sleeping Experts, de-vigging and the Kelly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cells are quotes. Point at a gap: that expert's weight does not move while it sleeps.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uniformity is the point: one recipe, three unknowns. Do not derive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eta sits decides the direction: one gradient for OGD, an exponent over one loss for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is better. The tests are paired on shared rounds, which is why the bar gaps differ from the quoted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generally useful finding: it tells anyone applying this elsewhere what to check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for the obvious objection: match difficulty is NOT monotone across the quintiles.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Betfair line yourself, first. It is the question they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edge sits at the soft houses and is absent at the sharp one. That is the thesis's uncomfortable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methodological high point. Any comparison against a uniform baseline should now carry this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slide. The pattern matters more than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points, about twelve seconds each. Nothing new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feed answers the thesis's own main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talking. Let them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103120"/>
            <a:ext cx="10332720" cy="1737360"/>
          </a:xfrm>
          <a:prstGeom prst="rect">
            <a:avLst/>
          </a:prstGeom>
          <a:noFill/>
          <a:ln/>
        </p:spPr>
        <p:txBody>
          <a:bodyPr wrap="square" rtlCol="0"/>
          <a:lstStyle>
            <a:lvl1pPr algn="ctr" indent="0" marL="0">
              <a:buNone/>
              <a:defRPr lang="en-US" sz="4000" b="1" dirty="0">
                <a:solidFill>
                  <a:schemeClr val="bg1"/>
                </a:solidFill>
              </a:defRPr>
            </a:lvl1pPr>
          </a:lstStyle>
          <a:p>
            <a:pPr algn="ctr" indent="0" marL="0">
              <a:buNone/>
            </a:pPr>
            <a:endParaRPr lang="en-US" sz="4000" dirty="0"/>
          </a:p>
        </p:txBody>
      </p:sp>
      <p:sp>
        <p:nvSpPr>
          <p:cNvPr id="3" name="Text 0"/>
          <p:cNvSpPr/>
          <p:nvPr>
            <p:ph idx="101" type="body" hasCustomPrompt="1"/>
          </p:nvPr>
        </p:nvSpPr>
        <p:spPr>
          <a:xfrm>
            <a:off x="914400" y="3977640"/>
            <a:ext cx="10332720" cy="1463040"/>
          </a:xfrm>
          <a:prstGeom prst="rect">
            <a:avLst/>
          </a:prstGeom>
          <a:noFill/>
          <a:ln/>
        </p:spPr>
        <p:txBody>
          <a:bodyPr wrap="square" rtlCol="0"/>
          <a:lstStyle>
            <a:lvl1pPr algn="ctr" indent="0" marL="0">
              <a:buNone/>
              <a:defRPr lang="en-US" sz="1700" dirty="0">
                <a:solidFill>
                  <a:srgbClr val="CBD5E1"/>
                </a:solidFill>
              </a:defRPr>
            </a:lvl1pPr>
          </a:lstStyle>
          <a:p>
            <a:pPr algn="ct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NVAS">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1737360"/>
            <a:ext cx="10332720" cy="21945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914400" y="4114800"/>
            <a:ext cx="10332720" cy="1645920"/>
          </a:xfrm>
          <a:prstGeom prst="rect">
            <a:avLst/>
          </a:prstGeom>
          <a:noFill/>
          <a:ln/>
        </p:spPr>
        <p:txBody>
          <a:bodyPr wrap="square" rtlCol="0"/>
          <a:lstStyle>
            <a:lvl1pPr algn="l" indent="0" marL="0">
              <a:buNone/>
              <a:defRPr lang="en-US" sz="1700" dirty="0">
                <a:solidFill>
                  <a:srgbClr val="CBD5E1"/>
                </a:solidFill>
              </a:defRPr>
            </a:lvl1pPr>
          </a:lstStyle>
          <a:p>
            <a:pPr algn="l" indent="0" marL="0">
              <a:buNone/>
            </a:pPr>
            <a:endParaRPr lang="en-US" sz="1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914400" y="2103120"/>
            <a:ext cx="10332720" cy="1737360"/>
          </a:xfrm>
          <a:prstGeom prst="rect">
            <a:avLst/>
          </a:prstGeom>
          <a:noFill/>
          <a:ln/>
        </p:spPr>
        <p:txBody>
          <a:bodyPr wrap="square" rtlCol="0" anchor="b"/>
          <a:lstStyle/>
          <a:p>
            <a:pPr algn="ctr" indent="0" marL="0">
              <a:buNone/>
            </a:pPr>
            <a:r>
              <a:rPr lang="en-US" sz="4000" b="1" dirty="0">
                <a:solidFill>
                  <a:schemeClr val="bg1"/>
                </a:solidFill>
              </a:rPr>
              <a:t>Online Convex Optimization based tuning</a:t>
            </a:r>
            <a:endParaRPr lang="en-US" sz="4000" dirty="0"/>
          </a:p>
          <a:p>
            <a:pPr algn="ctr" indent="0" marL="0">
              <a:buNone/>
            </a:pPr>
            <a:r>
              <a:rPr lang="en-US" sz="4000" b="1" dirty="0">
                <a:solidFill>
                  <a:schemeClr val="bg1"/>
                </a:solidFill>
              </a:rPr>
              <a:t>of Mixture of Experts</a:t>
            </a:r>
            <a:endParaRPr lang="en-US" sz="4000" dirty="0"/>
          </a:p>
          <a:p>
            <a:pPr algn="ctr" indent="0" marL="0">
              <a:buNone/>
            </a:pPr>
            <a:r>
              <a:rPr lang="en-US" sz="4000" b="1" dirty="0">
                <a:solidFill>
                  <a:schemeClr val="bg1"/>
                </a:solidFill>
              </a:rPr>
              <a:t>for Sports Outcome Prediction</a:t>
            </a:r>
            <a:endParaRPr lang="en-US" sz="4000" dirty="0"/>
          </a:p>
        </p:txBody>
      </p:sp>
      <p:sp>
        <p:nvSpPr>
          <p:cNvPr id="3" name="Text 0"/>
          <p:cNvSpPr/>
          <p:nvPr>
            <p:ph idx="101" type="body" hasCustomPrompt="1"/>
          </p:nvPr>
        </p:nvSpPr>
        <p:spPr>
          <a:xfrm>
            <a:off x="914400" y="3977640"/>
            <a:ext cx="10332720" cy="1463040"/>
          </a:xfrm>
          <a:prstGeom prst="rect">
            <a:avLst/>
          </a:prstGeom>
          <a:noFill/>
          <a:ln/>
        </p:spPr>
        <p:txBody>
          <a:bodyPr wrap="square" rtlCol="0" anchor="t"/>
          <a:lstStyle/>
          <a:p>
            <a:pPr algn="ctr" indent="0" marL="0">
              <a:buNone/>
            </a:pPr>
            <a:r>
              <a:rPr lang="en-US" sz="1900" b="1" dirty="0">
                <a:solidFill>
                  <a:srgbClr val="FFFFFF"/>
                </a:solidFill>
              </a:rPr>
              <a:t>Stefanos Mousadis</a:t>
            </a:r>
            <a:endParaRPr lang="en-US" sz="1700" dirty="0"/>
          </a:p>
          <a:p>
            <a:pPr algn="ctr" indent="0" marL="0">
              <a:buNone/>
            </a:pPr>
            <a:r>
              <a:rPr lang="en-US" sz="1700" dirty="0">
                <a:solidFill>
                  <a:srgbClr val="CBD5E1"/>
                </a:solidFill>
              </a:rPr>
              <a:t>Supervisor: Prof. Thrasyvoulos Spyropoulos</a:t>
            </a:r>
            <a:endParaRPr lang="en-US" sz="1700" dirty="0"/>
          </a:p>
          <a:p>
            <a:pPr algn="ctr" indent="0" marL="0">
              <a:buNone/>
            </a:pPr>
            <a:r>
              <a:rPr lang="en-US" sz="1700" dirty="0">
                <a:solidFill>
                  <a:srgbClr val="CBD5E1"/>
                </a:solidFill>
              </a:rPr>
              <a:t>School of Electrical and Computer Engineering · Technical University of Crete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914400" y="1737360"/>
            <a:ext cx="10332720" cy="2194560"/>
          </a:xfrm>
          <a:prstGeom prst="rect">
            <a:avLst/>
          </a:prstGeom>
          <a:noFill/>
          <a:ln/>
        </p:spPr>
        <p:txBody>
          <a:bodyPr wrap="square" rtlCol="0" anchor="ctr"/>
          <a:lstStyle/>
          <a:p>
            <a:pPr algn="l" indent="0" marL="0">
              <a:buNone/>
            </a:pPr>
            <a:r>
              <a:rPr lang="en-US" sz="3400" b="1" dirty="0">
                <a:solidFill>
                  <a:schemeClr val="bg1"/>
                </a:solidFill>
              </a:rPr>
              <a:t>Can a mixture of bookmakers beat</a:t>
            </a:r>
            <a:endParaRPr lang="en-US" sz="3400" dirty="0"/>
          </a:p>
          <a:p>
            <a:pPr algn="l" indent="0" marL="0">
              <a:buNone/>
            </a:pPr>
            <a:r>
              <a:rPr lang="en-US" sz="3400" b="1" dirty="0">
                <a:solidFill>
                  <a:schemeClr val="bg1"/>
                </a:solidFill>
              </a:rPr>
              <a:t>the bookmakers themselves?</a:t>
            </a:r>
            <a:endParaRPr lang="en-US" sz="3400" dirty="0"/>
          </a:p>
        </p:txBody>
      </p:sp>
      <p:sp>
        <p:nvSpPr>
          <p:cNvPr id="3" name="Text 0"/>
          <p:cNvSpPr/>
          <p:nvPr>
            <p:ph idx="101" type="body" hasCustomPrompt="1"/>
          </p:nvPr>
        </p:nvSpPr>
        <p:spPr>
          <a:xfrm>
            <a:off x="914400" y="4114800"/>
            <a:ext cx="10332720" cy="1645920"/>
          </a:xfrm>
          <a:prstGeom prst="rect">
            <a:avLst/>
          </a:prstGeom>
          <a:noFill/>
          <a:ln/>
        </p:spPr>
        <p:txBody>
          <a:bodyPr wrap="square" rtlCol="0" anchor="t"/>
          <a:lstStyle/>
          <a:p>
            <a:pPr algn="l" indent="0" marL="0">
              <a:buNone/>
            </a:pPr>
            <a:r>
              <a:rPr lang="en-US" sz="1700" dirty="0">
                <a:solidFill>
                  <a:srgbClr val="CBD5E1"/>
                </a:solidFill>
              </a:rPr>
              <a:t>No model of football. No team form, no injuries, no home advantage. Only the prices the market publishes, combined online, match by match.</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The baseline is unusually strong</a:t>
            </a:r>
            <a:endParaRPr lang="en-US" sz="3000" dirty="0"/>
          </a:p>
        </p:txBody>
      </p:sp>
      <p:sp>
        <p:nvSpPr>
          <p:cNvPr id="3" name="Text 1"/>
          <p:cNvSpPr txBox="1"/>
          <p:nvPr/>
        </p:nvSpPr>
        <p:spPr>
          <a:xfrm>
            <a:off x="640080" y="1554480"/>
            <a:ext cx="3291840" cy="914400"/>
          </a:xfrm>
          <a:prstGeom prst="rect">
            <a:avLst/>
          </a:prstGeom>
          <a:noFill/>
          <a:ln/>
        </p:spPr>
        <p:txBody>
          <a:bodyPr wrap="square" lIns="0" tIns="0" rIns="0" bIns="0" rtlCol="0" anchor="b"/>
          <a:lstStyle/>
          <a:p>
            <a:pPr algn="l" indent="0" marL="0">
              <a:buNone/>
            </a:pPr>
            <a:r>
              <a:rPr lang="en-US" sz="4800" b="1" dirty="0">
                <a:solidFill>
                  <a:schemeClr val="accent1"/>
                </a:solidFill>
              </a:rPr>
              <a:t>26</a:t>
            </a:r>
            <a:endParaRPr lang="en-US" sz="4800" dirty="0"/>
          </a:p>
        </p:txBody>
      </p:sp>
      <p:sp>
        <p:nvSpPr>
          <p:cNvPr id="4" name="Text 2"/>
          <p:cNvSpPr txBox="1"/>
          <p:nvPr/>
        </p:nvSpPr>
        <p:spPr>
          <a:xfrm>
            <a:off x="640080" y="2468880"/>
            <a:ext cx="3291840" cy="822960"/>
          </a:xfrm>
          <a:prstGeom prst="rect">
            <a:avLst/>
          </a:prstGeom>
          <a:noFill/>
          <a:ln/>
        </p:spPr>
        <p:txBody>
          <a:bodyPr wrap="square" lIns="0" tIns="0" rIns="0" bIns="0" rtlCol="0" anchor="t"/>
          <a:lstStyle/>
          <a:p>
            <a:pPr algn="l" indent="0" marL="0">
              <a:buNone/>
            </a:pPr>
            <a:r>
              <a:rPr lang="en-US" sz="1300" dirty="0">
                <a:solidFill>
                  <a:schemeClr val="accent5"/>
                </a:solidFill>
              </a:rPr>
              <a:t>bookmakers, each already a</a:t>
            </a:r>
            <a:endParaRPr lang="en-US" sz="1300" dirty="0"/>
          </a:p>
          <a:p>
            <a:pPr algn="l" indent="0" marL="0">
              <a:buNone/>
            </a:pPr>
            <a:r>
              <a:rPr lang="en-US" sz="1300" dirty="0">
                <a:solidFill>
                  <a:schemeClr val="accent5"/>
                </a:solidFill>
              </a:rPr>
              <a:t>professional forecaster</a:t>
            </a:r>
            <a:endParaRPr lang="en-US" sz="1300" dirty="0"/>
          </a:p>
        </p:txBody>
      </p:sp>
      <p:sp>
        <p:nvSpPr>
          <p:cNvPr id="5" name="Text 3"/>
          <p:cNvSpPr txBox="1"/>
          <p:nvPr/>
        </p:nvSpPr>
        <p:spPr>
          <a:xfrm>
            <a:off x="4297680" y="1554480"/>
            <a:ext cx="3291840" cy="914400"/>
          </a:xfrm>
          <a:prstGeom prst="rect">
            <a:avLst/>
          </a:prstGeom>
          <a:noFill/>
          <a:ln/>
        </p:spPr>
        <p:txBody>
          <a:bodyPr wrap="square" lIns="0" tIns="0" rIns="0" bIns="0" rtlCol="0" anchor="b"/>
          <a:lstStyle/>
          <a:p>
            <a:pPr algn="l" indent="0" marL="0">
              <a:buNone/>
            </a:pPr>
            <a:r>
              <a:rPr lang="en-US" sz="4800" b="1" dirty="0">
                <a:solidFill>
                  <a:schemeClr val="accent1"/>
                </a:solidFill>
              </a:rPr>
              <a:t>76,584</a:t>
            </a:r>
            <a:endParaRPr lang="en-US" sz="4800" dirty="0"/>
          </a:p>
        </p:txBody>
      </p:sp>
      <p:sp>
        <p:nvSpPr>
          <p:cNvPr id="6" name="Text 4"/>
          <p:cNvSpPr txBox="1"/>
          <p:nvPr/>
        </p:nvSpPr>
        <p:spPr>
          <a:xfrm>
            <a:off x="4297680" y="2468880"/>
            <a:ext cx="3291840" cy="822960"/>
          </a:xfrm>
          <a:prstGeom prst="rect">
            <a:avLst/>
          </a:prstGeom>
          <a:noFill/>
          <a:ln/>
        </p:spPr>
        <p:txBody>
          <a:bodyPr wrap="square" lIns="0" tIns="0" rIns="0" bIns="0" rtlCol="0" anchor="t"/>
          <a:lstStyle/>
          <a:p>
            <a:pPr algn="l" indent="0" marL="0">
              <a:buNone/>
            </a:pPr>
            <a:r>
              <a:rPr lang="en-US" sz="1300" dirty="0">
                <a:solidFill>
                  <a:schemeClr val="accent5"/>
                </a:solidFill>
              </a:rPr>
              <a:t>matches, 22 leagues,</a:t>
            </a:r>
            <a:endParaRPr lang="en-US" sz="1300" dirty="0"/>
          </a:p>
          <a:p>
            <a:pPr algn="l" indent="0" marL="0">
              <a:buNone/>
            </a:pPr>
            <a:r>
              <a:rPr lang="en-US" sz="1300" dirty="0">
                <a:solidFill>
                  <a:schemeClr val="accent5"/>
                </a:solidFill>
              </a:rPr>
              <a:t>10 seasons</a:t>
            </a:r>
            <a:endParaRPr lang="en-US" sz="1300" dirty="0"/>
          </a:p>
        </p:txBody>
      </p:sp>
      <p:sp>
        <p:nvSpPr>
          <p:cNvPr id="7" name="Text 5"/>
          <p:cNvSpPr txBox="1"/>
          <p:nvPr/>
        </p:nvSpPr>
        <p:spPr>
          <a:xfrm>
            <a:off x="8046720" y="1554480"/>
            <a:ext cx="3474720" cy="914400"/>
          </a:xfrm>
          <a:prstGeom prst="rect">
            <a:avLst/>
          </a:prstGeom>
          <a:noFill/>
          <a:ln/>
        </p:spPr>
        <p:txBody>
          <a:bodyPr wrap="square" lIns="0" tIns="0" rIns="0" bIns="0" rtlCol="0" anchor="b"/>
          <a:lstStyle/>
          <a:p>
            <a:pPr algn="l" indent="0" marL="0">
              <a:buNone/>
            </a:pPr>
            <a:r>
              <a:rPr lang="en-US" sz="4800" b="1" dirty="0">
                <a:solidFill>
                  <a:schemeClr val="accent2"/>
                </a:solidFill>
              </a:rPr>
              <a:t>4.4 → 6.0%</a:t>
            </a:r>
            <a:endParaRPr lang="en-US" sz="4800" dirty="0"/>
          </a:p>
        </p:txBody>
      </p:sp>
      <p:sp>
        <p:nvSpPr>
          <p:cNvPr id="8" name="Text 6"/>
          <p:cNvSpPr txBox="1"/>
          <p:nvPr/>
        </p:nvSpPr>
        <p:spPr>
          <a:xfrm>
            <a:off x="8046720" y="2468880"/>
            <a:ext cx="3474720" cy="822960"/>
          </a:xfrm>
          <a:prstGeom prst="rect">
            <a:avLst/>
          </a:prstGeom>
          <a:noFill/>
          <a:ln/>
        </p:spPr>
        <p:txBody>
          <a:bodyPr wrap="square" lIns="0" tIns="0" rIns="0" bIns="0" rtlCol="0" anchor="t"/>
          <a:lstStyle/>
          <a:p>
            <a:pPr algn="l" indent="0" marL="0">
              <a:buNone/>
            </a:pPr>
            <a:r>
              <a:rPr lang="en-US" sz="1300" dirty="0">
                <a:solidFill>
                  <a:schemeClr val="accent5"/>
                </a:solidFill>
              </a:rPr>
              <a:t>the margin they charge,</a:t>
            </a:r>
            <a:endParaRPr lang="en-US" sz="1300" dirty="0"/>
          </a:p>
          <a:p>
            <a:pPr algn="l" indent="0" marL="0">
              <a:buNone/>
            </a:pPr>
            <a:r>
              <a:rPr lang="en-US" sz="1300" dirty="0">
                <a:solidFill>
                  <a:schemeClr val="accent5"/>
                </a:solidFill>
              </a:rPr>
              <a:t>and it rose over the decade</a:t>
            </a:r>
            <a:endParaRPr lang="en-US" sz="1300" dirty="0"/>
          </a:p>
        </p:txBody>
      </p:sp>
      <p:sp>
        <p:nvSpPr>
          <p:cNvPr id="9" name="note"/>
          <p:cNvSpPr/>
          <p:nvPr/>
        </p:nvSpPr>
        <p:spPr>
          <a:xfrm>
            <a:off x="640080" y="3931920"/>
            <a:ext cx="10881360" cy="1737360"/>
          </a:xfrm>
          <a:prstGeom prst="roundRect">
            <a:avLst>
              <a:gd name="adj" fmla="val 4211"/>
            </a:avLst>
          </a:prstGeom>
          <a:solidFill>
            <a:srgbClr val="F2F5F9"/>
          </a:solidFill>
          <a:ln w="12700">
            <a:solidFill>
              <a:srgbClr val="E2E8F0"/>
            </a:solidFill>
            <a:prstDash val="solid"/>
          </a:ln>
        </p:spPr>
      </p:sp>
      <p:sp>
        <p:nvSpPr>
          <p:cNvPr id="10" name="Text 8"/>
          <p:cNvSpPr txBox="1"/>
          <p:nvPr/>
        </p:nvSpPr>
        <p:spPr>
          <a:xfrm>
            <a:off x="960120" y="4160520"/>
            <a:ext cx="10241280" cy="1280160"/>
          </a:xfrm>
          <a:prstGeom prst="rect">
            <a:avLst/>
          </a:prstGeom>
          <a:noFill/>
          <a:ln/>
        </p:spPr>
        <p:txBody>
          <a:bodyPr wrap="square" rtlCol="0" anchor="ctr"/>
          <a:lstStyle/>
          <a:p>
            <a:pPr indent="0" marL="0">
              <a:buNone/>
            </a:pPr>
            <a:r>
              <a:rPr lang="en-US" sz="1500" b="1" dirty="0">
                <a:solidFill>
                  <a:schemeClr val="tx1"/>
                </a:solidFill>
              </a:rPr>
              <a:t>Beating a bookmaker is not beating a naive baseline. </a:t>
            </a:r>
            <a:pPr indent="0" marL="0">
              <a:buNone/>
            </a:pPr>
            <a:r>
              <a:rPr lang="en-US" sz="1500" dirty="0">
                <a:solidFill>
                  <a:schemeClr val="tx1"/>
                </a:solidFill>
              </a:rPr>
              <a:t>Each expert is a firm with analysts, a risk desk and a live order flow correcting its prices. A gain of one part in a thousand against this is large.</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Three obstacles that shape every design choice</a:t>
            </a:r>
            <a:endParaRPr lang="en-US" sz="3000" dirty="0"/>
          </a:p>
        </p:txBody>
      </p:sp>
      <p:sp>
        <p:nvSpPr>
          <p:cNvPr id="3" name="circle-1"/>
          <p:cNvSpPr/>
          <p:nvPr/>
        </p:nvSpPr>
        <p:spPr>
          <a:xfrm>
            <a:off x="640080" y="1600200"/>
            <a:ext cx="566928" cy="566928"/>
          </a:xfrm>
          <a:prstGeom prst="ellipse">
            <a:avLst/>
          </a:prstGeom>
          <a:solidFill>
            <a:schemeClr val="accent1"/>
          </a:solidFill>
          <a:ln/>
        </p:spPr>
      </p:sp>
      <p:sp>
        <p:nvSpPr>
          <p:cNvPr id="4" name="Text 2"/>
          <p:cNvSpPr txBox="1"/>
          <p:nvPr/>
        </p:nvSpPr>
        <p:spPr>
          <a:xfrm>
            <a:off x="640080" y="1600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Text 3"/>
          <p:cNvSpPr txBox="1"/>
          <p:nvPr/>
        </p:nvSpPr>
        <p:spPr>
          <a:xfrm>
            <a:off x="1508760" y="1508760"/>
            <a:ext cx="10058400" cy="411480"/>
          </a:xfrm>
          <a:prstGeom prst="rect">
            <a:avLst/>
          </a:prstGeom>
          <a:noFill/>
          <a:ln/>
        </p:spPr>
        <p:txBody>
          <a:bodyPr wrap="square" lIns="0" tIns="0" rIns="0" bIns="0" rtlCol="0" anchor="t"/>
          <a:lstStyle/>
          <a:p>
            <a:pPr indent="0" marL="0">
              <a:buNone/>
            </a:pPr>
            <a:r>
              <a:rPr lang="en-US" sz="1900" b="1" dirty="0">
                <a:solidFill>
                  <a:schemeClr val="tx2"/>
                </a:solidFill>
              </a:rPr>
              <a:t>Partial coverage</a:t>
            </a:r>
            <a:endParaRPr lang="en-US" sz="1900" dirty="0"/>
          </a:p>
        </p:txBody>
      </p:sp>
      <p:sp>
        <p:nvSpPr>
          <p:cNvPr id="6" name="Text 4"/>
          <p:cNvSpPr txBox="1"/>
          <p:nvPr/>
        </p:nvSpPr>
        <p:spPr>
          <a:xfrm>
            <a:off x="1508760" y="1947672"/>
            <a:ext cx="10058400" cy="868680"/>
          </a:xfrm>
          <a:prstGeom prst="rect">
            <a:avLst/>
          </a:prstGeom>
          <a:noFill/>
          <a:ln/>
        </p:spPr>
        <p:txBody>
          <a:bodyPr wrap="square" lIns="0" tIns="0" rIns="0" bIns="0" rtlCol="0" anchor="t"/>
          <a:lstStyle/>
          <a:p>
            <a:pPr indent="0" marL="0">
              <a:buNone/>
            </a:pPr>
            <a:r>
              <a:rPr lang="en-US" sz="1500" dirty="0">
                <a:solidFill>
                  <a:schemeClr val="accent5"/>
                </a:solidFill>
              </a:rPr>
              <a:t>No bookmaker quotes every match: coverage runs from 6.9% to 99.8%, so the standard expert-advice algorithms do not apply as written.</a:t>
            </a:r>
            <a:endParaRPr lang="en-US" sz="1500" dirty="0"/>
          </a:p>
        </p:txBody>
      </p:sp>
      <p:sp>
        <p:nvSpPr>
          <p:cNvPr id="7" name="circle-2"/>
          <p:cNvSpPr/>
          <p:nvPr/>
        </p:nvSpPr>
        <p:spPr>
          <a:xfrm>
            <a:off x="640080" y="3108960"/>
            <a:ext cx="566928" cy="566928"/>
          </a:xfrm>
          <a:prstGeom prst="ellipse">
            <a:avLst/>
          </a:prstGeom>
          <a:solidFill>
            <a:schemeClr val="accent1"/>
          </a:solidFill>
          <a:ln/>
        </p:spPr>
      </p:sp>
      <p:sp>
        <p:nvSpPr>
          <p:cNvPr id="8" name="Text 6"/>
          <p:cNvSpPr txBox="1"/>
          <p:nvPr/>
        </p:nvSpPr>
        <p:spPr>
          <a:xfrm>
            <a:off x="640080" y="3108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Text 7"/>
          <p:cNvSpPr txBox="1"/>
          <p:nvPr/>
        </p:nvSpPr>
        <p:spPr>
          <a:xfrm>
            <a:off x="1508760" y="3017520"/>
            <a:ext cx="10058400" cy="411480"/>
          </a:xfrm>
          <a:prstGeom prst="rect">
            <a:avLst/>
          </a:prstGeom>
          <a:noFill/>
          <a:ln/>
        </p:spPr>
        <p:txBody>
          <a:bodyPr wrap="square" lIns="0" tIns="0" rIns="0" bIns="0" rtlCol="0" anchor="t"/>
          <a:lstStyle/>
          <a:p>
            <a:pPr indent="0" marL="0">
              <a:buNone/>
            </a:pPr>
            <a:r>
              <a:rPr lang="en-US" sz="1900" b="1" dirty="0">
                <a:solidFill>
                  <a:schemeClr val="tx2"/>
                </a:solidFill>
              </a:rPr>
              <a:t>Odds are not probabilities</a:t>
            </a:r>
            <a:endParaRPr lang="en-US" sz="1900" dirty="0"/>
          </a:p>
        </p:txBody>
      </p:sp>
      <p:sp>
        <p:nvSpPr>
          <p:cNvPr id="10" name="Text 8"/>
          <p:cNvSpPr txBox="1"/>
          <p:nvPr/>
        </p:nvSpPr>
        <p:spPr>
          <a:xfrm>
            <a:off x="1508760" y="3456432"/>
            <a:ext cx="10058400" cy="868680"/>
          </a:xfrm>
          <a:prstGeom prst="rect">
            <a:avLst/>
          </a:prstGeom>
          <a:noFill/>
          <a:ln/>
        </p:spPr>
        <p:txBody>
          <a:bodyPr wrap="square" lIns="0" tIns="0" rIns="0" bIns="0" rtlCol="0" anchor="t"/>
          <a:lstStyle/>
          <a:p>
            <a:pPr indent="0" marL="0">
              <a:buNone/>
            </a:pPr>
            <a:r>
              <a:rPr lang="en-US" sz="1500" dirty="0">
                <a:solidFill>
                  <a:schemeClr val="accent5"/>
                </a:solidFill>
              </a:rPr>
              <a:t>They carry a margin, so they sum to more than one. Removing it is a modelling decision, not arithmetic.</a:t>
            </a:r>
            <a:endParaRPr lang="en-US" sz="1500" dirty="0"/>
          </a:p>
        </p:txBody>
      </p:sp>
      <p:sp>
        <p:nvSpPr>
          <p:cNvPr id="11" name="circle-3"/>
          <p:cNvSpPr/>
          <p:nvPr/>
        </p:nvSpPr>
        <p:spPr>
          <a:xfrm>
            <a:off x="640080" y="4617720"/>
            <a:ext cx="566928" cy="566928"/>
          </a:xfrm>
          <a:prstGeom prst="ellipse">
            <a:avLst/>
          </a:prstGeom>
          <a:solidFill>
            <a:schemeClr val="accent1"/>
          </a:solidFill>
          <a:ln/>
        </p:spPr>
      </p:sp>
      <p:sp>
        <p:nvSpPr>
          <p:cNvPr id="12" name="Text 10"/>
          <p:cNvSpPr txBox="1"/>
          <p:nvPr/>
        </p:nvSpPr>
        <p:spPr>
          <a:xfrm>
            <a:off x="640080" y="46177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3" name="Text 11"/>
          <p:cNvSpPr txBox="1"/>
          <p:nvPr/>
        </p:nvSpPr>
        <p:spPr>
          <a:xfrm>
            <a:off x="1508760" y="4526280"/>
            <a:ext cx="10058400" cy="411480"/>
          </a:xfrm>
          <a:prstGeom prst="rect">
            <a:avLst/>
          </a:prstGeom>
          <a:noFill/>
          <a:ln/>
        </p:spPr>
        <p:txBody>
          <a:bodyPr wrap="square" lIns="0" tIns="0" rIns="0" bIns="0" rtlCol="0" anchor="t"/>
          <a:lstStyle/>
          <a:p>
            <a:pPr indent="0" marL="0">
              <a:buNone/>
            </a:pPr>
            <a:r>
              <a:rPr lang="en-US" sz="1900" b="1" dirty="0">
                <a:solidFill>
                  <a:schemeClr val="tx2"/>
                </a:solidFill>
              </a:rPr>
              <a:t>The best log-loss is not the objective</a:t>
            </a:r>
            <a:endParaRPr lang="en-US" sz="1900" dirty="0"/>
          </a:p>
        </p:txBody>
      </p:sp>
      <p:sp>
        <p:nvSpPr>
          <p:cNvPr id="14" name="Text 12"/>
          <p:cNvSpPr txBox="1"/>
          <p:nvPr/>
        </p:nvSpPr>
        <p:spPr>
          <a:xfrm>
            <a:off x="1508760" y="4965192"/>
            <a:ext cx="10058400" cy="868680"/>
          </a:xfrm>
          <a:prstGeom prst="rect">
            <a:avLst/>
          </a:prstGeom>
          <a:noFill/>
          <a:ln/>
        </p:spPr>
        <p:txBody>
          <a:bodyPr wrap="square" lIns="0" tIns="0" rIns="0" bIns="0" rtlCol="0" anchor="t"/>
          <a:lstStyle/>
          <a:p>
            <a:pPr indent="0" marL="0">
              <a:buNone/>
            </a:pPr>
            <a:r>
              <a:rPr lang="en-US" sz="1500" dirty="0">
                <a:solidFill>
                  <a:schemeClr val="accent5"/>
                </a:solidFill>
              </a:rPr>
              <a:t>A better forecast only pays if the gain exceeds the margin. Accuracy and profit are different questions, and both are measured.</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Sleeping Experts: the reduction that makes it work</a:t>
            </a:r>
            <a:endParaRPr lang="en-US" sz="3000" dirty="0"/>
          </a:p>
        </p:txBody>
      </p:sp>
      <p:sp>
        <p:nvSpPr>
          <p:cNvPr id="3" name="Text 1"/>
          <p:cNvSpPr txBox="1"/>
          <p:nvPr/>
        </p:nvSpPr>
        <p:spPr>
          <a:xfrm>
            <a:off x="640080" y="1325880"/>
            <a:ext cx="10881360" cy="365760"/>
          </a:xfrm>
          <a:prstGeom prst="rect">
            <a:avLst/>
          </a:prstGeom>
          <a:noFill/>
          <a:ln/>
        </p:spPr>
        <p:txBody>
          <a:bodyPr wrap="square" rtlCol="0" anchor="ctr"/>
          <a:lstStyle/>
          <a:p>
            <a:pPr indent="0" marL="0">
              <a:buNone/>
            </a:pPr>
            <a:r>
              <a:rPr lang="en-US" sz="1600" dirty="0">
                <a:solidFill>
                  <a:schemeClr val="tx1"/>
                </a:solidFill>
              </a:rPr>
              <a:t>Not every bookmaker quotes every match, so at round t only the awake subset A(t) predicts.</a:t>
            </a:r>
            <a:endParaRPr lang="en-US" sz="1600" dirty="0"/>
          </a:p>
        </p:txBody>
      </p:sp>
      <p:sp>
        <p:nvSpPr>
          <p:cNvPr id="4" name="cell-0-0"/>
          <p:cNvSpPr/>
          <p:nvPr/>
        </p:nvSpPr>
        <p:spPr>
          <a:xfrm>
            <a:off x="640080" y="1920240"/>
            <a:ext cx="384048" cy="384048"/>
          </a:xfrm>
          <a:prstGeom prst="rect">
            <a:avLst/>
          </a:prstGeom>
          <a:solidFill>
            <a:srgbClr val="0F4C81"/>
          </a:solidFill>
          <a:ln w="12700">
            <a:solidFill>
              <a:srgbClr val="FFFFFF"/>
            </a:solidFill>
            <a:prstDash val="solid"/>
          </a:ln>
        </p:spPr>
      </p:sp>
      <p:sp>
        <p:nvSpPr>
          <p:cNvPr id="5" name="cell-0-1"/>
          <p:cNvSpPr/>
          <p:nvPr/>
        </p:nvSpPr>
        <p:spPr>
          <a:xfrm>
            <a:off x="1088136" y="1920240"/>
            <a:ext cx="384048" cy="384048"/>
          </a:xfrm>
          <a:prstGeom prst="rect">
            <a:avLst/>
          </a:prstGeom>
          <a:solidFill>
            <a:srgbClr val="0F4C81"/>
          </a:solidFill>
          <a:ln w="12700">
            <a:solidFill>
              <a:srgbClr val="FFFFFF"/>
            </a:solidFill>
            <a:prstDash val="solid"/>
          </a:ln>
        </p:spPr>
      </p:sp>
      <p:sp>
        <p:nvSpPr>
          <p:cNvPr id="6" name="cell-0-2"/>
          <p:cNvSpPr/>
          <p:nvPr/>
        </p:nvSpPr>
        <p:spPr>
          <a:xfrm>
            <a:off x="1536192" y="1920240"/>
            <a:ext cx="384048" cy="384048"/>
          </a:xfrm>
          <a:prstGeom prst="rect">
            <a:avLst/>
          </a:prstGeom>
          <a:solidFill>
            <a:srgbClr val="0F4C81"/>
          </a:solidFill>
          <a:ln w="12700">
            <a:solidFill>
              <a:srgbClr val="FFFFFF"/>
            </a:solidFill>
            <a:prstDash val="solid"/>
          </a:ln>
        </p:spPr>
      </p:sp>
      <p:sp>
        <p:nvSpPr>
          <p:cNvPr id="7" name="cell-0-3"/>
          <p:cNvSpPr/>
          <p:nvPr/>
        </p:nvSpPr>
        <p:spPr>
          <a:xfrm>
            <a:off x="1984248" y="1920240"/>
            <a:ext cx="384048" cy="384048"/>
          </a:xfrm>
          <a:prstGeom prst="rect">
            <a:avLst/>
          </a:prstGeom>
          <a:solidFill>
            <a:srgbClr val="0F4C81"/>
          </a:solidFill>
          <a:ln w="12700">
            <a:solidFill>
              <a:srgbClr val="FFFFFF"/>
            </a:solidFill>
            <a:prstDash val="solid"/>
          </a:ln>
        </p:spPr>
      </p:sp>
      <p:sp>
        <p:nvSpPr>
          <p:cNvPr id="8" name="cell-0-4"/>
          <p:cNvSpPr/>
          <p:nvPr/>
        </p:nvSpPr>
        <p:spPr>
          <a:xfrm>
            <a:off x="2432304" y="1920240"/>
            <a:ext cx="384048" cy="384048"/>
          </a:xfrm>
          <a:prstGeom prst="rect">
            <a:avLst/>
          </a:prstGeom>
          <a:solidFill>
            <a:srgbClr val="0F4C81"/>
          </a:solidFill>
          <a:ln w="12700">
            <a:solidFill>
              <a:srgbClr val="FFFFFF"/>
            </a:solidFill>
            <a:prstDash val="solid"/>
          </a:ln>
        </p:spPr>
      </p:sp>
      <p:sp>
        <p:nvSpPr>
          <p:cNvPr id="9" name="cell-0-5"/>
          <p:cNvSpPr/>
          <p:nvPr/>
        </p:nvSpPr>
        <p:spPr>
          <a:xfrm>
            <a:off x="2880360" y="1920240"/>
            <a:ext cx="384048" cy="384048"/>
          </a:xfrm>
          <a:prstGeom prst="rect">
            <a:avLst/>
          </a:prstGeom>
          <a:solidFill>
            <a:srgbClr val="0F4C81"/>
          </a:solidFill>
          <a:ln w="12700">
            <a:solidFill>
              <a:srgbClr val="FFFFFF"/>
            </a:solidFill>
            <a:prstDash val="solid"/>
          </a:ln>
        </p:spPr>
      </p:sp>
      <p:sp>
        <p:nvSpPr>
          <p:cNvPr id="10" name="cell-0-6"/>
          <p:cNvSpPr/>
          <p:nvPr/>
        </p:nvSpPr>
        <p:spPr>
          <a:xfrm>
            <a:off x="3328416" y="1920240"/>
            <a:ext cx="384048" cy="384048"/>
          </a:xfrm>
          <a:prstGeom prst="rect">
            <a:avLst/>
          </a:prstGeom>
          <a:solidFill>
            <a:srgbClr val="0F4C81"/>
          </a:solidFill>
          <a:ln w="12700">
            <a:solidFill>
              <a:srgbClr val="FFFFFF"/>
            </a:solidFill>
            <a:prstDash val="solid"/>
          </a:ln>
        </p:spPr>
      </p:sp>
      <p:sp>
        <p:nvSpPr>
          <p:cNvPr id="11" name="cell-0-7"/>
          <p:cNvSpPr/>
          <p:nvPr/>
        </p:nvSpPr>
        <p:spPr>
          <a:xfrm>
            <a:off x="3776472" y="1920240"/>
            <a:ext cx="384048" cy="384048"/>
          </a:xfrm>
          <a:prstGeom prst="rect">
            <a:avLst/>
          </a:prstGeom>
          <a:solidFill>
            <a:srgbClr val="0F4C81"/>
          </a:solidFill>
          <a:ln w="12700">
            <a:solidFill>
              <a:srgbClr val="FFFFFF"/>
            </a:solidFill>
            <a:prstDash val="solid"/>
          </a:ln>
        </p:spPr>
      </p:sp>
      <p:sp>
        <p:nvSpPr>
          <p:cNvPr id="12" name="cell-0-8"/>
          <p:cNvSpPr/>
          <p:nvPr/>
        </p:nvSpPr>
        <p:spPr>
          <a:xfrm>
            <a:off x="4224528" y="1920240"/>
            <a:ext cx="384048" cy="384048"/>
          </a:xfrm>
          <a:prstGeom prst="rect">
            <a:avLst/>
          </a:prstGeom>
          <a:solidFill>
            <a:srgbClr val="0F4C81"/>
          </a:solidFill>
          <a:ln w="12700">
            <a:solidFill>
              <a:srgbClr val="FFFFFF"/>
            </a:solidFill>
            <a:prstDash val="solid"/>
          </a:ln>
        </p:spPr>
      </p:sp>
      <p:sp>
        <p:nvSpPr>
          <p:cNvPr id="13" name="cell-0-9"/>
          <p:cNvSpPr/>
          <p:nvPr/>
        </p:nvSpPr>
        <p:spPr>
          <a:xfrm>
            <a:off x="4672584" y="1920240"/>
            <a:ext cx="384048" cy="384048"/>
          </a:xfrm>
          <a:prstGeom prst="rect">
            <a:avLst/>
          </a:prstGeom>
          <a:solidFill>
            <a:srgbClr val="0F4C81"/>
          </a:solidFill>
          <a:ln w="12700">
            <a:solidFill>
              <a:srgbClr val="FFFFFF"/>
            </a:solidFill>
            <a:prstDash val="solid"/>
          </a:ln>
        </p:spPr>
      </p:sp>
      <p:sp>
        <p:nvSpPr>
          <p:cNvPr id="14" name="cell-0-10"/>
          <p:cNvSpPr/>
          <p:nvPr/>
        </p:nvSpPr>
        <p:spPr>
          <a:xfrm>
            <a:off x="5120640" y="1920240"/>
            <a:ext cx="384048" cy="384048"/>
          </a:xfrm>
          <a:prstGeom prst="rect">
            <a:avLst/>
          </a:prstGeom>
          <a:solidFill>
            <a:srgbClr val="0F4C81"/>
          </a:solidFill>
          <a:ln w="12700">
            <a:solidFill>
              <a:srgbClr val="FFFFFF"/>
            </a:solidFill>
            <a:prstDash val="solid"/>
          </a:ln>
        </p:spPr>
      </p:sp>
      <p:sp>
        <p:nvSpPr>
          <p:cNvPr id="15" name="cell-0-11"/>
          <p:cNvSpPr/>
          <p:nvPr/>
        </p:nvSpPr>
        <p:spPr>
          <a:xfrm>
            <a:off x="5568696" y="1920240"/>
            <a:ext cx="384048" cy="384048"/>
          </a:xfrm>
          <a:prstGeom prst="rect">
            <a:avLst/>
          </a:prstGeom>
          <a:solidFill>
            <a:srgbClr val="0F4C81"/>
          </a:solidFill>
          <a:ln w="12700">
            <a:solidFill>
              <a:srgbClr val="FFFFFF"/>
            </a:solidFill>
            <a:prstDash val="solid"/>
          </a:ln>
        </p:spPr>
      </p:sp>
      <p:sp>
        <p:nvSpPr>
          <p:cNvPr id="16" name="cell-1-0"/>
          <p:cNvSpPr/>
          <p:nvPr/>
        </p:nvSpPr>
        <p:spPr>
          <a:xfrm>
            <a:off x="640080" y="2386584"/>
            <a:ext cx="384048" cy="384048"/>
          </a:xfrm>
          <a:prstGeom prst="rect">
            <a:avLst/>
          </a:prstGeom>
          <a:solidFill>
            <a:srgbClr val="E2E8F0"/>
          </a:solidFill>
          <a:ln w="12700">
            <a:solidFill>
              <a:srgbClr val="FFFFFF"/>
            </a:solidFill>
            <a:prstDash val="solid"/>
          </a:ln>
        </p:spPr>
      </p:sp>
      <p:sp>
        <p:nvSpPr>
          <p:cNvPr id="17" name="cell-1-1"/>
          <p:cNvSpPr/>
          <p:nvPr/>
        </p:nvSpPr>
        <p:spPr>
          <a:xfrm>
            <a:off x="1088136" y="2386584"/>
            <a:ext cx="384048" cy="384048"/>
          </a:xfrm>
          <a:prstGeom prst="rect">
            <a:avLst/>
          </a:prstGeom>
          <a:solidFill>
            <a:srgbClr val="E2E8F0"/>
          </a:solidFill>
          <a:ln w="12700">
            <a:solidFill>
              <a:srgbClr val="FFFFFF"/>
            </a:solidFill>
            <a:prstDash val="solid"/>
          </a:ln>
        </p:spPr>
      </p:sp>
      <p:sp>
        <p:nvSpPr>
          <p:cNvPr id="18" name="cell-1-2"/>
          <p:cNvSpPr/>
          <p:nvPr/>
        </p:nvSpPr>
        <p:spPr>
          <a:xfrm>
            <a:off x="1536192" y="2386584"/>
            <a:ext cx="384048" cy="384048"/>
          </a:xfrm>
          <a:prstGeom prst="rect">
            <a:avLst/>
          </a:prstGeom>
          <a:solidFill>
            <a:srgbClr val="0F4C81"/>
          </a:solidFill>
          <a:ln w="12700">
            <a:solidFill>
              <a:srgbClr val="FFFFFF"/>
            </a:solidFill>
            <a:prstDash val="solid"/>
          </a:ln>
        </p:spPr>
      </p:sp>
      <p:sp>
        <p:nvSpPr>
          <p:cNvPr id="19" name="cell-1-3"/>
          <p:cNvSpPr/>
          <p:nvPr/>
        </p:nvSpPr>
        <p:spPr>
          <a:xfrm>
            <a:off x="1984248" y="2386584"/>
            <a:ext cx="384048" cy="384048"/>
          </a:xfrm>
          <a:prstGeom prst="rect">
            <a:avLst/>
          </a:prstGeom>
          <a:solidFill>
            <a:srgbClr val="0F4C81"/>
          </a:solidFill>
          <a:ln w="12700">
            <a:solidFill>
              <a:srgbClr val="FFFFFF"/>
            </a:solidFill>
            <a:prstDash val="solid"/>
          </a:ln>
        </p:spPr>
      </p:sp>
      <p:sp>
        <p:nvSpPr>
          <p:cNvPr id="20" name="cell-1-4"/>
          <p:cNvSpPr/>
          <p:nvPr/>
        </p:nvSpPr>
        <p:spPr>
          <a:xfrm>
            <a:off x="2432304" y="2386584"/>
            <a:ext cx="384048" cy="384048"/>
          </a:xfrm>
          <a:prstGeom prst="rect">
            <a:avLst/>
          </a:prstGeom>
          <a:solidFill>
            <a:srgbClr val="0F4C81"/>
          </a:solidFill>
          <a:ln w="12700">
            <a:solidFill>
              <a:srgbClr val="FFFFFF"/>
            </a:solidFill>
            <a:prstDash val="solid"/>
          </a:ln>
        </p:spPr>
      </p:sp>
      <p:sp>
        <p:nvSpPr>
          <p:cNvPr id="21" name="cell-1-5"/>
          <p:cNvSpPr/>
          <p:nvPr/>
        </p:nvSpPr>
        <p:spPr>
          <a:xfrm>
            <a:off x="2880360" y="2386584"/>
            <a:ext cx="384048" cy="384048"/>
          </a:xfrm>
          <a:prstGeom prst="rect">
            <a:avLst/>
          </a:prstGeom>
          <a:solidFill>
            <a:srgbClr val="0F4C81"/>
          </a:solidFill>
          <a:ln w="12700">
            <a:solidFill>
              <a:srgbClr val="FFFFFF"/>
            </a:solidFill>
            <a:prstDash val="solid"/>
          </a:ln>
        </p:spPr>
      </p:sp>
      <p:sp>
        <p:nvSpPr>
          <p:cNvPr id="22" name="cell-1-6"/>
          <p:cNvSpPr/>
          <p:nvPr/>
        </p:nvSpPr>
        <p:spPr>
          <a:xfrm>
            <a:off x="3328416" y="2386584"/>
            <a:ext cx="384048" cy="384048"/>
          </a:xfrm>
          <a:prstGeom prst="rect">
            <a:avLst/>
          </a:prstGeom>
          <a:solidFill>
            <a:srgbClr val="0F4C81"/>
          </a:solidFill>
          <a:ln w="12700">
            <a:solidFill>
              <a:srgbClr val="FFFFFF"/>
            </a:solidFill>
            <a:prstDash val="solid"/>
          </a:ln>
        </p:spPr>
      </p:sp>
      <p:sp>
        <p:nvSpPr>
          <p:cNvPr id="23" name="cell-1-7"/>
          <p:cNvSpPr/>
          <p:nvPr/>
        </p:nvSpPr>
        <p:spPr>
          <a:xfrm>
            <a:off x="3776472" y="2386584"/>
            <a:ext cx="384048" cy="384048"/>
          </a:xfrm>
          <a:prstGeom prst="rect">
            <a:avLst/>
          </a:prstGeom>
          <a:solidFill>
            <a:srgbClr val="0F4C81"/>
          </a:solidFill>
          <a:ln w="12700">
            <a:solidFill>
              <a:srgbClr val="FFFFFF"/>
            </a:solidFill>
            <a:prstDash val="solid"/>
          </a:ln>
        </p:spPr>
      </p:sp>
      <p:sp>
        <p:nvSpPr>
          <p:cNvPr id="24" name="cell-1-8"/>
          <p:cNvSpPr/>
          <p:nvPr/>
        </p:nvSpPr>
        <p:spPr>
          <a:xfrm>
            <a:off x="4224528" y="2386584"/>
            <a:ext cx="384048" cy="384048"/>
          </a:xfrm>
          <a:prstGeom prst="rect">
            <a:avLst/>
          </a:prstGeom>
          <a:solidFill>
            <a:srgbClr val="0F4C81"/>
          </a:solidFill>
          <a:ln w="12700">
            <a:solidFill>
              <a:srgbClr val="FFFFFF"/>
            </a:solidFill>
            <a:prstDash val="solid"/>
          </a:ln>
        </p:spPr>
      </p:sp>
      <p:sp>
        <p:nvSpPr>
          <p:cNvPr id="25" name="cell-1-9"/>
          <p:cNvSpPr/>
          <p:nvPr/>
        </p:nvSpPr>
        <p:spPr>
          <a:xfrm>
            <a:off x="4672584" y="2386584"/>
            <a:ext cx="384048" cy="384048"/>
          </a:xfrm>
          <a:prstGeom prst="rect">
            <a:avLst/>
          </a:prstGeom>
          <a:solidFill>
            <a:srgbClr val="0F4C81"/>
          </a:solidFill>
          <a:ln w="12700">
            <a:solidFill>
              <a:srgbClr val="FFFFFF"/>
            </a:solidFill>
            <a:prstDash val="solid"/>
          </a:ln>
        </p:spPr>
      </p:sp>
      <p:sp>
        <p:nvSpPr>
          <p:cNvPr id="26" name="cell-1-10"/>
          <p:cNvSpPr/>
          <p:nvPr/>
        </p:nvSpPr>
        <p:spPr>
          <a:xfrm>
            <a:off x="5120640" y="2386584"/>
            <a:ext cx="384048" cy="384048"/>
          </a:xfrm>
          <a:prstGeom prst="rect">
            <a:avLst/>
          </a:prstGeom>
          <a:solidFill>
            <a:srgbClr val="0F4C81"/>
          </a:solidFill>
          <a:ln w="12700">
            <a:solidFill>
              <a:srgbClr val="FFFFFF"/>
            </a:solidFill>
            <a:prstDash val="solid"/>
          </a:ln>
        </p:spPr>
      </p:sp>
      <p:sp>
        <p:nvSpPr>
          <p:cNvPr id="27" name="cell-1-11"/>
          <p:cNvSpPr/>
          <p:nvPr/>
        </p:nvSpPr>
        <p:spPr>
          <a:xfrm>
            <a:off x="5568696" y="2386584"/>
            <a:ext cx="384048" cy="384048"/>
          </a:xfrm>
          <a:prstGeom prst="rect">
            <a:avLst/>
          </a:prstGeom>
          <a:solidFill>
            <a:srgbClr val="0F4C81"/>
          </a:solidFill>
          <a:ln w="12700">
            <a:solidFill>
              <a:srgbClr val="FFFFFF"/>
            </a:solidFill>
            <a:prstDash val="solid"/>
          </a:ln>
        </p:spPr>
      </p:sp>
      <p:sp>
        <p:nvSpPr>
          <p:cNvPr id="28" name="cell-2-0"/>
          <p:cNvSpPr/>
          <p:nvPr/>
        </p:nvSpPr>
        <p:spPr>
          <a:xfrm>
            <a:off x="640080" y="2852928"/>
            <a:ext cx="384048" cy="384048"/>
          </a:xfrm>
          <a:prstGeom prst="rect">
            <a:avLst/>
          </a:prstGeom>
          <a:solidFill>
            <a:srgbClr val="0F4C81"/>
          </a:solidFill>
          <a:ln w="12700">
            <a:solidFill>
              <a:srgbClr val="FFFFFF"/>
            </a:solidFill>
            <a:prstDash val="solid"/>
          </a:ln>
        </p:spPr>
      </p:sp>
      <p:sp>
        <p:nvSpPr>
          <p:cNvPr id="29" name="cell-2-1"/>
          <p:cNvSpPr/>
          <p:nvPr/>
        </p:nvSpPr>
        <p:spPr>
          <a:xfrm>
            <a:off x="1088136" y="2852928"/>
            <a:ext cx="384048" cy="384048"/>
          </a:xfrm>
          <a:prstGeom prst="rect">
            <a:avLst/>
          </a:prstGeom>
          <a:solidFill>
            <a:srgbClr val="0F4C81"/>
          </a:solidFill>
          <a:ln w="12700">
            <a:solidFill>
              <a:srgbClr val="FFFFFF"/>
            </a:solidFill>
            <a:prstDash val="solid"/>
          </a:ln>
        </p:spPr>
      </p:sp>
      <p:sp>
        <p:nvSpPr>
          <p:cNvPr id="30" name="cell-2-2"/>
          <p:cNvSpPr/>
          <p:nvPr/>
        </p:nvSpPr>
        <p:spPr>
          <a:xfrm>
            <a:off x="1536192" y="2852928"/>
            <a:ext cx="384048" cy="384048"/>
          </a:xfrm>
          <a:prstGeom prst="rect">
            <a:avLst/>
          </a:prstGeom>
          <a:solidFill>
            <a:srgbClr val="0F4C81"/>
          </a:solidFill>
          <a:ln w="12700">
            <a:solidFill>
              <a:srgbClr val="FFFFFF"/>
            </a:solidFill>
            <a:prstDash val="solid"/>
          </a:ln>
        </p:spPr>
      </p:sp>
      <p:sp>
        <p:nvSpPr>
          <p:cNvPr id="31" name="cell-2-3"/>
          <p:cNvSpPr/>
          <p:nvPr/>
        </p:nvSpPr>
        <p:spPr>
          <a:xfrm>
            <a:off x="1984248" y="2852928"/>
            <a:ext cx="384048" cy="384048"/>
          </a:xfrm>
          <a:prstGeom prst="rect">
            <a:avLst/>
          </a:prstGeom>
          <a:solidFill>
            <a:srgbClr val="0F4C81"/>
          </a:solidFill>
          <a:ln w="12700">
            <a:solidFill>
              <a:srgbClr val="FFFFFF"/>
            </a:solidFill>
            <a:prstDash val="solid"/>
          </a:ln>
        </p:spPr>
      </p:sp>
      <p:sp>
        <p:nvSpPr>
          <p:cNvPr id="32" name="cell-2-4"/>
          <p:cNvSpPr/>
          <p:nvPr/>
        </p:nvSpPr>
        <p:spPr>
          <a:xfrm>
            <a:off x="2432304" y="2852928"/>
            <a:ext cx="384048" cy="384048"/>
          </a:xfrm>
          <a:prstGeom prst="rect">
            <a:avLst/>
          </a:prstGeom>
          <a:solidFill>
            <a:srgbClr val="0F4C81"/>
          </a:solidFill>
          <a:ln w="12700">
            <a:solidFill>
              <a:srgbClr val="FFFFFF"/>
            </a:solidFill>
            <a:prstDash val="solid"/>
          </a:ln>
        </p:spPr>
      </p:sp>
      <p:sp>
        <p:nvSpPr>
          <p:cNvPr id="33" name="cell-2-5"/>
          <p:cNvSpPr/>
          <p:nvPr/>
        </p:nvSpPr>
        <p:spPr>
          <a:xfrm>
            <a:off x="2880360" y="2852928"/>
            <a:ext cx="384048" cy="384048"/>
          </a:xfrm>
          <a:prstGeom prst="rect">
            <a:avLst/>
          </a:prstGeom>
          <a:solidFill>
            <a:srgbClr val="0F4C81"/>
          </a:solidFill>
          <a:ln w="12700">
            <a:solidFill>
              <a:srgbClr val="FFFFFF"/>
            </a:solidFill>
            <a:prstDash val="solid"/>
          </a:ln>
        </p:spPr>
      </p:sp>
      <p:sp>
        <p:nvSpPr>
          <p:cNvPr id="34" name="cell-2-6"/>
          <p:cNvSpPr/>
          <p:nvPr/>
        </p:nvSpPr>
        <p:spPr>
          <a:xfrm>
            <a:off x="3328416" y="2852928"/>
            <a:ext cx="384048" cy="384048"/>
          </a:xfrm>
          <a:prstGeom prst="rect">
            <a:avLst/>
          </a:prstGeom>
          <a:solidFill>
            <a:srgbClr val="E2E8F0"/>
          </a:solidFill>
          <a:ln w="12700">
            <a:solidFill>
              <a:srgbClr val="FFFFFF"/>
            </a:solidFill>
            <a:prstDash val="solid"/>
          </a:ln>
        </p:spPr>
      </p:sp>
      <p:sp>
        <p:nvSpPr>
          <p:cNvPr id="35" name="cell-2-7"/>
          <p:cNvSpPr/>
          <p:nvPr/>
        </p:nvSpPr>
        <p:spPr>
          <a:xfrm>
            <a:off x="3776472" y="2852928"/>
            <a:ext cx="384048" cy="384048"/>
          </a:xfrm>
          <a:prstGeom prst="rect">
            <a:avLst/>
          </a:prstGeom>
          <a:solidFill>
            <a:srgbClr val="E2E8F0"/>
          </a:solidFill>
          <a:ln w="12700">
            <a:solidFill>
              <a:srgbClr val="FFFFFF"/>
            </a:solidFill>
            <a:prstDash val="solid"/>
          </a:ln>
        </p:spPr>
      </p:sp>
      <p:sp>
        <p:nvSpPr>
          <p:cNvPr id="36" name="cell-2-8"/>
          <p:cNvSpPr/>
          <p:nvPr/>
        </p:nvSpPr>
        <p:spPr>
          <a:xfrm>
            <a:off x="4224528" y="2852928"/>
            <a:ext cx="384048" cy="384048"/>
          </a:xfrm>
          <a:prstGeom prst="rect">
            <a:avLst/>
          </a:prstGeom>
          <a:solidFill>
            <a:srgbClr val="E2E8F0"/>
          </a:solidFill>
          <a:ln w="12700">
            <a:solidFill>
              <a:srgbClr val="FFFFFF"/>
            </a:solidFill>
            <a:prstDash val="solid"/>
          </a:ln>
        </p:spPr>
      </p:sp>
      <p:sp>
        <p:nvSpPr>
          <p:cNvPr id="37" name="cell-2-9"/>
          <p:cNvSpPr/>
          <p:nvPr/>
        </p:nvSpPr>
        <p:spPr>
          <a:xfrm>
            <a:off x="4672584" y="2852928"/>
            <a:ext cx="384048" cy="384048"/>
          </a:xfrm>
          <a:prstGeom prst="rect">
            <a:avLst/>
          </a:prstGeom>
          <a:solidFill>
            <a:srgbClr val="E2E8F0"/>
          </a:solidFill>
          <a:ln w="12700">
            <a:solidFill>
              <a:srgbClr val="FFFFFF"/>
            </a:solidFill>
            <a:prstDash val="solid"/>
          </a:ln>
        </p:spPr>
      </p:sp>
      <p:sp>
        <p:nvSpPr>
          <p:cNvPr id="38" name="cell-2-10"/>
          <p:cNvSpPr/>
          <p:nvPr/>
        </p:nvSpPr>
        <p:spPr>
          <a:xfrm>
            <a:off x="5120640" y="2852928"/>
            <a:ext cx="384048" cy="384048"/>
          </a:xfrm>
          <a:prstGeom prst="rect">
            <a:avLst/>
          </a:prstGeom>
          <a:solidFill>
            <a:srgbClr val="E2E8F0"/>
          </a:solidFill>
          <a:ln w="12700">
            <a:solidFill>
              <a:srgbClr val="FFFFFF"/>
            </a:solidFill>
            <a:prstDash val="solid"/>
          </a:ln>
        </p:spPr>
      </p:sp>
      <p:sp>
        <p:nvSpPr>
          <p:cNvPr id="39" name="cell-2-11"/>
          <p:cNvSpPr/>
          <p:nvPr/>
        </p:nvSpPr>
        <p:spPr>
          <a:xfrm>
            <a:off x="5568696" y="2852928"/>
            <a:ext cx="384048" cy="384048"/>
          </a:xfrm>
          <a:prstGeom prst="rect">
            <a:avLst/>
          </a:prstGeom>
          <a:solidFill>
            <a:srgbClr val="E2E8F0"/>
          </a:solidFill>
          <a:ln w="12700">
            <a:solidFill>
              <a:srgbClr val="FFFFFF"/>
            </a:solidFill>
            <a:prstDash val="solid"/>
          </a:ln>
        </p:spPr>
      </p:sp>
      <p:sp>
        <p:nvSpPr>
          <p:cNvPr id="40" name="cell-3-0"/>
          <p:cNvSpPr/>
          <p:nvPr/>
        </p:nvSpPr>
        <p:spPr>
          <a:xfrm>
            <a:off x="640080" y="3319272"/>
            <a:ext cx="384048" cy="384048"/>
          </a:xfrm>
          <a:prstGeom prst="rect">
            <a:avLst/>
          </a:prstGeom>
          <a:solidFill>
            <a:srgbClr val="0F4C81"/>
          </a:solidFill>
          <a:ln w="12700">
            <a:solidFill>
              <a:srgbClr val="FFFFFF"/>
            </a:solidFill>
            <a:prstDash val="solid"/>
          </a:ln>
        </p:spPr>
      </p:sp>
      <p:sp>
        <p:nvSpPr>
          <p:cNvPr id="41" name="cell-3-1"/>
          <p:cNvSpPr/>
          <p:nvPr/>
        </p:nvSpPr>
        <p:spPr>
          <a:xfrm>
            <a:off x="1088136" y="3319272"/>
            <a:ext cx="384048" cy="384048"/>
          </a:xfrm>
          <a:prstGeom prst="rect">
            <a:avLst/>
          </a:prstGeom>
          <a:solidFill>
            <a:srgbClr val="0F4C81"/>
          </a:solidFill>
          <a:ln w="12700">
            <a:solidFill>
              <a:srgbClr val="FFFFFF"/>
            </a:solidFill>
            <a:prstDash val="solid"/>
          </a:ln>
        </p:spPr>
      </p:sp>
      <p:sp>
        <p:nvSpPr>
          <p:cNvPr id="42" name="cell-3-2"/>
          <p:cNvSpPr/>
          <p:nvPr/>
        </p:nvSpPr>
        <p:spPr>
          <a:xfrm>
            <a:off x="1536192" y="3319272"/>
            <a:ext cx="384048" cy="384048"/>
          </a:xfrm>
          <a:prstGeom prst="rect">
            <a:avLst/>
          </a:prstGeom>
          <a:solidFill>
            <a:srgbClr val="0F4C81"/>
          </a:solidFill>
          <a:ln w="12700">
            <a:solidFill>
              <a:srgbClr val="FFFFFF"/>
            </a:solidFill>
            <a:prstDash val="solid"/>
          </a:ln>
        </p:spPr>
      </p:sp>
      <p:sp>
        <p:nvSpPr>
          <p:cNvPr id="43" name="cell-3-3"/>
          <p:cNvSpPr/>
          <p:nvPr/>
        </p:nvSpPr>
        <p:spPr>
          <a:xfrm>
            <a:off x="1984248" y="3319272"/>
            <a:ext cx="384048" cy="384048"/>
          </a:xfrm>
          <a:prstGeom prst="rect">
            <a:avLst/>
          </a:prstGeom>
          <a:solidFill>
            <a:srgbClr val="0F4C81"/>
          </a:solidFill>
          <a:ln w="12700">
            <a:solidFill>
              <a:srgbClr val="FFFFFF"/>
            </a:solidFill>
            <a:prstDash val="solid"/>
          </a:ln>
        </p:spPr>
      </p:sp>
      <p:sp>
        <p:nvSpPr>
          <p:cNvPr id="44" name="cell-3-4"/>
          <p:cNvSpPr/>
          <p:nvPr/>
        </p:nvSpPr>
        <p:spPr>
          <a:xfrm>
            <a:off x="2432304" y="3319272"/>
            <a:ext cx="384048" cy="384048"/>
          </a:xfrm>
          <a:prstGeom prst="rect">
            <a:avLst/>
          </a:prstGeom>
          <a:solidFill>
            <a:srgbClr val="0F4C81"/>
          </a:solidFill>
          <a:ln w="12700">
            <a:solidFill>
              <a:srgbClr val="FFFFFF"/>
            </a:solidFill>
            <a:prstDash val="solid"/>
          </a:ln>
        </p:spPr>
      </p:sp>
      <p:sp>
        <p:nvSpPr>
          <p:cNvPr id="45" name="cell-3-5"/>
          <p:cNvSpPr/>
          <p:nvPr/>
        </p:nvSpPr>
        <p:spPr>
          <a:xfrm>
            <a:off x="2880360" y="3319272"/>
            <a:ext cx="384048" cy="384048"/>
          </a:xfrm>
          <a:prstGeom prst="rect">
            <a:avLst/>
          </a:prstGeom>
          <a:solidFill>
            <a:srgbClr val="0F4C81"/>
          </a:solidFill>
          <a:ln w="12700">
            <a:solidFill>
              <a:srgbClr val="FFFFFF"/>
            </a:solidFill>
            <a:prstDash val="solid"/>
          </a:ln>
        </p:spPr>
      </p:sp>
      <p:sp>
        <p:nvSpPr>
          <p:cNvPr id="46" name="cell-3-6"/>
          <p:cNvSpPr/>
          <p:nvPr/>
        </p:nvSpPr>
        <p:spPr>
          <a:xfrm>
            <a:off x="3328416" y="3319272"/>
            <a:ext cx="384048" cy="384048"/>
          </a:xfrm>
          <a:prstGeom prst="rect">
            <a:avLst/>
          </a:prstGeom>
          <a:solidFill>
            <a:srgbClr val="0F4C81"/>
          </a:solidFill>
          <a:ln w="12700">
            <a:solidFill>
              <a:srgbClr val="FFFFFF"/>
            </a:solidFill>
            <a:prstDash val="solid"/>
          </a:ln>
        </p:spPr>
      </p:sp>
      <p:sp>
        <p:nvSpPr>
          <p:cNvPr id="47" name="cell-3-7"/>
          <p:cNvSpPr/>
          <p:nvPr/>
        </p:nvSpPr>
        <p:spPr>
          <a:xfrm>
            <a:off x="3776472" y="3319272"/>
            <a:ext cx="384048" cy="384048"/>
          </a:xfrm>
          <a:prstGeom prst="rect">
            <a:avLst/>
          </a:prstGeom>
          <a:solidFill>
            <a:srgbClr val="0F4C81"/>
          </a:solidFill>
          <a:ln w="12700">
            <a:solidFill>
              <a:srgbClr val="FFFFFF"/>
            </a:solidFill>
            <a:prstDash val="solid"/>
          </a:ln>
        </p:spPr>
      </p:sp>
      <p:sp>
        <p:nvSpPr>
          <p:cNvPr id="48" name="cell-3-8"/>
          <p:cNvSpPr/>
          <p:nvPr/>
        </p:nvSpPr>
        <p:spPr>
          <a:xfrm>
            <a:off x="4224528" y="3319272"/>
            <a:ext cx="384048" cy="384048"/>
          </a:xfrm>
          <a:prstGeom prst="rect">
            <a:avLst/>
          </a:prstGeom>
          <a:solidFill>
            <a:srgbClr val="0F4C81"/>
          </a:solidFill>
          <a:ln w="12700">
            <a:solidFill>
              <a:srgbClr val="FFFFFF"/>
            </a:solidFill>
            <a:prstDash val="solid"/>
          </a:ln>
        </p:spPr>
      </p:sp>
      <p:sp>
        <p:nvSpPr>
          <p:cNvPr id="49" name="cell-3-9"/>
          <p:cNvSpPr/>
          <p:nvPr/>
        </p:nvSpPr>
        <p:spPr>
          <a:xfrm>
            <a:off x="4672584" y="3319272"/>
            <a:ext cx="384048" cy="384048"/>
          </a:xfrm>
          <a:prstGeom prst="rect">
            <a:avLst/>
          </a:prstGeom>
          <a:solidFill>
            <a:srgbClr val="0F4C81"/>
          </a:solidFill>
          <a:ln w="12700">
            <a:solidFill>
              <a:srgbClr val="FFFFFF"/>
            </a:solidFill>
            <a:prstDash val="solid"/>
          </a:ln>
        </p:spPr>
      </p:sp>
      <p:sp>
        <p:nvSpPr>
          <p:cNvPr id="50" name="cell-3-10"/>
          <p:cNvSpPr/>
          <p:nvPr/>
        </p:nvSpPr>
        <p:spPr>
          <a:xfrm>
            <a:off x="5120640" y="3319272"/>
            <a:ext cx="384048" cy="384048"/>
          </a:xfrm>
          <a:prstGeom prst="rect">
            <a:avLst/>
          </a:prstGeom>
          <a:solidFill>
            <a:srgbClr val="0F4C81"/>
          </a:solidFill>
          <a:ln w="12700">
            <a:solidFill>
              <a:srgbClr val="FFFFFF"/>
            </a:solidFill>
            <a:prstDash val="solid"/>
          </a:ln>
        </p:spPr>
      </p:sp>
      <p:sp>
        <p:nvSpPr>
          <p:cNvPr id="51" name="cell-3-11"/>
          <p:cNvSpPr/>
          <p:nvPr/>
        </p:nvSpPr>
        <p:spPr>
          <a:xfrm>
            <a:off x="5568696" y="3319272"/>
            <a:ext cx="384048" cy="384048"/>
          </a:xfrm>
          <a:prstGeom prst="rect">
            <a:avLst/>
          </a:prstGeom>
          <a:solidFill>
            <a:srgbClr val="0F4C81"/>
          </a:solidFill>
          <a:ln w="12700">
            <a:solidFill>
              <a:srgbClr val="FFFFFF"/>
            </a:solidFill>
            <a:prstDash val="solid"/>
          </a:ln>
        </p:spPr>
      </p:sp>
      <p:sp>
        <p:nvSpPr>
          <p:cNvPr id="52" name="cell-4-0"/>
          <p:cNvSpPr/>
          <p:nvPr/>
        </p:nvSpPr>
        <p:spPr>
          <a:xfrm>
            <a:off x="640080" y="3785616"/>
            <a:ext cx="384048" cy="384048"/>
          </a:xfrm>
          <a:prstGeom prst="rect">
            <a:avLst/>
          </a:prstGeom>
          <a:solidFill>
            <a:srgbClr val="E2E8F0"/>
          </a:solidFill>
          <a:ln w="12700">
            <a:solidFill>
              <a:srgbClr val="FFFFFF"/>
            </a:solidFill>
            <a:prstDash val="solid"/>
          </a:ln>
        </p:spPr>
      </p:sp>
      <p:sp>
        <p:nvSpPr>
          <p:cNvPr id="53" name="cell-4-1"/>
          <p:cNvSpPr/>
          <p:nvPr/>
        </p:nvSpPr>
        <p:spPr>
          <a:xfrm>
            <a:off x="1088136" y="3785616"/>
            <a:ext cx="384048" cy="384048"/>
          </a:xfrm>
          <a:prstGeom prst="rect">
            <a:avLst/>
          </a:prstGeom>
          <a:solidFill>
            <a:srgbClr val="E2E8F0"/>
          </a:solidFill>
          <a:ln w="12700">
            <a:solidFill>
              <a:srgbClr val="FFFFFF"/>
            </a:solidFill>
            <a:prstDash val="solid"/>
          </a:ln>
        </p:spPr>
      </p:sp>
      <p:sp>
        <p:nvSpPr>
          <p:cNvPr id="54" name="cell-4-2"/>
          <p:cNvSpPr/>
          <p:nvPr/>
        </p:nvSpPr>
        <p:spPr>
          <a:xfrm>
            <a:off x="1536192" y="3785616"/>
            <a:ext cx="384048" cy="384048"/>
          </a:xfrm>
          <a:prstGeom prst="rect">
            <a:avLst/>
          </a:prstGeom>
          <a:solidFill>
            <a:srgbClr val="E2E8F0"/>
          </a:solidFill>
          <a:ln w="12700">
            <a:solidFill>
              <a:srgbClr val="FFFFFF"/>
            </a:solidFill>
            <a:prstDash val="solid"/>
          </a:ln>
        </p:spPr>
      </p:sp>
      <p:sp>
        <p:nvSpPr>
          <p:cNvPr id="55" name="cell-4-3"/>
          <p:cNvSpPr/>
          <p:nvPr/>
        </p:nvSpPr>
        <p:spPr>
          <a:xfrm>
            <a:off x="1984248" y="3785616"/>
            <a:ext cx="384048" cy="384048"/>
          </a:xfrm>
          <a:prstGeom prst="rect">
            <a:avLst/>
          </a:prstGeom>
          <a:solidFill>
            <a:srgbClr val="E2E8F0"/>
          </a:solidFill>
          <a:ln w="12700">
            <a:solidFill>
              <a:srgbClr val="FFFFFF"/>
            </a:solidFill>
            <a:prstDash val="solid"/>
          </a:ln>
        </p:spPr>
      </p:sp>
      <p:sp>
        <p:nvSpPr>
          <p:cNvPr id="56" name="cell-4-4"/>
          <p:cNvSpPr/>
          <p:nvPr/>
        </p:nvSpPr>
        <p:spPr>
          <a:xfrm>
            <a:off x="2432304" y="3785616"/>
            <a:ext cx="384048" cy="384048"/>
          </a:xfrm>
          <a:prstGeom prst="rect">
            <a:avLst/>
          </a:prstGeom>
          <a:solidFill>
            <a:srgbClr val="0F4C81"/>
          </a:solidFill>
          <a:ln w="12700">
            <a:solidFill>
              <a:srgbClr val="FFFFFF"/>
            </a:solidFill>
            <a:prstDash val="solid"/>
          </a:ln>
        </p:spPr>
      </p:sp>
      <p:sp>
        <p:nvSpPr>
          <p:cNvPr id="57" name="cell-4-5"/>
          <p:cNvSpPr/>
          <p:nvPr/>
        </p:nvSpPr>
        <p:spPr>
          <a:xfrm>
            <a:off x="2880360" y="3785616"/>
            <a:ext cx="384048" cy="384048"/>
          </a:xfrm>
          <a:prstGeom prst="rect">
            <a:avLst/>
          </a:prstGeom>
          <a:solidFill>
            <a:srgbClr val="0F4C81"/>
          </a:solidFill>
          <a:ln w="12700">
            <a:solidFill>
              <a:srgbClr val="FFFFFF"/>
            </a:solidFill>
            <a:prstDash val="solid"/>
          </a:ln>
        </p:spPr>
      </p:sp>
      <p:sp>
        <p:nvSpPr>
          <p:cNvPr id="58" name="cell-4-6"/>
          <p:cNvSpPr/>
          <p:nvPr/>
        </p:nvSpPr>
        <p:spPr>
          <a:xfrm>
            <a:off x="3328416" y="3785616"/>
            <a:ext cx="384048" cy="384048"/>
          </a:xfrm>
          <a:prstGeom prst="rect">
            <a:avLst/>
          </a:prstGeom>
          <a:solidFill>
            <a:srgbClr val="0F4C81"/>
          </a:solidFill>
          <a:ln w="12700">
            <a:solidFill>
              <a:srgbClr val="FFFFFF"/>
            </a:solidFill>
            <a:prstDash val="solid"/>
          </a:ln>
        </p:spPr>
      </p:sp>
      <p:sp>
        <p:nvSpPr>
          <p:cNvPr id="59" name="cell-4-7"/>
          <p:cNvSpPr/>
          <p:nvPr/>
        </p:nvSpPr>
        <p:spPr>
          <a:xfrm>
            <a:off x="3776472" y="3785616"/>
            <a:ext cx="384048" cy="384048"/>
          </a:xfrm>
          <a:prstGeom prst="rect">
            <a:avLst/>
          </a:prstGeom>
          <a:solidFill>
            <a:srgbClr val="0F4C81"/>
          </a:solidFill>
          <a:ln w="12700">
            <a:solidFill>
              <a:srgbClr val="FFFFFF"/>
            </a:solidFill>
            <a:prstDash val="solid"/>
          </a:ln>
        </p:spPr>
      </p:sp>
      <p:sp>
        <p:nvSpPr>
          <p:cNvPr id="60" name="cell-4-8"/>
          <p:cNvSpPr/>
          <p:nvPr/>
        </p:nvSpPr>
        <p:spPr>
          <a:xfrm>
            <a:off x="4224528" y="3785616"/>
            <a:ext cx="384048" cy="384048"/>
          </a:xfrm>
          <a:prstGeom prst="rect">
            <a:avLst/>
          </a:prstGeom>
          <a:solidFill>
            <a:srgbClr val="E2E8F0"/>
          </a:solidFill>
          <a:ln w="12700">
            <a:solidFill>
              <a:srgbClr val="FFFFFF"/>
            </a:solidFill>
            <a:prstDash val="solid"/>
          </a:ln>
        </p:spPr>
      </p:sp>
      <p:sp>
        <p:nvSpPr>
          <p:cNvPr id="61" name="cell-4-9"/>
          <p:cNvSpPr/>
          <p:nvPr/>
        </p:nvSpPr>
        <p:spPr>
          <a:xfrm>
            <a:off x="4672584" y="3785616"/>
            <a:ext cx="384048" cy="384048"/>
          </a:xfrm>
          <a:prstGeom prst="rect">
            <a:avLst/>
          </a:prstGeom>
          <a:solidFill>
            <a:srgbClr val="E2E8F0"/>
          </a:solidFill>
          <a:ln w="12700">
            <a:solidFill>
              <a:srgbClr val="FFFFFF"/>
            </a:solidFill>
            <a:prstDash val="solid"/>
          </a:ln>
        </p:spPr>
      </p:sp>
      <p:sp>
        <p:nvSpPr>
          <p:cNvPr id="62" name="cell-4-10"/>
          <p:cNvSpPr/>
          <p:nvPr/>
        </p:nvSpPr>
        <p:spPr>
          <a:xfrm>
            <a:off x="5120640" y="3785616"/>
            <a:ext cx="384048" cy="384048"/>
          </a:xfrm>
          <a:prstGeom prst="rect">
            <a:avLst/>
          </a:prstGeom>
          <a:solidFill>
            <a:srgbClr val="0F4C81"/>
          </a:solidFill>
          <a:ln w="12700">
            <a:solidFill>
              <a:srgbClr val="FFFFFF"/>
            </a:solidFill>
            <a:prstDash val="solid"/>
          </a:ln>
        </p:spPr>
      </p:sp>
      <p:sp>
        <p:nvSpPr>
          <p:cNvPr id="63" name="cell-4-11"/>
          <p:cNvSpPr/>
          <p:nvPr/>
        </p:nvSpPr>
        <p:spPr>
          <a:xfrm>
            <a:off x="5568696" y="3785616"/>
            <a:ext cx="384048" cy="384048"/>
          </a:xfrm>
          <a:prstGeom prst="rect">
            <a:avLst/>
          </a:prstGeom>
          <a:solidFill>
            <a:srgbClr val="0F4C81"/>
          </a:solidFill>
          <a:ln w="12700">
            <a:solidFill>
              <a:srgbClr val="FFFFFF"/>
            </a:solidFill>
            <a:prstDash val="solid"/>
          </a:ln>
        </p:spPr>
      </p:sp>
      <p:sp>
        <p:nvSpPr>
          <p:cNvPr id="64" name="Text 62"/>
          <p:cNvSpPr txBox="1"/>
          <p:nvPr/>
        </p:nvSpPr>
        <p:spPr>
          <a:xfrm>
            <a:off x="621792" y="4297680"/>
            <a:ext cx="1828800" cy="274320"/>
          </a:xfrm>
          <a:prstGeom prst="rect">
            <a:avLst/>
          </a:prstGeom>
          <a:noFill/>
          <a:ln/>
        </p:spPr>
        <p:txBody>
          <a:bodyPr wrap="square" lIns="0" tIns="0" rIns="0" bIns="0" rtlCol="0" anchor="ctr"/>
          <a:lstStyle/>
          <a:p>
            <a:pPr indent="0" marL="0">
              <a:buNone/>
            </a:pPr>
            <a:r>
              <a:rPr lang="en-US" sz="1200" dirty="0">
                <a:solidFill>
                  <a:schemeClr val="accent5"/>
                </a:solidFill>
              </a:rPr>
              <a:t>experts</a:t>
            </a:r>
            <a:endParaRPr lang="en-US" sz="1200" dirty="0"/>
          </a:p>
        </p:txBody>
      </p:sp>
      <p:sp>
        <p:nvSpPr>
          <p:cNvPr id="65" name="Text 63"/>
          <p:cNvSpPr txBox="1"/>
          <p:nvPr/>
        </p:nvSpPr>
        <p:spPr>
          <a:xfrm>
            <a:off x="4480560" y="4297680"/>
            <a:ext cx="1828800" cy="274320"/>
          </a:xfrm>
          <a:prstGeom prst="rect">
            <a:avLst/>
          </a:prstGeom>
          <a:noFill/>
          <a:ln/>
        </p:spPr>
        <p:txBody>
          <a:bodyPr wrap="square" lIns="0" tIns="0" rIns="0" bIns="0" rtlCol="0" anchor="ctr"/>
          <a:lstStyle/>
          <a:p>
            <a:pPr indent="0" marL="0">
              <a:buNone/>
            </a:pPr>
            <a:r>
              <a:rPr lang="en-US" sz="1200" dirty="0">
                <a:solidFill>
                  <a:schemeClr val="accent5"/>
                </a:solidFill>
              </a:rPr>
              <a:t>rounds  →</a:t>
            </a:r>
            <a:endParaRPr lang="en-US" sz="1200" dirty="0"/>
          </a:p>
        </p:txBody>
      </p:sp>
      <p:sp>
        <p:nvSpPr>
          <p:cNvPr id="66" name="rules"/>
          <p:cNvSpPr/>
          <p:nvPr/>
        </p:nvSpPr>
        <p:spPr>
          <a:xfrm>
            <a:off x="6309360" y="1828800"/>
            <a:ext cx="5212080" cy="2834640"/>
          </a:xfrm>
          <a:prstGeom prst="roundRect">
            <a:avLst>
              <a:gd name="adj" fmla="val 2581"/>
            </a:avLst>
          </a:prstGeom>
          <a:solidFill>
            <a:srgbClr val="F2F5F9"/>
          </a:solidFill>
          <a:ln w="12700">
            <a:solidFill>
              <a:srgbClr val="E2E8F0"/>
            </a:solidFill>
            <a:prstDash val="solid"/>
          </a:ln>
        </p:spPr>
      </p:sp>
      <p:sp>
        <p:nvSpPr>
          <p:cNvPr id="67" name="Text 65"/>
          <p:cNvSpPr txBox="1"/>
          <p:nvPr/>
        </p:nvSpPr>
        <p:spPr>
          <a:xfrm>
            <a:off x="6629400" y="2057400"/>
            <a:ext cx="4572000" cy="2377440"/>
          </a:xfrm>
          <a:prstGeom prst="rect">
            <a:avLst/>
          </a:prstGeom>
          <a:noFill/>
          <a:ln/>
        </p:spPr>
        <p:txBody>
          <a:bodyPr wrap="square" rtlCol="0" anchor="ctr"/>
          <a:lstStyle/>
          <a:p>
            <a:pPr marL="342900" indent="-342900">
              <a:spcAft>
                <a:spcPts val="1000"/>
              </a:spcAft>
              <a:buSzPct val="100000"/>
              <a:buChar char="•"/>
            </a:pPr>
            <a:r>
              <a:rPr lang="en-US" sz="1500" dirty="0">
                <a:solidFill>
                  <a:schemeClr val="tx1"/>
                </a:solidFill>
              </a:rPr>
              <a:t>each expert keeps its own persistent state</a:t>
            </a:r>
            <a:endParaRPr lang="en-US" sz="1500" dirty="0"/>
          </a:p>
          <a:p>
            <a:pPr marL="342900" indent="-342900">
              <a:spcAft>
                <a:spcPts val="1000"/>
              </a:spcAft>
              <a:buSzPct val="100000"/>
              <a:buChar char="•"/>
            </a:pPr>
            <a:r>
              <a:rPr lang="en-US" sz="1500" dirty="0">
                <a:solidFill>
                  <a:schemeClr val="tx1"/>
                </a:solidFill>
              </a:rPr>
              <a:t>the prediction is renormalised over A(t) alone</a:t>
            </a:r>
            <a:endParaRPr lang="en-US" sz="1500" dirty="0"/>
          </a:p>
          <a:p>
            <a:pPr marL="342900" indent="-342900">
              <a:spcAft>
                <a:spcPts val="1000"/>
              </a:spcAft>
              <a:buSzPct val="100000"/>
              <a:buChar char="•"/>
            </a:pPr>
            <a:r>
              <a:rPr lang="en-US" sz="1500" dirty="0">
                <a:solidFill>
                  <a:schemeClr val="tx1"/>
                </a:solidFill>
              </a:rPr>
              <a:t>a sleeping expert is FROZEN, not decayed</a:t>
            </a:r>
            <a:endParaRPr lang="en-US" sz="1500" dirty="0"/>
          </a:p>
          <a:p>
            <a:pPr marL="342900" indent="-342900">
              <a:spcAft>
                <a:spcPts val="1000"/>
              </a:spcAft>
              <a:buSzPct val="100000"/>
              <a:buChar char="•"/>
            </a:pPr>
            <a:r>
              <a:rPr lang="en-US" sz="1500" dirty="0">
                <a:solidFill>
                  <a:schemeClr val="tx1"/>
                </a:solidFill>
              </a:rPr>
              <a:t>regret is measured over each expert's own awake rounds</a:t>
            </a:r>
            <a:endParaRPr lang="en-US" sz="1500" dirty="0"/>
          </a:p>
        </p:txBody>
      </p:sp>
      <p:sp>
        <p:nvSpPr>
          <p:cNvPr id="68" name="Text 66"/>
          <p:cNvSpPr txBox="1"/>
          <p:nvPr/>
        </p:nvSpPr>
        <p:spPr>
          <a:xfrm>
            <a:off x="640080" y="5029200"/>
            <a:ext cx="10881360" cy="457200"/>
          </a:xfrm>
          <a:prstGeom prst="rect">
            <a:avLst/>
          </a:prstGeom>
          <a:noFill/>
          <a:ln/>
        </p:spPr>
        <p:txBody>
          <a:bodyPr wrap="square" rtlCol="0" anchor="ctr"/>
          <a:lstStyle/>
          <a:p>
            <a:pPr indent="0" marL="0">
              <a:buNone/>
            </a:pPr>
            <a:r>
              <a:rPr lang="en-US" sz="1500" i="1" dirty="0">
                <a:solidFill>
                  <a:schemeClr val="accent5"/>
                </a:solidFill>
              </a:rPr>
              <a:t>A bookmaker covering 7% of matches therefore does not dilute the guarantee of the rest.</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Three OCO stages, from odds to a bet</a:t>
            </a:r>
            <a:endParaRPr lang="en-US" sz="3000" dirty="0"/>
          </a:p>
        </p:txBody>
      </p:sp>
      <p:sp>
        <p:nvSpPr>
          <p:cNvPr id="3" name="circle-1"/>
          <p:cNvSpPr/>
          <p:nvPr/>
        </p:nvSpPr>
        <p:spPr>
          <a:xfrm>
            <a:off x="640080" y="1691640"/>
            <a:ext cx="566928" cy="566928"/>
          </a:xfrm>
          <a:prstGeom prst="ellipse">
            <a:avLst/>
          </a:prstGeom>
          <a:solidFill>
            <a:schemeClr val="accent1"/>
          </a:solidFill>
          <a:ln/>
        </p:spPr>
      </p:sp>
      <p:sp>
        <p:nvSpPr>
          <p:cNvPr id="4" name="Text 2"/>
          <p:cNvSpPr txBox="1"/>
          <p:nvPr/>
        </p:nvSpPr>
        <p:spPr>
          <a:xfrm>
            <a:off x="640080" y="16916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Text 3"/>
          <p:cNvSpPr txBox="1"/>
          <p:nvPr/>
        </p:nvSpPr>
        <p:spPr>
          <a:xfrm>
            <a:off x="1508760" y="1600200"/>
            <a:ext cx="2377440" cy="457200"/>
          </a:xfrm>
          <a:prstGeom prst="rect">
            <a:avLst/>
          </a:prstGeom>
          <a:noFill/>
          <a:ln/>
        </p:spPr>
        <p:txBody>
          <a:bodyPr wrap="square" lIns="0" tIns="0" rIns="0" bIns="0" rtlCol="0" anchor="ctr"/>
          <a:lstStyle/>
          <a:p>
            <a:pPr indent="0" marL="0">
              <a:buNone/>
            </a:pPr>
            <a:r>
              <a:rPr lang="en-US" sz="2000" b="1" dirty="0">
                <a:solidFill>
                  <a:schemeClr val="tx2"/>
                </a:solidFill>
              </a:rPr>
              <a:t>Weighting</a:t>
            </a:r>
            <a:endParaRPr lang="en-US" sz="2000" dirty="0"/>
          </a:p>
        </p:txBody>
      </p:sp>
      <p:sp>
        <p:nvSpPr>
          <p:cNvPr id="6" name="Text 4"/>
          <p:cNvSpPr txBox="1"/>
          <p:nvPr/>
        </p:nvSpPr>
        <p:spPr>
          <a:xfrm>
            <a:off x="3931920" y="1600200"/>
            <a:ext cx="2834640" cy="457200"/>
          </a:xfrm>
          <a:prstGeom prst="rect">
            <a:avLst/>
          </a:prstGeom>
          <a:noFill/>
          <a:ln/>
        </p:spPr>
        <p:txBody>
          <a:bodyPr wrap="square" lIns="0" tIns="0" rIns="0" bIns="0" rtlCol="0" anchor="ctr"/>
          <a:lstStyle/>
          <a:p>
            <a:pPr indent="0" marL="0">
              <a:buNone/>
            </a:pPr>
            <a:r>
              <a:rPr lang="en-US" sz="1600" i="1" dirty="0">
                <a:solidFill>
                  <a:schemeClr val="accent1"/>
                </a:solidFill>
              </a:rPr>
              <a:t>the weight vector w</a:t>
            </a:r>
            <a:endParaRPr lang="en-US" sz="1600" dirty="0"/>
          </a:p>
        </p:txBody>
      </p:sp>
      <p:sp>
        <p:nvSpPr>
          <p:cNvPr id="7" name="Text 5"/>
          <p:cNvSpPr txBox="1"/>
          <p:nvPr/>
        </p:nvSpPr>
        <p:spPr>
          <a:xfrm>
            <a:off x="6949440" y="1600200"/>
            <a:ext cx="4572000" cy="457200"/>
          </a:xfrm>
          <a:prstGeom prst="rect">
            <a:avLst/>
          </a:prstGeom>
          <a:noFill/>
          <a:ln/>
        </p:spPr>
        <p:txBody>
          <a:bodyPr wrap="square" lIns="0" tIns="0" rIns="0" bIns="0" rtlCol="0" anchor="ctr"/>
          <a:lstStyle/>
          <a:p>
            <a:pPr indent="0" marL="0">
              <a:buNone/>
            </a:pPr>
            <a:r>
              <a:rPr lang="en-US" sz="1400" dirty="0">
                <a:solidFill>
                  <a:schemeClr val="accent5"/>
                </a:solidFill>
              </a:rPr>
              <a:t>Hedge / OGD / FTRL over the awake experts</a:t>
            </a:r>
            <a:endParaRPr lang="en-US" sz="1400" dirty="0"/>
          </a:p>
        </p:txBody>
      </p:sp>
      <p:sp>
        <p:nvSpPr>
          <p:cNvPr id="8" name="circle-2"/>
          <p:cNvSpPr/>
          <p:nvPr/>
        </p:nvSpPr>
        <p:spPr>
          <a:xfrm>
            <a:off x="640080" y="3063240"/>
            <a:ext cx="566928" cy="566928"/>
          </a:xfrm>
          <a:prstGeom prst="ellipse">
            <a:avLst/>
          </a:prstGeom>
          <a:solidFill>
            <a:schemeClr val="accent1"/>
          </a:solidFill>
          <a:ln/>
        </p:spPr>
      </p:sp>
      <p:sp>
        <p:nvSpPr>
          <p:cNvPr id="9" name="Text 7"/>
          <p:cNvSpPr txBox="1"/>
          <p:nvPr/>
        </p:nvSpPr>
        <p:spPr>
          <a:xfrm>
            <a:off x="640080" y="30632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508760" y="2971800"/>
            <a:ext cx="2377440" cy="457200"/>
          </a:xfrm>
          <a:prstGeom prst="rect">
            <a:avLst/>
          </a:prstGeom>
          <a:noFill/>
          <a:ln/>
        </p:spPr>
        <p:txBody>
          <a:bodyPr wrap="square" lIns="0" tIns="0" rIns="0" bIns="0" rtlCol="0" anchor="ctr"/>
          <a:lstStyle/>
          <a:p>
            <a:pPr indent="0" marL="0">
              <a:buNone/>
            </a:pPr>
            <a:r>
              <a:rPr lang="en-US" sz="2000" b="1" dirty="0">
                <a:solidFill>
                  <a:schemeClr val="tx2"/>
                </a:solidFill>
              </a:rPr>
              <a:t>Calibration</a:t>
            </a:r>
            <a:endParaRPr lang="en-US" sz="2000" dirty="0"/>
          </a:p>
        </p:txBody>
      </p:sp>
      <p:sp>
        <p:nvSpPr>
          <p:cNvPr id="11" name="Text 9"/>
          <p:cNvSpPr txBox="1"/>
          <p:nvPr/>
        </p:nvSpPr>
        <p:spPr>
          <a:xfrm>
            <a:off x="3931920" y="2971800"/>
            <a:ext cx="2834640" cy="457200"/>
          </a:xfrm>
          <a:prstGeom prst="rect">
            <a:avLst/>
          </a:prstGeom>
          <a:noFill/>
          <a:ln/>
        </p:spPr>
        <p:txBody>
          <a:bodyPr wrap="square" lIns="0" tIns="0" rIns="0" bIns="0" rtlCol="0" anchor="ctr"/>
          <a:lstStyle/>
          <a:p>
            <a:pPr indent="0" marL="0">
              <a:buNone/>
            </a:pPr>
            <a:r>
              <a:rPr lang="en-US" sz="1600" i="1" dirty="0">
                <a:solidFill>
                  <a:schemeClr val="accent1"/>
                </a:solidFill>
              </a:rPr>
              <a:t>the temperature s</a:t>
            </a:r>
            <a:endParaRPr lang="en-US" sz="1600" dirty="0"/>
          </a:p>
        </p:txBody>
      </p:sp>
      <p:sp>
        <p:nvSpPr>
          <p:cNvPr id="12" name="Text 10"/>
          <p:cNvSpPr txBox="1"/>
          <p:nvPr/>
        </p:nvSpPr>
        <p:spPr>
          <a:xfrm>
            <a:off x="6949440" y="2971800"/>
            <a:ext cx="4572000" cy="457200"/>
          </a:xfrm>
          <a:prstGeom prst="rect">
            <a:avLst/>
          </a:prstGeom>
          <a:noFill/>
          <a:ln/>
        </p:spPr>
        <p:txBody>
          <a:bodyPr wrap="square" lIns="0" tIns="0" rIns="0" bIns="0" rtlCol="0" anchor="ctr"/>
          <a:lstStyle/>
          <a:p>
            <a:pPr indent="0" marL="0">
              <a:buNone/>
            </a:pPr>
            <a:r>
              <a:rPr lang="en-US" sz="1400" dirty="0">
                <a:solidFill>
                  <a:schemeClr val="accent5"/>
                </a:solidFill>
              </a:rPr>
              <a:t>online temperature scaling; the loss is convex in s</a:t>
            </a:r>
            <a:endParaRPr lang="en-US" sz="1400" dirty="0"/>
          </a:p>
        </p:txBody>
      </p:sp>
      <p:sp>
        <p:nvSpPr>
          <p:cNvPr id="13" name="circle-3"/>
          <p:cNvSpPr/>
          <p:nvPr/>
        </p:nvSpPr>
        <p:spPr>
          <a:xfrm>
            <a:off x="640080" y="4434840"/>
            <a:ext cx="566928" cy="566928"/>
          </a:xfrm>
          <a:prstGeom prst="ellipse">
            <a:avLst/>
          </a:prstGeom>
          <a:solidFill>
            <a:schemeClr val="accent3"/>
          </a:solidFill>
          <a:ln/>
        </p:spPr>
      </p:sp>
      <p:sp>
        <p:nvSpPr>
          <p:cNvPr id="14" name="Text 12"/>
          <p:cNvSpPr txBox="1"/>
          <p:nvPr/>
        </p:nvSpPr>
        <p:spPr>
          <a:xfrm>
            <a:off x="640080" y="44348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5" name="Text 13"/>
          <p:cNvSpPr txBox="1"/>
          <p:nvPr/>
        </p:nvSpPr>
        <p:spPr>
          <a:xfrm>
            <a:off x="1508760" y="4343400"/>
            <a:ext cx="2377440" cy="457200"/>
          </a:xfrm>
          <a:prstGeom prst="rect">
            <a:avLst/>
          </a:prstGeom>
          <a:noFill/>
          <a:ln/>
        </p:spPr>
        <p:txBody>
          <a:bodyPr wrap="square" lIns="0" tIns="0" rIns="0" bIns="0" rtlCol="0" anchor="ctr"/>
          <a:lstStyle/>
          <a:p>
            <a:pPr indent="0" marL="0">
              <a:buNone/>
            </a:pPr>
            <a:r>
              <a:rPr lang="en-US" sz="2000" b="1" dirty="0">
                <a:solidFill>
                  <a:schemeClr val="tx2"/>
                </a:solidFill>
              </a:rPr>
              <a:t>Stake size</a:t>
            </a:r>
            <a:endParaRPr lang="en-US" sz="2000" dirty="0"/>
          </a:p>
        </p:txBody>
      </p:sp>
      <p:sp>
        <p:nvSpPr>
          <p:cNvPr id="16" name="Text 14"/>
          <p:cNvSpPr txBox="1"/>
          <p:nvPr/>
        </p:nvSpPr>
        <p:spPr>
          <a:xfrm>
            <a:off x="3931920" y="4343400"/>
            <a:ext cx="2834640" cy="457200"/>
          </a:xfrm>
          <a:prstGeom prst="rect">
            <a:avLst/>
          </a:prstGeom>
          <a:noFill/>
          <a:ln/>
        </p:spPr>
        <p:txBody>
          <a:bodyPr wrap="square" lIns="0" tIns="0" rIns="0" bIns="0" rtlCol="0" anchor="ctr"/>
          <a:lstStyle/>
          <a:p>
            <a:pPr indent="0" marL="0">
              <a:buNone/>
            </a:pPr>
            <a:r>
              <a:rPr lang="en-US" sz="1600" i="1" dirty="0">
                <a:solidFill>
                  <a:schemeClr val="accent3"/>
                </a:solidFill>
              </a:rPr>
              <a:t>the Kelly multiplier λ</a:t>
            </a:r>
            <a:endParaRPr lang="en-US" sz="1600" dirty="0"/>
          </a:p>
        </p:txBody>
      </p:sp>
      <p:sp>
        <p:nvSpPr>
          <p:cNvPr id="17" name="Text 15"/>
          <p:cNvSpPr txBox="1"/>
          <p:nvPr/>
        </p:nvSpPr>
        <p:spPr>
          <a:xfrm>
            <a:off x="6949440" y="4343400"/>
            <a:ext cx="4572000" cy="457200"/>
          </a:xfrm>
          <a:prstGeom prst="rect">
            <a:avLst/>
          </a:prstGeom>
          <a:noFill/>
          <a:ln/>
        </p:spPr>
        <p:txBody>
          <a:bodyPr wrap="square" lIns="0" tIns="0" rIns="0" bIns="0" rtlCol="0" anchor="ctr"/>
          <a:lstStyle/>
          <a:p>
            <a:pPr indent="0" marL="0">
              <a:buNone/>
            </a:pPr>
            <a:r>
              <a:rPr lang="en-US" sz="1400" dirty="0">
                <a:solidFill>
                  <a:schemeClr val="accent5"/>
                </a:solidFill>
              </a:rPr>
              <a:t>Online Newton Step; the loss is exp-concave in λ</a:t>
            </a:r>
            <a:endParaRPr lang="en-US" sz="1400" dirty="0"/>
          </a:p>
        </p:txBody>
      </p:sp>
      <p:sp>
        <p:nvSpPr>
          <p:cNvPr id="18" name="recipe"/>
          <p:cNvSpPr/>
          <p:nvPr/>
        </p:nvSpPr>
        <p:spPr>
          <a:xfrm>
            <a:off x="640080" y="5486400"/>
            <a:ext cx="10881360" cy="914400"/>
          </a:xfrm>
          <a:prstGeom prst="roundRect">
            <a:avLst>
              <a:gd name="adj" fmla="val 8000"/>
            </a:avLst>
          </a:prstGeom>
          <a:solidFill>
            <a:srgbClr val="F2F5F9"/>
          </a:solidFill>
          <a:ln w="12700">
            <a:solidFill>
              <a:srgbClr val="E2E8F0"/>
            </a:solidFill>
            <a:prstDash val="solid"/>
          </a:ln>
        </p:spPr>
      </p:sp>
      <p:sp>
        <p:nvSpPr>
          <p:cNvPr id="19" name="Text 17"/>
          <p:cNvSpPr txBox="1"/>
          <p:nvPr/>
        </p:nvSpPr>
        <p:spPr>
          <a:xfrm>
            <a:off x="960120" y="5623560"/>
            <a:ext cx="10241280" cy="640080"/>
          </a:xfrm>
          <a:prstGeom prst="rect">
            <a:avLst/>
          </a:prstGeom>
          <a:noFill/>
          <a:ln/>
        </p:spPr>
        <p:txBody>
          <a:bodyPr wrap="square" rtlCol="0" anchor="ctr"/>
          <a:lstStyle/>
          <a:p>
            <a:pPr indent="0" marL="0">
              <a:buNone/>
            </a:pPr>
            <a:r>
              <a:rPr lang="en-US" sz="1500" dirty="0">
                <a:solidFill>
                  <a:schemeClr val="tx1"/>
                </a:solidFill>
              </a:rPr>
              <a:t>Convex loss, causal update, projection onto the feasible set. Only the unknown changes, and with it which algorithm is the right one.</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The theoretical step is wrong, in both directions</a:t>
            </a:r>
            <a:endParaRPr lang="en-US" sz="3000" dirty="0"/>
          </a:p>
        </p:txBody>
      </p:sp>
      <p:graphicFrame>
        <p:nvGraphicFramePr>
          <p:cNvPr id="3" name="Chart 0" descr=""/>
          <p:cNvGraphicFramePr/>
          <p:nvPr/>
        </p:nvGraphicFramePr>
        <p:xfrm>
          <a:off x="640080" y="1463040"/>
          <a:ext cx="6675120" cy="3840480"/>
        </p:xfrm>
        <a:graphic xmlns:a="http://schemas.openxmlformats.org/drawingml/2006/main">
          <a:graphicData uri="http://schemas.openxmlformats.org/drawingml/2006/chart">
            <c:chart xmlns:c="http://schemas.openxmlformats.org/drawingml/2006/chart" r:id="rId1"/>
          </a:graphicData>
        </a:graphic>
      </p:graphicFrame>
      <p:sp>
        <p:nvSpPr>
          <p:cNvPr id="4" name="step-note"/>
          <p:cNvSpPr/>
          <p:nvPr/>
        </p:nvSpPr>
        <p:spPr>
          <a:xfrm>
            <a:off x="7589520" y="1463040"/>
            <a:ext cx="3931920" cy="3840480"/>
          </a:xfrm>
          <a:prstGeom prst="roundRect">
            <a:avLst>
              <a:gd name="adj" fmla="val 1905"/>
            </a:avLst>
          </a:prstGeom>
          <a:solidFill>
            <a:srgbClr val="F2F5F9"/>
          </a:solidFill>
          <a:ln w="12700">
            <a:solidFill>
              <a:srgbClr val="E2E8F0"/>
            </a:solidFill>
            <a:prstDash val="solid"/>
          </a:ln>
        </p:spPr>
      </p:sp>
      <p:sp>
        <p:nvSpPr>
          <p:cNvPr id="5" name="Text 2"/>
          <p:cNvSpPr txBox="1"/>
          <p:nvPr/>
        </p:nvSpPr>
        <p:spPr>
          <a:xfrm>
            <a:off x="7909560" y="1691640"/>
            <a:ext cx="3291840" cy="411480"/>
          </a:xfrm>
          <a:prstGeom prst="rect">
            <a:avLst/>
          </a:prstGeom>
          <a:noFill/>
          <a:ln/>
        </p:spPr>
        <p:txBody>
          <a:bodyPr wrap="square" lIns="0" tIns="0" rIns="0" bIns="0" rtlCol="0" anchor="ctr"/>
          <a:lstStyle/>
          <a:p>
            <a:pPr indent="0" marL="0">
              <a:buNone/>
            </a:pPr>
            <a:r>
              <a:rPr lang="en-US" sz="1800" b="1" dirty="0">
                <a:solidFill>
                  <a:schemeClr val="accent1"/>
                </a:solidFill>
              </a:rPr>
              <a:t>OGD wants ×100</a:t>
            </a:r>
            <a:endParaRPr lang="en-US" sz="1800" dirty="0"/>
          </a:p>
        </p:txBody>
      </p:sp>
      <p:sp>
        <p:nvSpPr>
          <p:cNvPr id="6" name="Text 3"/>
          <p:cNvSpPr txBox="1"/>
          <p:nvPr/>
        </p:nvSpPr>
        <p:spPr>
          <a:xfrm>
            <a:off x="7909560" y="2148840"/>
            <a:ext cx="3291840" cy="914400"/>
          </a:xfrm>
          <a:prstGeom prst="rect">
            <a:avLst/>
          </a:prstGeom>
          <a:noFill/>
          <a:ln/>
        </p:spPr>
        <p:txBody>
          <a:bodyPr wrap="square" lIns="0" tIns="0" rIns="0" bIns="0" rtlCol="0" anchor="ctr"/>
          <a:lstStyle/>
          <a:p>
            <a:pPr indent="0" marL="0">
              <a:buNone/>
            </a:pPr>
            <a:r>
              <a:rPr lang="en-US" sz="1400" dirty="0">
                <a:solidFill>
                  <a:schemeClr val="tx1"/>
                </a:solidFill>
              </a:rPr>
              <a:t>A genuine interior optimum: a plateau from ×75 to ×110, clearly worse at ×200 and beyond.</a:t>
            </a:r>
            <a:endParaRPr lang="en-US" sz="1400" dirty="0"/>
          </a:p>
        </p:txBody>
      </p:sp>
      <p:sp>
        <p:nvSpPr>
          <p:cNvPr id="7" name="Text 4"/>
          <p:cNvSpPr txBox="1"/>
          <p:nvPr/>
        </p:nvSpPr>
        <p:spPr>
          <a:xfrm>
            <a:off x="7909560" y="3200400"/>
            <a:ext cx="3291840" cy="411480"/>
          </a:xfrm>
          <a:prstGeom prst="rect">
            <a:avLst/>
          </a:prstGeom>
          <a:noFill/>
          <a:ln/>
        </p:spPr>
        <p:txBody>
          <a:bodyPr wrap="square" lIns="0" tIns="0" rIns="0" bIns="0" rtlCol="0" anchor="ctr"/>
          <a:lstStyle/>
          <a:p>
            <a:pPr indent="0" marL="0">
              <a:buNone/>
            </a:pPr>
            <a:r>
              <a:rPr lang="en-US" sz="1600" b="1" dirty="0">
                <a:solidFill>
                  <a:schemeClr val="accent2"/>
                </a:solidFill>
              </a:rPr>
              <a:t>Hedge and FTRL want LESS</a:t>
            </a:r>
            <a:endParaRPr lang="en-US" sz="1600" dirty="0"/>
          </a:p>
        </p:txBody>
      </p:sp>
      <p:sp>
        <p:nvSpPr>
          <p:cNvPr id="8" name="Text 5"/>
          <p:cNvSpPr txBox="1"/>
          <p:nvPr/>
        </p:nvSpPr>
        <p:spPr>
          <a:xfrm>
            <a:off x="7909560" y="3639312"/>
            <a:ext cx="3291840" cy="1463040"/>
          </a:xfrm>
          <a:prstGeom prst="rect">
            <a:avLst/>
          </a:prstGeom>
          <a:noFill/>
          <a:ln/>
        </p:spPr>
        <p:txBody>
          <a:bodyPr wrap="square" lIns="0" tIns="0" rIns="0" bIns="0" rtlCol="0" anchor="ctr"/>
          <a:lstStyle/>
          <a:p>
            <a:pPr indent="0" marL="0">
              <a:buNone/>
            </a:pPr>
            <a:r>
              <a:rPr lang="en-US" sz="1400" dirty="0">
                <a:solidFill>
                  <a:schemeClr val="tx1"/>
                </a:solidFill>
              </a:rPr>
              <a:t>×0.25 and ×0.05. The worst-case bound assumes a loss of 13.8 that the data never produce; the largest observed is 3.76.</a:t>
            </a:r>
            <a:endParaRPr lang="en-US" sz="14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Where the mixture lands</a:t>
            </a:r>
            <a:endParaRPr lang="en-US" sz="3000" dirty="0"/>
          </a:p>
        </p:txBody>
      </p:sp>
      <p:graphicFrame>
        <p:nvGraphicFramePr>
          <p:cNvPr id="3" name="Chart 0" descr=""/>
          <p:cNvGraphicFramePr/>
          <p:nvPr/>
        </p:nvGraphicFramePr>
        <p:xfrm>
          <a:off x="640080" y="146304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4" name="rank-note"/>
          <p:cNvSpPr/>
          <p:nvPr/>
        </p:nvSpPr>
        <p:spPr>
          <a:xfrm>
            <a:off x="7863840" y="1463040"/>
            <a:ext cx="3657600" cy="4114800"/>
          </a:xfrm>
          <a:prstGeom prst="roundRect">
            <a:avLst>
              <a:gd name="adj" fmla="val 2000"/>
            </a:avLst>
          </a:prstGeom>
          <a:solidFill>
            <a:srgbClr val="F2F5F9"/>
          </a:solidFill>
          <a:ln w="12700">
            <a:solidFill>
              <a:srgbClr val="E2E8F0"/>
            </a:solidFill>
            <a:prstDash val="solid"/>
          </a:ln>
        </p:spPr>
      </p:sp>
      <p:sp>
        <p:nvSpPr>
          <p:cNvPr id="5" name="Text 2"/>
          <p:cNvSpPr txBox="1"/>
          <p:nvPr/>
        </p:nvSpPr>
        <p:spPr>
          <a:xfrm>
            <a:off x="8183880" y="1691640"/>
            <a:ext cx="3017520" cy="365760"/>
          </a:xfrm>
          <a:prstGeom prst="rect">
            <a:avLst/>
          </a:prstGeom>
          <a:noFill/>
          <a:ln/>
        </p:spPr>
        <p:txBody>
          <a:bodyPr wrap="square" lIns="0" tIns="0" rIns="0" bIns="0" rtlCol="0" anchor="ctr"/>
          <a:lstStyle/>
          <a:p>
            <a:pPr indent="0" marL="0">
              <a:buNone/>
            </a:pPr>
            <a:r>
              <a:rPr lang="en-US" sz="1800" b="1" dirty="0">
                <a:solidFill>
                  <a:schemeClr val="accent1"/>
                </a:solidFill>
              </a:rPr>
              <a:t>OGD is second</a:t>
            </a:r>
            <a:endParaRPr lang="en-US" sz="1800" dirty="0"/>
          </a:p>
        </p:txBody>
      </p:sp>
      <p:sp>
        <p:nvSpPr>
          <p:cNvPr id="6" name="Text 3"/>
          <p:cNvSpPr txBox="1"/>
          <p:nvPr/>
        </p:nvSpPr>
        <p:spPr>
          <a:xfrm>
            <a:off x="8183880" y="2148840"/>
            <a:ext cx="3017520" cy="3108960"/>
          </a:xfrm>
          <a:prstGeom prst="rect">
            <a:avLst/>
          </a:prstGeom>
          <a:noFill/>
          <a:ln/>
        </p:spPr>
        <p:txBody>
          <a:bodyPr wrap="square" rtlCol="0" anchor="ctr"/>
          <a:lstStyle/>
          <a:p>
            <a:pPr marL="342900" indent="-342900">
              <a:spcAft>
                <a:spcPts val="1000"/>
              </a:spcAft>
              <a:buSzPct val="100000"/>
              <a:buChar char="•"/>
            </a:pPr>
            <a:r>
              <a:rPr lang="en-US" sz="1350" dirty="0">
                <a:solidFill>
                  <a:schemeClr val="tx1"/>
                </a:solidFill>
              </a:rPr>
              <a:t>beats the uniform average by 0.00141 (p &lt; 0.001)</a:t>
            </a:r>
            <a:endParaRPr lang="en-US" sz="1350" dirty="0"/>
          </a:p>
          <a:p>
            <a:pPr marL="342900" indent="-342900">
              <a:spcAft>
                <a:spcPts val="1000"/>
              </a:spcAft>
              <a:buSzPct val="100000"/>
              <a:buChar char="•"/>
            </a:pPr>
            <a:r>
              <a:rPr lang="en-US" sz="1350" dirty="0">
                <a:solidFill>
                  <a:schemeClr val="tx1"/>
                </a:solidFill>
              </a:rPr>
              <a:t>ahead of every bookmaker but Pinnacle, including two closing prices</a:t>
            </a:r>
            <a:endParaRPr lang="en-US" sz="1350" dirty="0"/>
          </a:p>
          <a:p>
            <a:pPr marL="342900" indent="-342900">
              <a:spcAft>
                <a:spcPts val="1000"/>
              </a:spcAft>
              <a:buSzPct val="100000"/>
              <a:buChar char="•"/>
            </a:pPr>
            <a:r>
              <a:rPr lang="en-US" sz="1350" dirty="0">
                <a:solidFill>
                  <a:schemeClr val="tx1"/>
                </a:solidFill>
              </a:rPr>
              <a:t>PSC stays ahead by 0.00043</a:t>
            </a:r>
            <a:endParaRPr lang="en-US" sz="1350" dirty="0"/>
          </a:p>
          <a:p>
            <a:pPr marL="342900" indent="-342900">
              <a:spcAft>
                <a:spcPts val="1000"/>
              </a:spcAft>
              <a:buSzPct val="100000"/>
              <a:buChar char="•"/>
            </a:pPr>
            <a:r>
              <a:rPr lang="en-US" sz="1350" dirty="0">
                <a:solidFill>
                  <a:schemeClr val="tx1"/>
                </a:solidFill>
              </a:rPr>
              <a:t>calibration helps all four methods</a:t>
            </a:r>
            <a:endParaRPr lang="en-US" sz="1350" dirty="0"/>
          </a:p>
        </p:txBody>
      </p:sp>
      <p:sp>
        <p:nvSpPr>
          <p:cNvPr id="7" name="Text 4"/>
          <p:cNvSpPr txBox="1"/>
          <p:nvPr/>
        </p:nvSpPr>
        <p:spPr>
          <a:xfrm>
            <a:off x="640080" y="5715000"/>
            <a:ext cx="6949440" cy="320040"/>
          </a:xfrm>
          <a:prstGeom prst="rect">
            <a:avLst/>
          </a:prstGeom>
          <a:noFill/>
          <a:ln/>
        </p:spPr>
        <p:txBody>
          <a:bodyPr wrap="square" rtlCol="0" anchor="ctr"/>
          <a:lstStyle/>
          <a:p>
            <a:pPr indent="0" marL="0">
              <a:buNone/>
            </a:pPr>
            <a:r>
              <a:rPr lang="en-US" sz="1200" i="1" dirty="0">
                <a:solidFill>
                  <a:schemeClr val="accent5"/>
                </a:solidFill>
              </a:rPr>
              <a:t>lower is better · blue = algorithm · red = bookmaker · bars full-sample, tests paired on common rounds</a:t>
            </a:r>
            <a:endParaRPr lang="en-US" sz="12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Learning pays only where the experts differ</a:t>
            </a:r>
            <a:endParaRPr lang="en-US" sz="3000" dirty="0"/>
          </a:p>
        </p:txBody>
      </p:sp>
      <p:graphicFrame>
        <p:nvGraphicFramePr>
          <p:cNvPr id="3" name="Chart 0" descr=""/>
          <p:cNvGraphicFramePr/>
          <p:nvPr/>
        </p:nvGraphicFramePr>
        <p:xfrm>
          <a:off x="640080" y="1554480"/>
          <a:ext cx="6766560" cy="3657600"/>
        </p:xfrm>
        <a:graphic xmlns:a="http://schemas.openxmlformats.org/drawingml/2006/main">
          <a:graphicData uri="http://schemas.openxmlformats.org/drawingml/2006/chart">
            <c:chart xmlns:c="http://schemas.openxmlformats.org/drawingml/2006/chart" r:id="rId1"/>
          </a:graphicData>
        </a:graphic>
      </p:graphicFrame>
      <p:sp>
        <p:nvSpPr>
          <p:cNvPr id="4" name="panel-note"/>
          <p:cNvSpPr/>
          <p:nvPr/>
        </p:nvSpPr>
        <p:spPr>
          <a:xfrm>
            <a:off x="7680960" y="1554480"/>
            <a:ext cx="3840480" cy="3657600"/>
          </a:xfrm>
          <a:prstGeom prst="roundRect">
            <a:avLst>
              <a:gd name="adj" fmla="val 2000"/>
            </a:avLst>
          </a:prstGeom>
          <a:solidFill>
            <a:srgbClr val="FBF0F0"/>
          </a:solidFill>
          <a:ln w="12700">
            <a:solidFill>
              <a:srgbClr val="E2E8F0"/>
            </a:solidFill>
            <a:prstDash val="solid"/>
          </a:ln>
        </p:spPr>
      </p:sp>
      <p:sp>
        <p:nvSpPr>
          <p:cNvPr id="5" name="Text 2"/>
          <p:cNvSpPr txBox="1"/>
          <p:nvPr/>
        </p:nvSpPr>
        <p:spPr>
          <a:xfrm>
            <a:off x="8001000" y="1783080"/>
            <a:ext cx="3200400" cy="365760"/>
          </a:xfrm>
          <a:prstGeom prst="rect">
            <a:avLst/>
          </a:prstGeom>
          <a:noFill/>
          <a:ln/>
        </p:spPr>
        <p:txBody>
          <a:bodyPr wrap="square" lIns="0" tIns="0" rIns="0" bIns="0" rtlCol="0" anchor="ctr"/>
          <a:lstStyle/>
          <a:p>
            <a:pPr indent="0" marL="0">
              <a:buNone/>
            </a:pPr>
            <a:r>
              <a:rPr lang="en-US" sz="1800" b="1" dirty="0">
                <a:solidFill>
                  <a:schemeClr val="accent2"/>
                </a:solidFill>
              </a:rPr>
              <a:t>The reversal</a:t>
            </a:r>
            <a:endParaRPr lang="en-US" sz="1800" dirty="0"/>
          </a:p>
        </p:txBody>
      </p:sp>
      <p:sp>
        <p:nvSpPr>
          <p:cNvPr id="6" name="Text 3"/>
          <p:cNvSpPr txBox="1"/>
          <p:nvPr/>
        </p:nvSpPr>
        <p:spPr>
          <a:xfrm>
            <a:off x="8001000" y="2194560"/>
            <a:ext cx="3200400" cy="1828800"/>
          </a:xfrm>
          <a:prstGeom prst="rect">
            <a:avLst/>
          </a:prstGeom>
          <a:noFill/>
          <a:ln/>
        </p:spPr>
        <p:txBody>
          <a:bodyPr wrap="square" lIns="0" tIns="0" rIns="0" bIns="0" rtlCol="0" anchor="ctr"/>
          <a:lstStyle/>
          <a:p>
            <a:pPr indent="0" marL="0">
              <a:buNone/>
            </a:pPr>
            <a:r>
              <a:rPr lang="en-US" sz="1400" dirty="0">
                <a:solidFill>
                  <a:schemeClr val="tx1"/>
                </a:solidFill>
              </a:rPr>
              <a:t>On the FULL panel all three algorithms beat the plain average significantly.</a:t>
            </a:r>
            <a:endParaRPr lang="en-US" sz="1400" dirty="0"/>
          </a:p>
          <a:p>
            <a:pPr indent="0" marL="0">
              <a:buNone/>
            </a:pPr>
            <a:endParaRPr lang="en-US" sz="1400" dirty="0"/>
          </a:p>
          <a:p>
            <a:pPr indent="0" marL="0">
              <a:buNone/>
            </a:pPr>
            <a:r>
              <a:rPr lang="en-US" sz="1400" dirty="0">
                <a:solidFill>
                  <a:schemeClr val="tx1"/>
                </a:solidFill>
              </a:rPr>
              <a:t>On a HOMOGENEOUS panel, Hedge and FTRL LOSE to it, in 8 tests out of 8.</a:t>
            </a:r>
            <a:endParaRPr lang="en-US" sz="1400" dirty="0"/>
          </a:p>
        </p:txBody>
      </p:sp>
      <p:sp>
        <p:nvSpPr>
          <p:cNvPr id="7" name="Text 4"/>
          <p:cNvSpPr txBox="1"/>
          <p:nvPr/>
        </p:nvSpPr>
        <p:spPr>
          <a:xfrm>
            <a:off x="8001000" y="4114800"/>
            <a:ext cx="3200400" cy="1005840"/>
          </a:xfrm>
          <a:prstGeom prst="rect">
            <a:avLst/>
          </a:prstGeom>
          <a:noFill/>
          <a:ln/>
        </p:spPr>
        <p:txBody>
          <a:bodyPr wrap="square" lIns="0" tIns="0" rIns="0" bIns="0" rtlCol="0" anchor="ctr"/>
          <a:lstStyle/>
          <a:p>
            <a:pPr indent="0" marL="0">
              <a:buNone/>
            </a:pPr>
            <a:r>
              <a:rPr lang="en-US" sz="1350" i="1" dirty="0">
                <a:solidFill>
                  <a:schemeClr val="accent5"/>
                </a:solidFill>
              </a:rPr>
              <a:t>Remove the quality spread and adaptation is pure cost.</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A prediction from theory, tested</a:t>
            </a:r>
            <a:endParaRPr lang="en-US" sz="3000" dirty="0"/>
          </a:p>
        </p:txBody>
      </p:sp>
      <p:graphicFrame>
        <p:nvGraphicFramePr>
          <p:cNvPr id="3" name="Chart 0" descr=""/>
          <p:cNvGraphicFramePr/>
          <p:nvPr/>
        </p:nvGraphicFramePr>
        <p:xfrm>
          <a:off x="640080" y="1554480"/>
          <a:ext cx="6675120" cy="3749040"/>
        </p:xfrm>
        <a:graphic xmlns:a="http://schemas.openxmlformats.org/drawingml/2006/main">
          <a:graphicData uri="http://schemas.openxmlformats.org/drawingml/2006/chart">
            <c:chart xmlns:c="http://schemas.openxmlformats.org/drawingml/2006/chart" r:id="rId1"/>
          </a:graphicData>
        </a:graphic>
      </p:graphicFrame>
      <p:sp>
        <p:nvSpPr>
          <p:cNvPr id="4" name="arr-note"/>
          <p:cNvSpPr/>
          <p:nvPr/>
        </p:nvSpPr>
        <p:spPr>
          <a:xfrm>
            <a:off x="7589520" y="1554480"/>
            <a:ext cx="3931920" cy="3749040"/>
          </a:xfrm>
          <a:prstGeom prst="roundRect">
            <a:avLst>
              <a:gd name="adj" fmla="val 1951"/>
            </a:avLst>
          </a:prstGeom>
          <a:solidFill>
            <a:srgbClr val="F2F5F9"/>
          </a:solidFill>
          <a:ln w="12700">
            <a:solidFill>
              <a:srgbClr val="E2E8F0"/>
            </a:solidFill>
            <a:prstDash val="solid"/>
          </a:ln>
        </p:spPr>
      </p:sp>
      <p:sp>
        <p:nvSpPr>
          <p:cNvPr id="5" name="Text 2"/>
          <p:cNvSpPr txBox="1"/>
          <p:nvPr/>
        </p:nvSpPr>
        <p:spPr>
          <a:xfrm>
            <a:off x="7909560" y="1783080"/>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A 26-fold gradient</a:t>
            </a:r>
            <a:endParaRPr lang="en-US" sz="1800" dirty="0"/>
          </a:p>
        </p:txBody>
      </p:sp>
      <p:sp>
        <p:nvSpPr>
          <p:cNvPr id="6" name="Text 3"/>
          <p:cNvSpPr txBox="1"/>
          <p:nvPr/>
        </p:nvSpPr>
        <p:spPr>
          <a:xfrm>
            <a:off x="7909560" y="2194560"/>
            <a:ext cx="3291840" cy="1371600"/>
          </a:xfrm>
          <a:prstGeom prst="rect">
            <a:avLst/>
          </a:prstGeom>
          <a:noFill/>
          <a:ln/>
        </p:spPr>
        <p:txBody>
          <a:bodyPr wrap="square" lIns="0" tIns="0" rIns="0" bIns="0" rtlCol="0" anchor="ctr"/>
          <a:lstStyle/>
          <a:p>
            <a:pPr indent="0" marL="0">
              <a:buNone/>
            </a:pPr>
            <a:r>
              <a:rPr lang="en-US" sz="1400" dirty="0">
                <a:solidFill>
                  <a:schemeClr val="tx1"/>
                </a:solidFill>
              </a:rPr>
              <a:t>Microstructure predicts the closing advantage should concentrate where the line moved. It does: 0.00044 in the quiet fifth, 0.01158 in the noisy one.</a:t>
            </a:r>
            <a:endParaRPr lang="en-US" sz="1400" dirty="0"/>
          </a:p>
        </p:txBody>
      </p:sp>
      <p:sp>
        <p:nvSpPr>
          <p:cNvPr id="7" name="Text 4"/>
          <p:cNvSpPr txBox="1"/>
          <p:nvPr/>
        </p:nvSpPr>
        <p:spPr>
          <a:xfrm>
            <a:off x="7909560" y="3611880"/>
            <a:ext cx="3291840" cy="548640"/>
          </a:xfrm>
          <a:prstGeom prst="rect">
            <a:avLst/>
          </a:prstGeom>
          <a:noFill/>
          <a:ln/>
        </p:spPr>
        <p:txBody>
          <a:bodyPr wrap="square" lIns="0" tIns="0" rIns="0" bIns="0" rtlCol="0" anchor="ctr"/>
          <a:lstStyle/>
          <a:p>
            <a:pPr indent="0" marL="0">
              <a:buNone/>
            </a:pPr>
            <a:r>
              <a:rPr lang="en-US" sz="1400" b="1" dirty="0">
                <a:solidFill>
                  <a:schemeClr val="accent2"/>
                </a:solidFill>
              </a:rPr>
              <a:t>In Q1 it is not even significant (p = 0.052).</a:t>
            </a:r>
            <a:endParaRPr lang="en-US" sz="1400" dirty="0"/>
          </a:p>
        </p:txBody>
      </p:sp>
      <p:sp>
        <p:nvSpPr>
          <p:cNvPr id="8" name="Text 5"/>
          <p:cNvSpPr txBox="1"/>
          <p:nvPr/>
        </p:nvSpPr>
        <p:spPr>
          <a:xfrm>
            <a:off x="7909560" y="4206240"/>
            <a:ext cx="3291840" cy="1005840"/>
          </a:xfrm>
          <a:prstGeom prst="rect">
            <a:avLst/>
          </a:prstGeom>
          <a:noFill/>
          <a:ln/>
        </p:spPr>
        <p:txBody>
          <a:bodyPr wrap="square" lIns="0" tIns="0" rIns="0" bIns="0" rtlCol="0" anchor="ctr"/>
          <a:lstStyle/>
          <a:p>
            <a:pPr indent="0" marL="0">
              <a:buNone/>
            </a:pPr>
            <a:r>
              <a:rPr lang="en-US" sz="1350" i="1" dirty="0">
                <a:solidFill>
                  <a:schemeClr val="accent5"/>
                </a:solidFill>
              </a:rPr>
              <a:t>"Closing prices are better" is not a property of final prices. It is a property of the top quintile.</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Deployment test: a real date cut</a:t>
            </a:r>
            <a:endParaRPr lang="en-US" sz="3000" dirty="0"/>
          </a:p>
        </p:txBody>
      </p:sp>
      <p:sp>
        <p:nvSpPr>
          <p:cNvPr id="3" name="Text 1"/>
          <p:cNvSpPr txBox="1"/>
          <p:nvPr/>
        </p:nvSpPr>
        <p:spPr>
          <a:xfrm>
            <a:off x="640080" y="1325880"/>
            <a:ext cx="7315200" cy="365760"/>
          </a:xfrm>
          <a:prstGeom prst="rect">
            <a:avLst/>
          </a:prstGeom>
          <a:noFill/>
          <a:ln/>
        </p:spPr>
        <p:txBody>
          <a:bodyPr wrap="square" rtlCol="0" anchor="ctr"/>
          <a:lstStyle/>
          <a:p>
            <a:pPr indent="0" marL="0">
              <a:buNone/>
            </a:pPr>
            <a:r>
              <a:rPr lang="en-US" sz="1600" dirty="0">
                <a:solidFill>
                  <a:schemeClr val="tx1"/>
                </a:solidFill>
              </a:rPr>
              <a:t>Fitted through 31/12/2024, measured on 11,574 rounds of 2025-26.</a:t>
            </a:r>
            <a:endParaRPr lang="en-US" sz="1600" dirty="0"/>
          </a:p>
        </p:txBody>
      </p:sp>
      <p:sp>
        <p:nvSpPr>
          <p:cNvPr id="4" name="dep-0"/>
          <p:cNvSpPr/>
          <p:nvPr/>
        </p:nvSpPr>
        <p:spPr>
          <a:xfrm>
            <a:off x="640080" y="1828800"/>
            <a:ext cx="10881360" cy="1234440"/>
          </a:xfrm>
          <a:prstGeom prst="roundRect">
            <a:avLst>
              <a:gd name="adj" fmla="val 5926"/>
            </a:avLst>
          </a:prstGeom>
          <a:solidFill>
            <a:srgbClr val="F2F5F9"/>
          </a:solidFill>
          <a:ln w="12700">
            <a:solidFill>
              <a:srgbClr val="E2E8F0"/>
            </a:solidFill>
            <a:prstDash val="solid"/>
          </a:ln>
        </p:spPr>
      </p:sp>
      <p:sp>
        <p:nvSpPr>
          <p:cNvPr id="5" name="Text 3"/>
          <p:cNvSpPr txBox="1"/>
          <p:nvPr/>
        </p:nvSpPr>
        <p:spPr>
          <a:xfrm>
            <a:off x="960120" y="1993392"/>
            <a:ext cx="4206240" cy="411480"/>
          </a:xfrm>
          <a:prstGeom prst="rect">
            <a:avLst/>
          </a:prstGeom>
          <a:noFill/>
          <a:ln/>
        </p:spPr>
        <p:txBody>
          <a:bodyPr wrap="square" lIns="0" tIns="0" rIns="0" bIns="0" rtlCol="0" anchor="ctr"/>
          <a:lstStyle/>
          <a:p>
            <a:pPr indent="0" marL="0">
              <a:buNone/>
            </a:pPr>
            <a:r>
              <a:rPr lang="en-US" sz="1700" b="1" dirty="0">
                <a:solidFill>
                  <a:schemeClr val="tx2"/>
                </a:solidFill>
              </a:rPr>
              <a:t>Every opening price</a:t>
            </a:r>
            <a:endParaRPr lang="en-US" sz="1700" dirty="0"/>
          </a:p>
        </p:txBody>
      </p:sp>
      <p:sp>
        <p:nvSpPr>
          <p:cNvPr id="6" name="Text 4"/>
          <p:cNvSpPr txBox="1"/>
          <p:nvPr/>
        </p:nvSpPr>
        <p:spPr>
          <a:xfrm>
            <a:off x="5303520" y="1993392"/>
            <a:ext cx="3108960" cy="411480"/>
          </a:xfrm>
          <a:prstGeom prst="rect">
            <a:avLst/>
          </a:prstGeom>
          <a:noFill/>
          <a:ln/>
        </p:spPr>
        <p:txBody>
          <a:bodyPr wrap="square" lIns="0" tIns="0" rIns="0" bIns="0" rtlCol="0" anchor="ctr"/>
          <a:lstStyle/>
          <a:p>
            <a:pPr indent="0" marL="0">
              <a:buNone/>
            </a:pPr>
            <a:r>
              <a:rPr lang="en-US" sz="1700" b="1" dirty="0">
                <a:solidFill>
                  <a:schemeClr val="accent3"/>
                </a:solidFill>
              </a:rPr>
              <a:t>beaten significantly</a:t>
            </a:r>
            <a:endParaRPr lang="en-US" sz="1700" dirty="0"/>
          </a:p>
        </p:txBody>
      </p:sp>
      <p:sp>
        <p:nvSpPr>
          <p:cNvPr id="7" name="Text 5"/>
          <p:cNvSpPr txBox="1"/>
          <p:nvPr/>
        </p:nvSpPr>
        <p:spPr>
          <a:xfrm>
            <a:off x="960120" y="2487168"/>
            <a:ext cx="10241280" cy="457200"/>
          </a:xfrm>
          <a:prstGeom prst="rect">
            <a:avLst/>
          </a:prstGeom>
          <a:noFill/>
          <a:ln/>
        </p:spPr>
        <p:txBody>
          <a:bodyPr wrap="square" lIns="0" tIns="0" rIns="0" bIns="0" rtlCol="0" anchor="ctr"/>
          <a:lstStyle/>
          <a:p>
            <a:pPr indent="0" marL="0">
              <a:buNone/>
            </a:pPr>
            <a:r>
              <a:rPr lang="en-US" sz="1350" dirty="0">
                <a:solidFill>
                  <a:schemeClr val="accent5"/>
                </a:solidFill>
              </a:rPr>
              <a:t>−0.0019 to −0.0065, all p ≤ 0.019</a:t>
            </a:r>
            <a:endParaRPr lang="en-US" sz="1350" dirty="0"/>
          </a:p>
        </p:txBody>
      </p:sp>
      <p:sp>
        <p:nvSpPr>
          <p:cNvPr id="8" name="dep-1"/>
          <p:cNvSpPr/>
          <p:nvPr/>
        </p:nvSpPr>
        <p:spPr>
          <a:xfrm>
            <a:off x="640080" y="3246120"/>
            <a:ext cx="10881360" cy="1234440"/>
          </a:xfrm>
          <a:prstGeom prst="roundRect">
            <a:avLst>
              <a:gd name="adj" fmla="val 5926"/>
            </a:avLst>
          </a:prstGeom>
          <a:solidFill>
            <a:srgbClr val="F2F5F9"/>
          </a:solidFill>
          <a:ln w="12700">
            <a:solidFill>
              <a:srgbClr val="E2E8F0"/>
            </a:solidFill>
            <a:prstDash val="solid"/>
          </a:ln>
        </p:spPr>
      </p:sp>
      <p:sp>
        <p:nvSpPr>
          <p:cNvPr id="9" name="Text 7"/>
          <p:cNvSpPr txBox="1"/>
          <p:nvPr/>
        </p:nvSpPr>
        <p:spPr>
          <a:xfrm>
            <a:off x="960120" y="3410712"/>
            <a:ext cx="4206240" cy="411480"/>
          </a:xfrm>
          <a:prstGeom prst="rect">
            <a:avLst/>
          </a:prstGeom>
          <a:noFill/>
          <a:ln/>
        </p:spPr>
        <p:txBody>
          <a:bodyPr wrap="square" lIns="0" tIns="0" rIns="0" bIns="0" rtlCol="0" anchor="ctr"/>
          <a:lstStyle/>
          <a:p>
            <a:pPr indent="0" marL="0">
              <a:buNone/>
            </a:pPr>
            <a:r>
              <a:rPr lang="en-US" sz="1700" b="1" dirty="0">
                <a:solidFill>
                  <a:schemeClr val="tx2"/>
                </a:solidFill>
              </a:rPr>
              <a:t>The bookmakers' closing prices</a:t>
            </a:r>
            <a:endParaRPr lang="en-US" sz="1700" dirty="0"/>
          </a:p>
        </p:txBody>
      </p:sp>
      <p:sp>
        <p:nvSpPr>
          <p:cNvPr id="10" name="Text 8"/>
          <p:cNvSpPr txBox="1"/>
          <p:nvPr/>
        </p:nvSpPr>
        <p:spPr>
          <a:xfrm>
            <a:off x="5303520" y="3410712"/>
            <a:ext cx="3108960" cy="411480"/>
          </a:xfrm>
          <a:prstGeom prst="rect">
            <a:avLst/>
          </a:prstGeom>
          <a:noFill/>
          <a:ln/>
        </p:spPr>
        <p:txBody>
          <a:bodyPr wrap="square" lIns="0" tIns="0" rIns="0" bIns="0" rtlCol="0" anchor="ctr"/>
          <a:lstStyle/>
          <a:p>
            <a:pPr indent="0" marL="0">
              <a:buNone/>
            </a:pPr>
            <a:r>
              <a:rPr lang="en-US" sz="1700" b="1" dirty="0">
                <a:solidFill>
                  <a:schemeClr val="accent5"/>
                </a:solidFill>
              </a:rPr>
              <a:t>drawn level</a:t>
            </a:r>
            <a:endParaRPr lang="en-US" sz="1700" dirty="0"/>
          </a:p>
        </p:txBody>
      </p:sp>
      <p:sp>
        <p:nvSpPr>
          <p:cNvPr id="11" name="Text 9"/>
          <p:cNvSpPr txBox="1"/>
          <p:nvPr/>
        </p:nvSpPr>
        <p:spPr>
          <a:xfrm>
            <a:off x="960120" y="3904488"/>
            <a:ext cx="10241280" cy="457200"/>
          </a:xfrm>
          <a:prstGeom prst="rect">
            <a:avLst/>
          </a:prstGeom>
          <a:noFill/>
          <a:ln/>
        </p:spPr>
        <p:txBody>
          <a:bodyPr wrap="square" lIns="0" tIns="0" rIns="0" bIns="0" rtlCol="0" anchor="ctr"/>
          <a:lstStyle/>
          <a:p>
            <a:pPr indent="0" marL="0">
              <a:buNone/>
            </a:pPr>
            <a:r>
              <a:rPr lang="en-US" sz="1350" dirty="0">
                <a:solidFill>
                  <a:schemeClr val="accent5"/>
                </a:solidFill>
              </a:rPr>
              <a:t>B365C p=0.193 · BWC p=0.361 · BFEC p=0.052</a:t>
            </a:r>
            <a:endParaRPr lang="en-US" sz="1350" dirty="0"/>
          </a:p>
        </p:txBody>
      </p:sp>
      <p:sp>
        <p:nvSpPr>
          <p:cNvPr id="12" name="dep-2"/>
          <p:cNvSpPr/>
          <p:nvPr/>
        </p:nvSpPr>
        <p:spPr>
          <a:xfrm>
            <a:off x="640080" y="4663440"/>
            <a:ext cx="10881360" cy="1234440"/>
          </a:xfrm>
          <a:prstGeom prst="roundRect">
            <a:avLst>
              <a:gd name="adj" fmla="val 5926"/>
            </a:avLst>
          </a:prstGeom>
          <a:solidFill>
            <a:srgbClr val="FBF0F0"/>
          </a:solidFill>
          <a:ln w="12700">
            <a:solidFill>
              <a:srgbClr val="E2E8F0"/>
            </a:solidFill>
            <a:prstDash val="solid"/>
          </a:ln>
        </p:spPr>
      </p:sp>
      <p:sp>
        <p:nvSpPr>
          <p:cNvPr id="13" name="Text 11"/>
          <p:cNvSpPr txBox="1"/>
          <p:nvPr/>
        </p:nvSpPr>
        <p:spPr>
          <a:xfrm>
            <a:off x="960120" y="4828032"/>
            <a:ext cx="4206240" cy="411480"/>
          </a:xfrm>
          <a:prstGeom prst="rect">
            <a:avLst/>
          </a:prstGeom>
          <a:noFill/>
          <a:ln/>
        </p:spPr>
        <p:txBody>
          <a:bodyPr wrap="square" lIns="0" tIns="0" rIns="0" bIns="0" rtlCol="0" anchor="ctr"/>
          <a:lstStyle/>
          <a:p>
            <a:pPr indent="0" marL="0">
              <a:buNone/>
            </a:pPr>
            <a:r>
              <a:rPr lang="en-US" sz="1700" b="1" dirty="0">
                <a:solidFill>
                  <a:schemeClr val="tx2"/>
                </a:solidFill>
              </a:rPr>
              <a:t>Betfair Exchange</a:t>
            </a:r>
            <a:endParaRPr lang="en-US" sz="1700" dirty="0"/>
          </a:p>
        </p:txBody>
      </p:sp>
      <p:sp>
        <p:nvSpPr>
          <p:cNvPr id="14" name="Text 12"/>
          <p:cNvSpPr txBox="1"/>
          <p:nvPr/>
        </p:nvSpPr>
        <p:spPr>
          <a:xfrm>
            <a:off x="5303520" y="4828032"/>
            <a:ext cx="3108960" cy="411480"/>
          </a:xfrm>
          <a:prstGeom prst="rect">
            <a:avLst/>
          </a:prstGeom>
          <a:noFill/>
          <a:ln/>
        </p:spPr>
        <p:txBody>
          <a:bodyPr wrap="square" lIns="0" tIns="0" rIns="0" bIns="0" rtlCol="0" anchor="ctr"/>
          <a:lstStyle/>
          <a:p>
            <a:pPr indent="0" marL="0">
              <a:buNone/>
            </a:pPr>
            <a:r>
              <a:rPr lang="en-US" sz="1700" b="1" dirty="0">
                <a:solidFill>
                  <a:schemeClr val="accent2"/>
                </a:solidFill>
              </a:rPr>
              <a:t>beats us significantly</a:t>
            </a:r>
            <a:endParaRPr lang="en-US" sz="1700" dirty="0"/>
          </a:p>
        </p:txBody>
      </p:sp>
      <p:sp>
        <p:nvSpPr>
          <p:cNvPr id="15" name="Text 13"/>
          <p:cNvSpPr txBox="1"/>
          <p:nvPr/>
        </p:nvSpPr>
        <p:spPr>
          <a:xfrm>
            <a:off x="960120" y="5321808"/>
            <a:ext cx="10241280" cy="457200"/>
          </a:xfrm>
          <a:prstGeom prst="rect">
            <a:avLst/>
          </a:prstGeom>
          <a:noFill/>
          <a:ln/>
        </p:spPr>
        <p:txBody>
          <a:bodyPr wrap="square" lIns="0" tIns="0" rIns="0" bIns="0" rtlCol="0" anchor="ctr"/>
          <a:lstStyle/>
          <a:p>
            <a:pPr indent="0" marL="0">
              <a:buNone/>
            </a:pPr>
            <a:r>
              <a:rPr lang="en-US" sz="1350" dirty="0">
                <a:solidFill>
                  <a:schemeClr val="accent5"/>
                </a:solidFill>
              </a:rPr>
              <a:t>an exchange, not a bookmaker: a market price with no operator margin</a:t>
            </a:r>
            <a:endParaRPr lang="en-US" sz="1350" dirty="0"/>
          </a:p>
        </p:txBody>
      </p:sp>
      <p:sp>
        <p:nvSpPr>
          <p:cNvPr id="16" name="Text 14"/>
          <p:cNvSpPr txBox="1"/>
          <p:nvPr/>
        </p:nvSpPr>
        <p:spPr>
          <a:xfrm>
            <a:off x="640080" y="6035040"/>
            <a:ext cx="10881360" cy="548640"/>
          </a:xfrm>
          <a:prstGeom prst="rect">
            <a:avLst/>
          </a:prstGeom>
          <a:noFill/>
          <a:ln/>
        </p:spPr>
        <p:txBody>
          <a:bodyPr wrap="square" rtlCol="0" anchor="ctr"/>
          <a:lstStyle/>
          <a:p>
            <a:pPr indent="0" marL="0">
              <a:buNone/>
            </a:pPr>
            <a:r>
              <a:rPr lang="en-US" sz="1500" b="1" dirty="0">
                <a:solidFill>
                  <a:schemeClr val="tx2"/>
                </a:solidFill>
              </a:rPr>
              <a:t>The honest statement: we REACH the leading edge of the bookmaker market. The market without an intermediary is still ahead.</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Better prediction does not mean profit</a:t>
            </a:r>
            <a:endParaRPr lang="en-US" sz="3000" dirty="0"/>
          </a:p>
        </p:txBody>
      </p:sp>
      <p:graphicFrame>
        <p:nvGraphicFramePr>
          <p:cNvPr id="3" name="Chart 0" descr=""/>
          <p:cNvGraphicFramePr/>
          <p:nvPr/>
        </p:nvGraphicFramePr>
        <p:xfrm>
          <a:off x="640080" y="1554480"/>
          <a:ext cx="6675120" cy="3749040"/>
        </p:xfrm>
        <a:graphic xmlns:a="http://schemas.openxmlformats.org/drawingml/2006/main">
          <a:graphicData uri="http://schemas.openxmlformats.org/drawingml/2006/chart">
            <c:chart xmlns:c="http://schemas.openxmlformats.org/drawingml/2006/chart" r:id="rId1"/>
          </a:graphicData>
        </a:graphic>
      </p:graphicFrame>
      <p:sp>
        <p:nvSpPr>
          <p:cNvPr id="4" name="vb-note"/>
          <p:cNvSpPr/>
          <p:nvPr/>
        </p:nvSpPr>
        <p:spPr>
          <a:xfrm>
            <a:off x="7589520" y="1554480"/>
            <a:ext cx="3931920" cy="3749040"/>
          </a:xfrm>
          <a:prstGeom prst="roundRect">
            <a:avLst>
              <a:gd name="adj" fmla="val 1951"/>
            </a:avLst>
          </a:prstGeom>
          <a:solidFill>
            <a:srgbClr val="F2F5F9"/>
          </a:solidFill>
          <a:ln w="12700">
            <a:solidFill>
              <a:srgbClr val="E2E8F0"/>
            </a:solidFill>
            <a:prstDash val="solid"/>
          </a:ln>
        </p:spPr>
      </p:sp>
      <p:sp>
        <p:nvSpPr>
          <p:cNvPr id="5" name="Text 2"/>
          <p:cNvSpPr txBox="1"/>
          <p:nvPr/>
        </p:nvSpPr>
        <p:spPr>
          <a:xfrm>
            <a:off x="7909560" y="1783080"/>
            <a:ext cx="3291840" cy="365760"/>
          </a:xfrm>
          <a:prstGeom prst="rect">
            <a:avLst/>
          </a:prstGeom>
          <a:noFill/>
          <a:ln/>
        </p:spPr>
        <p:txBody>
          <a:bodyPr wrap="square" lIns="0" tIns="0" rIns="0" bIns="0" rtlCol="0" anchor="ctr"/>
          <a:lstStyle/>
          <a:p>
            <a:pPr indent="0" marL="0">
              <a:buNone/>
            </a:pPr>
            <a:r>
              <a:rPr lang="en-US" sz="1800" b="1" dirty="0">
                <a:solidFill>
                  <a:schemeClr val="tx2"/>
                </a:solidFill>
              </a:rPr>
              <a:t>Two profits, one loss</a:t>
            </a:r>
            <a:endParaRPr lang="en-US" sz="1800" dirty="0"/>
          </a:p>
        </p:txBody>
      </p:sp>
      <p:sp>
        <p:nvSpPr>
          <p:cNvPr id="6" name="Text 3"/>
          <p:cNvSpPr txBox="1"/>
          <p:nvPr/>
        </p:nvSpPr>
        <p:spPr>
          <a:xfrm>
            <a:off x="7909560" y="2194560"/>
            <a:ext cx="3291840" cy="1828800"/>
          </a:xfrm>
          <a:prstGeom prst="rect">
            <a:avLst/>
          </a:prstGeom>
          <a:noFill/>
          <a:ln/>
        </p:spPr>
        <p:txBody>
          <a:bodyPr wrap="square" lIns="0" tIns="0" rIns="0" bIns="0" rtlCol="0" anchor="ctr"/>
          <a:lstStyle/>
          <a:p>
            <a:pPr indent="0" marL="0">
              <a:buNone/>
            </a:pPr>
            <a:r>
              <a:rPr lang="en-US" sz="1350" dirty="0">
                <a:solidFill>
                  <a:schemeClr val="tx1"/>
                </a:solidFill>
              </a:rPr>
              <a:t>Significant gains against WHC (p&lt;0.001) and IW (p=0.008), both recreational-facing houses. A significant LOSS against PSC, the best forecaster in the panel, i.e. exactly the opponent an inferior model should lose to.</a:t>
            </a:r>
            <a:endParaRPr lang="en-US" sz="1350" dirty="0"/>
          </a:p>
        </p:txBody>
      </p:sp>
      <p:sp>
        <p:nvSpPr>
          <p:cNvPr id="7" name="Text 4"/>
          <p:cNvSpPr txBox="1"/>
          <p:nvPr/>
        </p:nvSpPr>
        <p:spPr>
          <a:xfrm>
            <a:off x="7909560" y="4114800"/>
            <a:ext cx="3291840" cy="1005840"/>
          </a:xfrm>
          <a:prstGeom prst="rect">
            <a:avLst/>
          </a:prstGeom>
          <a:noFill/>
          <a:ln/>
        </p:spPr>
        <p:txBody>
          <a:bodyPr wrap="square" lIns="0" tIns="0" rIns="0" bIns="0" rtlCol="0" anchor="ctr"/>
          <a:lstStyle/>
          <a:p>
            <a:pPr indent="0" marL="0">
              <a:buNone/>
            </a:pPr>
            <a:r>
              <a:rPr lang="en-US" sz="1350" i="1" dirty="0">
                <a:solidFill>
                  <a:schemeClr val="accent5"/>
                </a:solidFill>
              </a:rPr>
              <a:t>The quality gained is smaller than the margin charged.</a:t>
            </a:r>
            <a:endParaRPr lang="en-US" sz="1350" dirty="0"/>
          </a:p>
        </p:txBody>
      </p:sp>
      <p:sp>
        <p:nvSpPr>
          <p:cNvPr id="8" name="Text 5"/>
          <p:cNvSpPr txBox="1"/>
          <p:nvPr/>
        </p:nvSpPr>
        <p:spPr>
          <a:xfrm>
            <a:off x="640080" y="5440680"/>
            <a:ext cx="6675120" cy="320040"/>
          </a:xfrm>
          <a:prstGeom prst="rect">
            <a:avLst/>
          </a:prstGeom>
          <a:noFill/>
          <a:ln/>
        </p:spPr>
        <p:txBody>
          <a:bodyPr wrap="square" rtlCol="0" anchor="ctr"/>
          <a:lstStyle/>
          <a:p>
            <a:pPr indent="0" marL="0">
              <a:buNone/>
            </a:pPr>
            <a:r>
              <a:rPr lang="en-US" sz="1200" i="1" dirty="0">
                <a:solidFill>
                  <a:schemeClr val="accent5"/>
                </a:solidFill>
              </a:rPr>
              <a:t>0 = break even · +1 = a ten-fold bankroll · green = significant profit · red = significant loss</a:t>
            </a:r>
            <a:endParaRPr lang="en-US" sz="12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914400" y="1737360"/>
            <a:ext cx="10332720" cy="2194560"/>
          </a:xfrm>
          <a:prstGeom prst="rect">
            <a:avLst/>
          </a:prstGeom>
          <a:noFill/>
          <a:ln/>
        </p:spPr>
        <p:txBody>
          <a:bodyPr wrap="square" rtlCol="0" anchor="ctr"/>
          <a:lstStyle/>
          <a:p>
            <a:pPr algn="l" indent="0" marL="0">
              <a:buNone/>
            </a:pPr>
            <a:r>
              <a:rPr lang="en-US" sz="3400" b="1" dirty="0">
                <a:solidFill>
                  <a:schemeClr val="bg1"/>
                </a:solidFill>
              </a:rPr>
              <a:t>41% of the margin over the uniform average is not learning</a:t>
            </a:r>
            <a:endParaRPr lang="en-US" sz="3400" dirty="0"/>
          </a:p>
        </p:txBody>
      </p:sp>
      <p:sp>
        <p:nvSpPr>
          <p:cNvPr id="3" name="Text 0"/>
          <p:cNvSpPr/>
          <p:nvPr>
            <p:ph idx="101" type="body" hasCustomPrompt="1"/>
          </p:nvPr>
        </p:nvSpPr>
        <p:spPr>
          <a:xfrm>
            <a:off x="914400" y="4114800"/>
            <a:ext cx="10332720" cy="1645920"/>
          </a:xfrm>
          <a:prstGeom prst="rect">
            <a:avLst/>
          </a:prstGeom>
          <a:noFill/>
          <a:ln/>
        </p:spPr>
        <p:txBody>
          <a:bodyPr wrap="square" rtlCol="0" anchor="t"/>
          <a:lstStyle/>
          <a:p>
            <a:pPr algn="l" indent="0" marL="0">
              <a:buNone/>
            </a:pPr>
            <a:r>
              <a:rPr lang="en-US" sz="1700" dirty="0">
                <a:solidFill>
                  <a:srgbClr val="CBD5E1"/>
                </a:solidFill>
              </a:rPr>
              <a:t>Under the Sleeping Experts reduction the weight vector moves even with a step of ZERO: the projection is re-done onto a simplex of different dimension whenever the awake set changes. A zero-step control separates the two. The number was real; the obvious reading of it was false.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Nine ideas tried and rejected</a:t>
            </a:r>
            <a:endParaRPr lang="en-US" sz="3000" dirty="0"/>
          </a:p>
        </p:txBody>
      </p:sp>
      <p:sp>
        <p:nvSpPr>
          <p:cNvPr id="3" name="neg-0"/>
          <p:cNvSpPr/>
          <p:nvPr/>
        </p:nvSpPr>
        <p:spPr>
          <a:xfrm>
            <a:off x="640080" y="1719072"/>
            <a:ext cx="237744" cy="237744"/>
          </a:xfrm>
          <a:prstGeom prst="ellipse">
            <a:avLst/>
          </a:prstGeom>
          <a:solidFill>
            <a:schemeClr val="accent4"/>
          </a:solidFill>
          <a:ln/>
        </p:spPr>
      </p:sp>
      <p:sp>
        <p:nvSpPr>
          <p:cNvPr id="4" name="Text 2"/>
          <p:cNvSpPr txBox="1"/>
          <p:nvPr/>
        </p:nvSpPr>
        <p:spPr>
          <a:xfrm>
            <a:off x="1024128" y="1645920"/>
            <a:ext cx="3017520" cy="548640"/>
          </a:xfrm>
          <a:prstGeom prst="rect">
            <a:avLst/>
          </a:prstGeom>
          <a:noFill/>
          <a:ln/>
        </p:spPr>
        <p:txBody>
          <a:bodyPr wrap="square" lIns="0" tIns="0" rIns="0" bIns="0" rtlCol="0" anchor="t"/>
          <a:lstStyle/>
          <a:p>
            <a:pPr indent="0" marL="0">
              <a:buNone/>
            </a:pPr>
            <a:r>
              <a:rPr lang="en-US" sz="1500" b="1" dirty="0">
                <a:solidFill>
                  <a:schemeClr val="tx2"/>
                </a:solidFill>
              </a:rPr>
              <a:t>Fixed-Share</a:t>
            </a:r>
            <a:endParaRPr lang="en-US" sz="1500" dirty="0"/>
          </a:p>
        </p:txBody>
      </p:sp>
      <p:sp>
        <p:nvSpPr>
          <p:cNvPr id="5" name="Text 3"/>
          <p:cNvSpPr txBox="1"/>
          <p:nvPr/>
        </p:nvSpPr>
        <p:spPr>
          <a:xfrm>
            <a:off x="1024128" y="2212848"/>
            <a:ext cx="3017520" cy="640080"/>
          </a:xfrm>
          <a:prstGeom prst="rect">
            <a:avLst/>
          </a:prstGeom>
          <a:noFill/>
          <a:ln/>
        </p:spPr>
        <p:txBody>
          <a:bodyPr wrap="square" lIns="0" tIns="0" rIns="0" bIns="0" rtlCol="0" anchor="t"/>
          <a:lstStyle/>
          <a:p>
            <a:pPr indent="0" marL="0">
              <a:buNone/>
            </a:pPr>
            <a:r>
              <a:rPr lang="en-US" sz="1250" dirty="0">
                <a:solidFill>
                  <a:schemeClr val="accent5"/>
                </a:solidFill>
              </a:rPr>
              <a:t>every α &gt; 0 loses</a:t>
            </a:r>
            <a:endParaRPr lang="en-US" sz="1250" dirty="0"/>
          </a:p>
        </p:txBody>
      </p:sp>
      <p:sp>
        <p:nvSpPr>
          <p:cNvPr id="6" name="neg-1"/>
          <p:cNvSpPr/>
          <p:nvPr/>
        </p:nvSpPr>
        <p:spPr>
          <a:xfrm>
            <a:off x="4297680" y="1719072"/>
            <a:ext cx="237744" cy="237744"/>
          </a:xfrm>
          <a:prstGeom prst="ellipse">
            <a:avLst/>
          </a:prstGeom>
          <a:solidFill>
            <a:schemeClr val="accent4"/>
          </a:solidFill>
          <a:ln/>
        </p:spPr>
      </p:sp>
      <p:sp>
        <p:nvSpPr>
          <p:cNvPr id="7" name="Text 5"/>
          <p:cNvSpPr txBox="1"/>
          <p:nvPr/>
        </p:nvSpPr>
        <p:spPr>
          <a:xfrm>
            <a:off x="4681728" y="1645920"/>
            <a:ext cx="3017520" cy="548640"/>
          </a:xfrm>
          <a:prstGeom prst="rect">
            <a:avLst/>
          </a:prstGeom>
          <a:noFill/>
          <a:ln/>
        </p:spPr>
        <p:txBody>
          <a:bodyPr wrap="square" lIns="0" tIns="0" rIns="0" bIns="0" rtlCol="0" anchor="t"/>
          <a:lstStyle/>
          <a:p>
            <a:pPr indent="0" marL="0">
              <a:buNone/>
            </a:pPr>
            <a:r>
              <a:rPr lang="en-US" sz="1500" b="1" dirty="0">
                <a:solidFill>
                  <a:schemeClr val="tx2"/>
                </a:solidFill>
              </a:rPr>
              <a:t>Per-expert step clock</a:t>
            </a:r>
            <a:endParaRPr lang="en-US" sz="1500" dirty="0"/>
          </a:p>
        </p:txBody>
      </p:sp>
      <p:sp>
        <p:nvSpPr>
          <p:cNvPr id="8" name="Text 6"/>
          <p:cNvSpPr txBox="1"/>
          <p:nvPr/>
        </p:nvSpPr>
        <p:spPr>
          <a:xfrm>
            <a:off x="4681728" y="2212848"/>
            <a:ext cx="3017520" cy="640080"/>
          </a:xfrm>
          <a:prstGeom prst="rect">
            <a:avLst/>
          </a:prstGeom>
          <a:noFill/>
          <a:ln/>
        </p:spPr>
        <p:txBody>
          <a:bodyPr wrap="square" lIns="0" tIns="0" rIns="0" bIns="0" rtlCol="0" anchor="t"/>
          <a:lstStyle/>
          <a:p>
            <a:pPr indent="0" marL="0">
              <a:buNone/>
            </a:pPr>
            <a:r>
              <a:rPr lang="en-US" sz="1250" dirty="0">
                <a:solidFill>
                  <a:schemeClr val="accent5"/>
                </a:solidFill>
              </a:rPr>
              <a:t>−0.00073 on the tail: overfitting</a:t>
            </a:r>
            <a:endParaRPr lang="en-US" sz="1250" dirty="0"/>
          </a:p>
        </p:txBody>
      </p:sp>
      <p:sp>
        <p:nvSpPr>
          <p:cNvPr id="9" name="neg-2"/>
          <p:cNvSpPr/>
          <p:nvPr/>
        </p:nvSpPr>
        <p:spPr>
          <a:xfrm>
            <a:off x="7955280" y="1719072"/>
            <a:ext cx="237744" cy="237744"/>
          </a:xfrm>
          <a:prstGeom prst="ellipse">
            <a:avLst/>
          </a:prstGeom>
          <a:solidFill>
            <a:schemeClr val="accent4"/>
          </a:solidFill>
          <a:ln/>
        </p:spPr>
      </p:sp>
      <p:sp>
        <p:nvSpPr>
          <p:cNvPr id="10" name="Text 8"/>
          <p:cNvSpPr txBox="1"/>
          <p:nvPr/>
        </p:nvSpPr>
        <p:spPr>
          <a:xfrm>
            <a:off x="8339328" y="1645920"/>
            <a:ext cx="3017520" cy="548640"/>
          </a:xfrm>
          <a:prstGeom prst="rect">
            <a:avLst/>
          </a:prstGeom>
          <a:noFill/>
          <a:ln/>
        </p:spPr>
        <p:txBody>
          <a:bodyPr wrap="square" lIns="0" tIns="0" rIns="0" bIns="0" rtlCol="0" anchor="t"/>
          <a:lstStyle/>
          <a:p>
            <a:pPr indent="0" marL="0">
              <a:buNone/>
            </a:pPr>
            <a:r>
              <a:rPr lang="en-US" sz="1500" b="1" dirty="0">
                <a:solidFill>
                  <a:schemeClr val="tx2"/>
                </a:solidFill>
              </a:rPr>
              <a:t>Markov kernels on the weights</a:t>
            </a:r>
            <a:endParaRPr lang="en-US" sz="1500" dirty="0"/>
          </a:p>
        </p:txBody>
      </p:sp>
      <p:sp>
        <p:nvSpPr>
          <p:cNvPr id="11" name="Text 9"/>
          <p:cNvSpPr txBox="1"/>
          <p:nvPr/>
        </p:nvSpPr>
        <p:spPr>
          <a:xfrm>
            <a:off x="8339328" y="2212848"/>
            <a:ext cx="3017520" cy="640080"/>
          </a:xfrm>
          <a:prstGeom prst="rect">
            <a:avLst/>
          </a:prstGeom>
          <a:noFill/>
          <a:ln/>
        </p:spPr>
        <p:txBody>
          <a:bodyPr wrap="square" lIns="0" tIns="0" rIns="0" bIns="0" rtlCol="0" anchor="t"/>
          <a:lstStyle/>
          <a:p>
            <a:pPr indent="0" marL="0">
              <a:buNone/>
            </a:pPr>
            <a:r>
              <a:rPr lang="en-US" sz="1250" dirty="0">
                <a:solidFill>
                  <a:schemeClr val="accent5"/>
                </a:solidFill>
              </a:rPr>
              <a:t>every kernel selects α = 0</a:t>
            </a:r>
            <a:endParaRPr lang="en-US" sz="1250" dirty="0"/>
          </a:p>
        </p:txBody>
      </p:sp>
      <p:sp>
        <p:nvSpPr>
          <p:cNvPr id="12" name="neg-3"/>
          <p:cNvSpPr/>
          <p:nvPr/>
        </p:nvSpPr>
        <p:spPr>
          <a:xfrm>
            <a:off x="640080" y="3090672"/>
            <a:ext cx="237744" cy="237744"/>
          </a:xfrm>
          <a:prstGeom prst="ellipse">
            <a:avLst/>
          </a:prstGeom>
          <a:solidFill>
            <a:schemeClr val="accent4"/>
          </a:solidFill>
          <a:ln/>
        </p:spPr>
      </p:sp>
      <p:sp>
        <p:nvSpPr>
          <p:cNvPr id="13" name="Text 11"/>
          <p:cNvSpPr txBox="1"/>
          <p:nvPr/>
        </p:nvSpPr>
        <p:spPr>
          <a:xfrm>
            <a:off x="1024128" y="3017520"/>
            <a:ext cx="3017520" cy="548640"/>
          </a:xfrm>
          <a:prstGeom prst="rect">
            <a:avLst/>
          </a:prstGeom>
          <a:noFill/>
          <a:ln/>
        </p:spPr>
        <p:txBody>
          <a:bodyPr wrap="square" lIns="0" tIns="0" rIns="0" bIns="0" rtlCol="0" anchor="t"/>
          <a:lstStyle/>
          <a:p>
            <a:pPr indent="0" marL="0">
              <a:buNone/>
            </a:pPr>
            <a:r>
              <a:rPr lang="en-US" sz="1500" b="1" dirty="0">
                <a:solidFill>
                  <a:schemeClr val="tx2"/>
                </a:solidFill>
              </a:rPr>
              <a:t>Latent market regimes</a:t>
            </a:r>
            <a:endParaRPr lang="en-US" sz="1500" dirty="0"/>
          </a:p>
        </p:txBody>
      </p:sp>
      <p:sp>
        <p:nvSpPr>
          <p:cNvPr id="14" name="Text 12"/>
          <p:cNvSpPr txBox="1"/>
          <p:nvPr/>
        </p:nvSpPr>
        <p:spPr>
          <a:xfrm>
            <a:off x="1024128" y="3584448"/>
            <a:ext cx="3017520" cy="640080"/>
          </a:xfrm>
          <a:prstGeom prst="rect">
            <a:avLst/>
          </a:prstGeom>
          <a:noFill/>
          <a:ln/>
        </p:spPr>
        <p:txBody>
          <a:bodyPr wrap="square" lIns="0" tIns="0" rIns="0" bIns="0" rtlCol="0" anchor="t"/>
          <a:lstStyle/>
          <a:p>
            <a:pPr indent="0" marL="0">
              <a:buNone/>
            </a:pPr>
            <a:r>
              <a:rPr lang="en-US" sz="1250" dirty="0">
                <a:solidFill>
                  <a:schemeClr val="accent5"/>
                </a:solidFill>
              </a:rPr>
              <a:t>belief sd 0.0000: it does nothing</a:t>
            </a:r>
            <a:endParaRPr lang="en-US" sz="1250" dirty="0"/>
          </a:p>
        </p:txBody>
      </p:sp>
      <p:sp>
        <p:nvSpPr>
          <p:cNvPr id="15" name="neg-4"/>
          <p:cNvSpPr/>
          <p:nvPr/>
        </p:nvSpPr>
        <p:spPr>
          <a:xfrm>
            <a:off x="4297680" y="3090672"/>
            <a:ext cx="237744" cy="237744"/>
          </a:xfrm>
          <a:prstGeom prst="ellipse">
            <a:avLst/>
          </a:prstGeom>
          <a:solidFill>
            <a:schemeClr val="accent4"/>
          </a:solidFill>
          <a:ln/>
        </p:spPr>
      </p:sp>
      <p:sp>
        <p:nvSpPr>
          <p:cNvPr id="16" name="Text 14"/>
          <p:cNvSpPr txBox="1"/>
          <p:nvPr/>
        </p:nvSpPr>
        <p:spPr>
          <a:xfrm>
            <a:off x="4681728" y="3017520"/>
            <a:ext cx="3017520" cy="548640"/>
          </a:xfrm>
          <a:prstGeom prst="rect">
            <a:avLst/>
          </a:prstGeom>
          <a:noFill/>
          <a:ln/>
        </p:spPr>
        <p:txBody>
          <a:bodyPr wrap="square" lIns="0" tIns="0" rIns="0" bIns="0" rtlCol="0" anchor="t"/>
          <a:lstStyle/>
          <a:p>
            <a:pPr indent="0" marL="0">
              <a:buNone/>
            </a:pPr>
            <a:r>
              <a:rPr lang="en-US" sz="1500" b="1" dirty="0">
                <a:solidFill>
                  <a:schemeClr val="tx2"/>
                </a:solidFill>
              </a:rPr>
              <a:t>Bandit, one-point estimator</a:t>
            </a:r>
            <a:endParaRPr lang="en-US" sz="1500" dirty="0"/>
          </a:p>
        </p:txBody>
      </p:sp>
      <p:sp>
        <p:nvSpPr>
          <p:cNvPr id="17" name="Text 15"/>
          <p:cNvSpPr txBox="1"/>
          <p:nvPr/>
        </p:nvSpPr>
        <p:spPr>
          <a:xfrm>
            <a:off x="4681728" y="3584448"/>
            <a:ext cx="3017520" cy="640080"/>
          </a:xfrm>
          <a:prstGeom prst="rect">
            <a:avLst/>
          </a:prstGeom>
          <a:noFill/>
          <a:ln/>
        </p:spPr>
        <p:txBody>
          <a:bodyPr wrap="square" lIns="0" tIns="0" rIns="0" bIns="0" rtlCol="0" anchor="t"/>
          <a:lstStyle/>
          <a:p>
            <a:pPr indent="0" marL="0">
              <a:buNone/>
            </a:pPr>
            <a:r>
              <a:rPr lang="en-US" sz="1250" dirty="0">
                <a:solidFill>
                  <a:schemeClr val="accent5"/>
                </a:solidFill>
              </a:rPr>
              <a:t>the horizon is too short</a:t>
            </a:r>
            <a:endParaRPr lang="en-US" sz="1250" dirty="0"/>
          </a:p>
        </p:txBody>
      </p:sp>
      <p:sp>
        <p:nvSpPr>
          <p:cNvPr id="18" name="neg-5"/>
          <p:cNvSpPr/>
          <p:nvPr/>
        </p:nvSpPr>
        <p:spPr>
          <a:xfrm>
            <a:off x="7955280" y="3090672"/>
            <a:ext cx="237744" cy="237744"/>
          </a:xfrm>
          <a:prstGeom prst="ellipse">
            <a:avLst/>
          </a:prstGeom>
          <a:solidFill>
            <a:schemeClr val="accent4"/>
          </a:solidFill>
          <a:ln/>
        </p:spPr>
      </p:sp>
      <p:sp>
        <p:nvSpPr>
          <p:cNvPr id="19" name="Text 17"/>
          <p:cNvSpPr txBox="1"/>
          <p:nvPr/>
        </p:nvSpPr>
        <p:spPr>
          <a:xfrm>
            <a:off x="8339328" y="3017520"/>
            <a:ext cx="3017520" cy="548640"/>
          </a:xfrm>
          <a:prstGeom prst="rect">
            <a:avLst/>
          </a:prstGeom>
          <a:noFill/>
          <a:ln/>
        </p:spPr>
        <p:txBody>
          <a:bodyPr wrap="square" lIns="0" tIns="0" rIns="0" bIns="0" rtlCol="0" anchor="t"/>
          <a:lstStyle/>
          <a:p>
            <a:pPr indent="0" marL="0">
              <a:buNone/>
            </a:pPr>
            <a:r>
              <a:rPr lang="en-US" sz="1500" b="1" dirty="0">
                <a:solidFill>
                  <a:schemeClr val="tx2"/>
                </a:solidFill>
              </a:rPr>
              <a:t>Bayesian / MCMC Kelly</a:t>
            </a:r>
            <a:endParaRPr lang="en-US" sz="1500" dirty="0"/>
          </a:p>
        </p:txBody>
      </p:sp>
      <p:sp>
        <p:nvSpPr>
          <p:cNvPr id="20" name="Text 18"/>
          <p:cNvSpPr txBox="1"/>
          <p:nvPr/>
        </p:nvSpPr>
        <p:spPr>
          <a:xfrm>
            <a:off x="8339328" y="3584448"/>
            <a:ext cx="3017520" cy="640080"/>
          </a:xfrm>
          <a:prstGeom prst="rect">
            <a:avLst/>
          </a:prstGeom>
          <a:noFill/>
          <a:ln/>
        </p:spPr>
        <p:txBody>
          <a:bodyPr wrap="square" lIns="0" tIns="0" rIns="0" bIns="0" rtlCol="0" anchor="t"/>
          <a:lstStyle/>
          <a:p>
            <a:pPr indent="0" marL="0">
              <a:buNone/>
            </a:pPr>
            <a:r>
              <a:rPr lang="en-US" sz="1250" dirty="0">
                <a:solidFill>
                  <a:schemeClr val="accent5"/>
                </a:solidFill>
              </a:rPr>
              <a:t>6 ties, 2 losses, zero wins</a:t>
            </a:r>
            <a:endParaRPr lang="en-US" sz="1250" dirty="0"/>
          </a:p>
        </p:txBody>
      </p:sp>
      <p:sp>
        <p:nvSpPr>
          <p:cNvPr id="21" name="neg-6"/>
          <p:cNvSpPr/>
          <p:nvPr/>
        </p:nvSpPr>
        <p:spPr>
          <a:xfrm>
            <a:off x="640080" y="4462272"/>
            <a:ext cx="237744" cy="237744"/>
          </a:xfrm>
          <a:prstGeom prst="ellipse">
            <a:avLst/>
          </a:prstGeom>
          <a:solidFill>
            <a:schemeClr val="accent4"/>
          </a:solidFill>
          <a:ln/>
        </p:spPr>
      </p:sp>
      <p:sp>
        <p:nvSpPr>
          <p:cNvPr id="22" name="Text 20"/>
          <p:cNvSpPr txBox="1"/>
          <p:nvPr/>
        </p:nvSpPr>
        <p:spPr>
          <a:xfrm>
            <a:off x="1024128" y="4389120"/>
            <a:ext cx="3017520" cy="548640"/>
          </a:xfrm>
          <a:prstGeom prst="rect">
            <a:avLst/>
          </a:prstGeom>
          <a:noFill/>
          <a:ln/>
        </p:spPr>
        <p:txBody>
          <a:bodyPr wrap="square" lIns="0" tIns="0" rIns="0" bIns="0" rtlCol="0" anchor="t"/>
          <a:lstStyle/>
          <a:p>
            <a:pPr indent="0" marL="0">
              <a:buNone/>
            </a:pPr>
            <a:r>
              <a:rPr lang="en-US" sz="1500" b="1" dirty="0">
                <a:solidFill>
                  <a:schemeClr val="tx2"/>
                </a:solidFill>
              </a:rPr>
              <a:t>Per-league specialisation</a:t>
            </a:r>
            <a:endParaRPr lang="en-US" sz="1500" dirty="0"/>
          </a:p>
        </p:txBody>
      </p:sp>
      <p:sp>
        <p:nvSpPr>
          <p:cNvPr id="23" name="Text 21"/>
          <p:cNvSpPr txBox="1"/>
          <p:nvPr/>
        </p:nvSpPr>
        <p:spPr>
          <a:xfrm>
            <a:off x="1024128" y="4956048"/>
            <a:ext cx="3017520" cy="640080"/>
          </a:xfrm>
          <a:prstGeom prst="rect">
            <a:avLst/>
          </a:prstGeom>
          <a:noFill/>
          <a:ln/>
        </p:spPr>
        <p:txBody>
          <a:bodyPr wrap="square" lIns="0" tIns="0" rIns="0" bIns="0" rtlCol="0" anchor="t"/>
          <a:lstStyle/>
          <a:p>
            <a:pPr indent="0" marL="0">
              <a:buNone/>
            </a:pPr>
            <a:r>
              <a:rPr lang="en-US" sz="1250" dirty="0">
                <a:solidFill>
                  <a:schemeClr val="accent5"/>
                </a:solidFill>
              </a:rPr>
              <a:t>loses in all six leagues</a:t>
            </a:r>
            <a:endParaRPr lang="en-US" sz="1250" dirty="0"/>
          </a:p>
        </p:txBody>
      </p:sp>
      <p:sp>
        <p:nvSpPr>
          <p:cNvPr id="24" name="neg-7"/>
          <p:cNvSpPr/>
          <p:nvPr/>
        </p:nvSpPr>
        <p:spPr>
          <a:xfrm>
            <a:off x="4297680" y="4462272"/>
            <a:ext cx="237744" cy="237744"/>
          </a:xfrm>
          <a:prstGeom prst="ellipse">
            <a:avLst/>
          </a:prstGeom>
          <a:solidFill>
            <a:schemeClr val="accent4"/>
          </a:solidFill>
          <a:ln/>
        </p:spPr>
      </p:sp>
      <p:sp>
        <p:nvSpPr>
          <p:cNvPr id="25" name="Text 23"/>
          <p:cNvSpPr txBox="1"/>
          <p:nvPr/>
        </p:nvSpPr>
        <p:spPr>
          <a:xfrm>
            <a:off x="4681728" y="4389120"/>
            <a:ext cx="3017520" cy="548640"/>
          </a:xfrm>
          <a:prstGeom prst="rect">
            <a:avLst/>
          </a:prstGeom>
          <a:noFill/>
          <a:ln/>
        </p:spPr>
        <p:txBody>
          <a:bodyPr wrap="square" lIns="0" tIns="0" rIns="0" bIns="0" rtlCol="0" anchor="t"/>
          <a:lstStyle/>
          <a:p>
            <a:pPr indent="0" marL="0">
              <a:buNone/>
            </a:pPr>
            <a:r>
              <a:rPr lang="en-US" sz="1500" b="1" dirty="0">
                <a:solidFill>
                  <a:schemeClr val="tx2"/>
                </a:solidFill>
              </a:rPr>
              <a:t>AdaGrad</a:t>
            </a:r>
            <a:endParaRPr lang="en-US" sz="1500" dirty="0"/>
          </a:p>
        </p:txBody>
      </p:sp>
      <p:sp>
        <p:nvSpPr>
          <p:cNvPr id="26" name="Text 24"/>
          <p:cNvSpPr txBox="1"/>
          <p:nvPr/>
        </p:nvSpPr>
        <p:spPr>
          <a:xfrm>
            <a:off x="4681728" y="4956048"/>
            <a:ext cx="3017520" cy="640080"/>
          </a:xfrm>
          <a:prstGeom prst="rect">
            <a:avLst/>
          </a:prstGeom>
          <a:noFill/>
          <a:ln/>
        </p:spPr>
        <p:txBody>
          <a:bodyPr wrap="square" lIns="0" tIns="0" rIns="0" bIns="0" rtlCol="0" anchor="t"/>
          <a:lstStyle/>
          <a:p>
            <a:pPr indent="0" marL="0">
              <a:buNone/>
            </a:pPr>
            <a:r>
              <a:rPr lang="en-US" sz="1250" dirty="0">
                <a:solidFill>
                  <a:schemeClr val="accent5"/>
                </a:solidFill>
              </a:rPr>
              <a:t>recovers 20% at best</a:t>
            </a:r>
            <a:endParaRPr lang="en-US" sz="1250" dirty="0"/>
          </a:p>
        </p:txBody>
      </p:sp>
      <p:sp>
        <p:nvSpPr>
          <p:cNvPr id="27" name="neg-8"/>
          <p:cNvSpPr/>
          <p:nvPr/>
        </p:nvSpPr>
        <p:spPr>
          <a:xfrm>
            <a:off x="7955280" y="4462272"/>
            <a:ext cx="237744" cy="237744"/>
          </a:xfrm>
          <a:prstGeom prst="ellipse">
            <a:avLst/>
          </a:prstGeom>
          <a:solidFill>
            <a:schemeClr val="accent4"/>
          </a:solidFill>
          <a:ln/>
        </p:spPr>
      </p:sp>
      <p:sp>
        <p:nvSpPr>
          <p:cNvPr id="28" name="Text 26"/>
          <p:cNvSpPr txBox="1"/>
          <p:nvPr/>
        </p:nvSpPr>
        <p:spPr>
          <a:xfrm>
            <a:off x="8339328" y="4389120"/>
            <a:ext cx="3017520" cy="548640"/>
          </a:xfrm>
          <a:prstGeom prst="rect">
            <a:avLst/>
          </a:prstGeom>
          <a:noFill/>
          <a:ln/>
        </p:spPr>
        <p:txBody>
          <a:bodyPr wrap="square" lIns="0" tIns="0" rIns="0" bIns="0" rtlCol="0" anchor="t"/>
          <a:lstStyle/>
          <a:p>
            <a:pPr indent="0" marL="0">
              <a:buNone/>
            </a:pPr>
            <a:r>
              <a:rPr lang="en-US" sz="1500" b="1" dirty="0">
                <a:solidFill>
                  <a:schemeClr val="tx2"/>
                </a:solidFill>
              </a:rPr>
              <a:t>Joint step + calibration sweep</a:t>
            </a:r>
            <a:endParaRPr lang="en-US" sz="1500" dirty="0"/>
          </a:p>
        </p:txBody>
      </p:sp>
      <p:sp>
        <p:nvSpPr>
          <p:cNvPr id="29" name="Text 27"/>
          <p:cNvSpPr txBox="1"/>
          <p:nvPr/>
        </p:nvSpPr>
        <p:spPr>
          <a:xfrm>
            <a:off x="8339328" y="4956048"/>
            <a:ext cx="3017520" cy="640080"/>
          </a:xfrm>
          <a:prstGeom prst="rect">
            <a:avLst/>
          </a:prstGeom>
          <a:noFill/>
          <a:ln/>
        </p:spPr>
        <p:txBody>
          <a:bodyPr wrap="square" lIns="0" tIns="0" rIns="0" bIns="0" rtlCol="0" anchor="t"/>
          <a:lstStyle/>
          <a:p>
            <a:pPr indent="0" marL="0">
              <a:buNone/>
            </a:pPr>
            <a:r>
              <a:rPr lang="en-US" sz="1250" dirty="0">
                <a:solidFill>
                  <a:schemeClr val="accent5"/>
                </a:solidFill>
              </a:rPr>
              <a:t>no interaction at all</a:t>
            </a:r>
            <a:endParaRPr lang="en-US" sz="1250" dirty="0"/>
          </a:p>
        </p:txBody>
      </p:sp>
      <p:sp>
        <p:nvSpPr>
          <p:cNvPr id="30" name="Text 28"/>
          <p:cNvSpPr txBox="1"/>
          <p:nvPr/>
        </p:nvSpPr>
        <p:spPr>
          <a:xfrm>
            <a:off x="640080" y="5852160"/>
            <a:ext cx="10881360" cy="640080"/>
          </a:xfrm>
          <a:prstGeom prst="rect">
            <a:avLst/>
          </a:prstGeom>
          <a:noFill/>
          <a:ln/>
        </p:spPr>
        <p:txBody>
          <a:bodyPr wrap="square" rtlCol="0" anchor="ctr"/>
          <a:lstStyle/>
          <a:p>
            <a:pPr indent="0" marL="0">
              <a:buNone/>
            </a:pPr>
            <a:r>
              <a:rPr lang="en-US" sz="1500" dirty="0">
                <a:solidFill>
                  <a:schemeClr val="tx1"/>
                </a:solidFill>
              </a:rPr>
              <a:t>One pattern unites them: once the step size is tuned, no further movement of mass over the experts buys anything. The step and the leak control the same quantity.</a:t>
            </a:r>
            <a:endParaRPr lang="en-US" sz="150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Conclusions</a:t>
            </a:r>
            <a:endParaRPr lang="en-US" sz="3000" dirty="0"/>
          </a:p>
        </p:txBody>
      </p:sp>
      <p:sp>
        <p:nvSpPr>
          <p:cNvPr id="3" name="cc-0"/>
          <p:cNvSpPr/>
          <p:nvPr/>
        </p:nvSpPr>
        <p:spPr>
          <a:xfrm>
            <a:off x="640080" y="1554480"/>
            <a:ext cx="256032" cy="256032"/>
          </a:xfrm>
          <a:prstGeom prst="ellipse">
            <a:avLst/>
          </a:prstGeom>
          <a:solidFill>
            <a:schemeClr val="accent3"/>
          </a:solidFill>
          <a:ln/>
        </p:spPr>
      </p:sp>
      <p:sp>
        <p:nvSpPr>
          <p:cNvPr id="4" name="Text 2"/>
          <p:cNvSpPr txBox="1"/>
          <p:nvPr/>
        </p:nvSpPr>
        <p:spPr>
          <a:xfrm>
            <a:off x="1078992" y="1463040"/>
            <a:ext cx="3931920" cy="411480"/>
          </a:xfrm>
          <a:prstGeom prst="rect">
            <a:avLst/>
          </a:prstGeom>
          <a:noFill/>
          <a:ln/>
        </p:spPr>
        <p:txBody>
          <a:bodyPr wrap="square" lIns="0" tIns="0" rIns="0" bIns="0" rtlCol="0" anchor="t"/>
          <a:lstStyle/>
          <a:p>
            <a:pPr indent="0" marL="0">
              <a:buNone/>
            </a:pPr>
            <a:r>
              <a:rPr lang="en-US" sz="1600" b="1" dirty="0">
                <a:solidFill>
                  <a:schemeClr val="tx2"/>
                </a:solidFill>
              </a:rPr>
              <a:t>The framework applies</a:t>
            </a:r>
            <a:endParaRPr lang="en-US" sz="1600" dirty="0"/>
          </a:p>
        </p:txBody>
      </p:sp>
      <p:sp>
        <p:nvSpPr>
          <p:cNvPr id="5" name="Text 3"/>
          <p:cNvSpPr txBox="1"/>
          <p:nvPr/>
        </p:nvSpPr>
        <p:spPr>
          <a:xfrm>
            <a:off x="5166360" y="1463040"/>
            <a:ext cx="6355080" cy="777240"/>
          </a:xfrm>
          <a:prstGeom prst="rect">
            <a:avLst/>
          </a:prstGeom>
          <a:noFill/>
          <a:ln/>
        </p:spPr>
        <p:txBody>
          <a:bodyPr wrap="square" lIns="0" tIns="0" rIns="0" bIns="0" rtlCol="0" anchor="t"/>
          <a:lstStyle/>
          <a:p>
            <a:pPr indent="0" marL="0">
              <a:buNone/>
            </a:pPr>
            <a:r>
              <a:rPr lang="en-US" sz="1350" dirty="0">
                <a:solidFill>
                  <a:schemeClr val="accent5"/>
                </a:solidFill>
              </a:rPr>
              <a:t>An online mixture of published odds beats the uniform average and almost every individual bookmaker, with no distributional assumption.</a:t>
            </a:r>
            <a:endParaRPr lang="en-US" sz="1350" dirty="0"/>
          </a:p>
        </p:txBody>
      </p:sp>
      <p:sp>
        <p:nvSpPr>
          <p:cNvPr id="6" name="cc-1"/>
          <p:cNvSpPr/>
          <p:nvPr/>
        </p:nvSpPr>
        <p:spPr>
          <a:xfrm>
            <a:off x="640080" y="2496312"/>
            <a:ext cx="256032" cy="256032"/>
          </a:xfrm>
          <a:prstGeom prst="ellipse">
            <a:avLst/>
          </a:prstGeom>
          <a:solidFill>
            <a:schemeClr val="accent1"/>
          </a:solidFill>
          <a:ln/>
        </p:spPr>
      </p:sp>
      <p:sp>
        <p:nvSpPr>
          <p:cNvPr id="7" name="Text 5"/>
          <p:cNvSpPr txBox="1"/>
          <p:nvPr/>
        </p:nvSpPr>
        <p:spPr>
          <a:xfrm>
            <a:off x="1078992" y="2404872"/>
            <a:ext cx="3931920" cy="411480"/>
          </a:xfrm>
          <a:prstGeom prst="rect">
            <a:avLst/>
          </a:prstGeom>
          <a:noFill/>
          <a:ln/>
        </p:spPr>
        <p:txBody>
          <a:bodyPr wrap="square" lIns="0" tIns="0" rIns="0" bIns="0" rtlCol="0" anchor="t"/>
          <a:lstStyle/>
          <a:p>
            <a:pPr indent="0" marL="0">
              <a:buNone/>
            </a:pPr>
            <a:r>
              <a:rPr lang="en-US" sz="1600" b="1" dirty="0">
                <a:solidFill>
                  <a:schemeClr val="tx2"/>
                </a:solidFill>
              </a:rPr>
              <a:t>It reaches the market's edge</a:t>
            </a:r>
            <a:endParaRPr lang="en-US" sz="1600" dirty="0"/>
          </a:p>
        </p:txBody>
      </p:sp>
      <p:sp>
        <p:nvSpPr>
          <p:cNvPr id="8" name="Text 6"/>
          <p:cNvSpPr txBox="1"/>
          <p:nvPr/>
        </p:nvSpPr>
        <p:spPr>
          <a:xfrm>
            <a:off x="5166360" y="2404872"/>
            <a:ext cx="6355080" cy="777240"/>
          </a:xfrm>
          <a:prstGeom prst="rect">
            <a:avLst/>
          </a:prstGeom>
          <a:noFill/>
          <a:ln/>
        </p:spPr>
        <p:txBody>
          <a:bodyPr wrap="square" lIns="0" tIns="0" rIns="0" bIns="0" rtlCol="0" anchor="t"/>
          <a:lstStyle/>
          <a:p>
            <a:pPr indent="0" marL="0">
              <a:buNone/>
            </a:pPr>
            <a:r>
              <a:rPr lang="en-US" sz="1350" dirty="0">
                <a:solidFill>
                  <a:schemeClr val="accent5"/>
                </a:solidFill>
              </a:rPr>
              <a:t>Level with the sharpest bookmaker, but behind an exchange with no operator margin.</a:t>
            </a:r>
            <a:endParaRPr lang="en-US" sz="1350" dirty="0"/>
          </a:p>
        </p:txBody>
      </p:sp>
      <p:sp>
        <p:nvSpPr>
          <p:cNvPr id="9" name="cc-2"/>
          <p:cNvSpPr/>
          <p:nvPr/>
        </p:nvSpPr>
        <p:spPr>
          <a:xfrm>
            <a:off x="640080" y="3438144"/>
            <a:ext cx="256032" cy="256032"/>
          </a:xfrm>
          <a:prstGeom prst="ellipse">
            <a:avLst/>
          </a:prstGeom>
          <a:solidFill>
            <a:schemeClr val="accent4"/>
          </a:solidFill>
          <a:ln/>
        </p:spPr>
      </p:sp>
      <p:sp>
        <p:nvSpPr>
          <p:cNvPr id="10" name="Text 8"/>
          <p:cNvSpPr txBox="1"/>
          <p:nvPr/>
        </p:nvSpPr>
        <p:spPr>
          <a:xfrm>
            <a:off x="1078992" y="3346704"/>
            <a:ext cx="3931920" cy="411480"/>
          </a:xfrm>
          <a:prstGeom prst="rect">
            <a:avLst/>
          </a:prstGeom>
          <a:noFill/>
          <a:ln/>
        </p:spPr>
        <p:txBody>
          <a:bodyPr wrap="square" lIns="0" tIns="0" rIns="0" bIns="0" rtlCol="0" anchor="t"/>
          <a:lstStyle/>
          <a:p>
            <a:pPr indent="0" marL="0">
              <a:buNone/>
            </a:pPr>
            <a:r>
              <a:rPr lang="en-US" sz="1600" b="1" dirty="0">
                <a:solidFill>
                  <a:schemeClr val="tx2"/>
                </a:solidFill>
              </a:rPr>
              <a:t>Part of the gain is geometry</a:t>
            </a:r>
            <a:endParaRPr lang="en-US" sz="1600" dirty="0"/>
          </a:p>
        </p:txBody>
      </p:sp>
      <p:sp>
        <p:nvSpPr>
          <p:cNvPr id="11" name="Text 9"/>
          <p:cNvSpPr txBox="1"/>
          <p:nvPr/>
        </p:nvSpPr>
        <p:spPr>
          <a:xfrm>
            <a:off x="5166360" y="3346704"/>
            <a:ext cx="6355080" cy="777240"/>
          </a:xfrm>
          <a:prstGeom prst="rect">
            <a:avLst/>
          </a:prstGeom>
          <a:noFill/>
          <a:ln/>
        </p:spPr>
        <p:txBody>
          <a:bodyPr wrap="square" lIns="0" tIns="0" rIns="0" bIns="0" rtlCol="0" anchor="t"/>
          <a:lstStyle/>
          <a:p>
            <a:pPr indent="0" marL="0">
              <a:buNone/>
            </a:pPr>
            <a:r>
              <a:rPr lang="en-US" sz="1350" dirty="0">
                <a:solidFill>
                  <a:schemeClr val="accent5"/>
                </a:solidFill>
              </a:rPr>
              <a:t>41% of the margin over uniform, isolated with a zero-step control.</a:t>
            </a:r>
            <a:endParaRPr lang="en-US" sz="1350" dirty="0"/>
          </a:p>
        </p:txBody>
      </p:sp>
      <p:sp>
        <p:nvSpPr>
          <p:cNvPr id="12" name="cc-3"/>
          <p:cNvSpPr/>
          <p:nvPr/>
        </p:nvSpPr>
        <p:spPr>
          <a:xfrm>
            <a:off x="640080" y="4379976"/>
            <a:ext cx="256032" cy="256032"/>
          </a:xfrm>
          <a:prstGeom prst="ellipse">
            <a:avLst/>
          </a:prstGeom>
          <a:solidFill>
            <a:schemeClr val="accent1"/>
          </a:solidFill>
          <a:ln/>
        </p:spPr>
      </p:sp>
      <p:sp>
        <p:nvSpPr>
          <p:cNvPr id="13" name="Text 11"/>
          <p:cNvSpPr txBox="1"/>
          <p:nvPr/>
        </p:nvSpPr>
        <p:spPr>
          <a:xfrm>
            <a:off x="1078992" y="4288536"/>
            <a:ext cx="3931920" cy="411480"/>
          </a:xfrm>
          <a:prstGeom prst="rect">
            <a:avLst/>
          </a:prstGeom>
          <a:noFill/>
          <a:ln/>
        </p:spPr>
        <p:txBody>
          <a:bodyPr wrap="square" lIns="0" tIns="0" rIns="0" bIns="0" rtlCol="0" anchor="t"/>
          <a:lstStyle/>
          <a:p>
            <a:pPr indent="0" marL="0">
              <a:buNone/>
            </a:pPr>
            <a:r>
              <a:rPr lang="en-US" sz="1600" b="1" dirty="0">
                <a:solidFill>
                  <a:schemeClr val="tx2"/>
                </a:solidFill>
              </a:rPr>
              <a:t>Heterogeneity is a precondition</a:t>
            </a:r>
            <a:endParaRPr lang="en-US" sz="1600" dirty="0"/>
          </a:p>
        </p:txBody>
      </p:sp>
      <p:sp>
        <p:nvSpPr>
          <p:cNvPr id="14" name="Text 12"/>
          <p:cNvSpPr txBox="1"/>
          <p:nvPr/>
        </p:nvSpPr>
        <p:spPr>
          <a:xfrm>
            <a:off x="5166360" y="4288536"/>
            <a:ext cx="6355080" cy="777240"/>
          </a:xfrm>
          <a:prstGeom prst="rect">
            <a:avLst/>
          </a:prstGeom>
          <a:noFill/>
          <a:ln/>
        </p:spPr>
        <p:txBody>
          <a:bodyPr wrap="square" lIns="0" tIns="0" rIns="0" bIns="0" rtlCol="0" anchor="t"/>
          <a:lstStyle/>
          <a:p>
            <a:pPr indent="0" marL="0">
              <a:buNone/>
            </a:pPr>
            <a:r>
              <a:rPr lang="en-US" sz="1350" dirty="0">
                <a:solidFill>
                  <a:schemeClr val="accent5"/>
                </a:solidFill>
              </a:rPr>
              <a:t>Learned weighting pays only when the experts come from different processes.</a:t>
            </a:r>
            <a:endParaRPr lang="en-US" sz="1350" dirty="0"/>
          </a:p>
        </p:txBody>
      </p:sp>
      <p:sp>
        <p:nvSpPr>
          <p:cNvPr id="15" name="cc-4"/>
          <p:cNvSpPr/>
          <p:nvPr/>
        </p:nvSpPr>
        <p:spPr>
          <a:xfrm>
            <a:off x="640080" y="5321808"/>
            <a:ext cx="256032" cy="256032"/>
          </a:xfrm>
          <a:prstGeom prst="ellipse">
            <a:avLst/>
          </a:prstGeom>
          <a:solidFill>
            <a:schemeClr val="accent2"/>
          </a:solidFill>
          <a:ln/>
        </p:spPr>
      </p:sp>
      <p:sp>
        <p:nvSpPr>
          <p:cNvPr id="16" name="Text 14"/>
          <p:cNvSpPr txBox="1"/>
          <p:nvPr/>
        </p:nvSpPr>
        <p:spPr>
          <a:xfrm>
            <a:off x="1078992" y="5230368"/>
            <a:ext cx="3931920" cy="411480"/>
          </a:xfrm>
          <a:prstGeom prst="rect">
            <a:avLst/>
          </a:prstGeom>
          <a:noFill/>
          <a:ln/>
        </p:spPr>
        <p:txBody>
          <a:bodyPr wrap="square" lIns="0" tIns="0" rIns="0" bIns="0" rtlCol="0" anchor="t"/>
          <a:lstStyle/>
          <a:p>
            <a:pPr indent="0" marL="0">
              <a:buNone/>
            </a:pPr>
            <a:r>
              <a:rPr lang="en-US" sz="1600" b="1" dirty="0">
                <a:solidFill>
                  <a:schemeClr val="tx2"/>
                </a:solidFill>
              </a:rPr>
              <a:t>Better prediction is not profit</a:t>
            </a:r>
            <a:endParaRPr lang="en-US" sz="1600" dirty="0"/>
          </a:p>
        </p:txBody>
      </p:sp>
      <p:sp>
        <p:nvSpPr>
          <p:cNvPr id="17" name="Text 15"/>
          <p:cNvSpPr txBox="1"/>
          <p:nvPr/>
        </p:nvSpPr>
        <p:spPr>
          <a:xfrm>
            <a:off x="5166360" y="5230368"/>
            <a:ext cx="6355080" cy="777240"/>
          </a:xfrm>
          <a:prstGeom prst="rect">
            <a:avLst/>
          </a:prstGeom>
          <a:noFill/>
          <a:ln/>
        </p:spPr>
        <p:txBody>
          <a:bodyPr wrap="square" lIns="0" tIns="0" rIns="0" bIns="0" rtlCol="0" anchor="t"/>
          <a:lstStyle/>
          <a:p>
            <a:pPr indent="0" marL="0">
              <a:buNone/>
            </a:pPr>
            <a:r>
              <a:rPr lang="en-US" sz="1350" dirty="0">
                <a:solidFill>
                  <a:schemeClr val="accent5"/>
                </a:solidFill>
              </a:rPr>
              <a:t>The quality gained falls short of the margin, and the edge sits where access is controlled.</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nchor="ctr"/>
          <a:lstStyle/>
          <a:p>
            <a:pPr algn="l" indent="0" marL="0">
              <a:buNone/>
            </a:pPr>
            <a:r>
              <a:rPr lang="en-US" sz="3000" b="1" dirty="0">
                <a:solidFill>
                  <a:schemeClr val="tx2"/>
                </a:solidFill>
              </a:rPr>
              <a:t>Future work</a:t>
            </a:r>
            <a:endParaRPr lang="en-US" sz="3000" dirty="0"/>
          </a:p>
        </p:txBody>
      </p:sp>
      <p:sp>
        <p:nvSpPr>
          <p:cNvPr id="3" name="circle-1"/>
          <p:cNvSpPr/>
          <p:nvPr/>
        </p:nvSpPr>
        <p:spPr>
          <a:xfrm>
            <a:off x="640080" y="1691640"/>
            <a:ext cx="566928" cy="566928"/>
          </a:xfrm>
          <a:prstGeom prst="ellipse">
            <a:avLst/>
          </a:prstGeom>
          <a:solidFill>
            <a:schemeClr val="accent1"/>
          </a:solidFill>
          <a:ln/>
        </p:spPr>
      </p:sp>
      <p:sp>
        <p:nvSpPr>
          <p:cNvPr id="4" name="Text 2"/>
          <p:cNvSpPr txBox="1"/>
          <p:nvPr/>
        </p:nvSpPr>
        <p:spPr>
          <a:xfrm>
            <a:off x="640080" y="16916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Text 3"/>
          <p:cNvSpPr txBox="1"/>
          <p:nvPr/>
        </p:nvSpPr>
        <p:spPr>
          <a:xfrm>
            <a:off x="1508760" y="1645920"/>
            <a:ext cx="10058400" cy="411480"/>
          </a:xfrm>
          <a:prstGeom prst="rect">
            <a:avLst/>
          </a:prstGeom>
          <a:noFill/>
          <a:ln/>
        </p:spPr>
        <p:txBody>
          <a:bodyPr wrap="square" lIns="0" tIns="0" rIns="0" bIns="0" rtlCol="0" anchor="t"/>
          <a:lstStyle/>
          <a:p>
            <a:pPr indent="0" marL="0">
              <a:buNone/>
            </a:pPr>
            <a:r>
              <a:rPr lang="en-US" sz="1800" b="1" dirty="0">
                <a:solidFill>
                  <a:schemeClr val="tx2"/>
                </a:solidFill>
              </a:rPr>
              <a:t>A live odds feed</a:t>
            </a:r>
            <a:endParaRPr lang="en-US" sz="1800" dirty="0"/>
          </a:p>
        </p:txBody>
      </p:sp>
      <p:sp>
        <p:nvSpPr>
          <p:cNvPr id="6" name="Text 4"/>
          <p:cNvSpPr txBox="1"/>
          <p:nvPr/>
        </p:nvSpPr>
        <p:spPr>
          <a:xfrm>
            <a:off x="1508760" y="2066544"/>
            <a:ext cx="10058400" cy="960120"/>
          </a:xfrm>
          <a:prstGeom prst="rect">
            <a:avLst/>
          </a:prstGeom>
          <a:noFill/>
          <a:ln/>
        </p:spPr>
        <p:txBody>
          <a:bodyPr wrap="square" lIns="0" tIns="0" rIns="0" bIns="0" rtlCol="0" anchor="t"/>
          <a:lstStyle/>
          <a:p>
            <a:pPr indent="0" marL="0">
              <a:buNone/>
            </a:pPr>
            <a:r>
              <a:rPr lang="en-US" sz="1350" dirty="0">
                <a:solidFill>
                  <a:schemeClr val="accent5"/>
                </a:solidFill>
              </a:rPr>
              <a:t>Every result here says what the method WOULD have done. The three stages are online and causal and the state is one weight vector plus two scalars, so it runs in real time against a streaming API. That turns a statistical edge into an exploitable one.</a:t>
            </a:r>
            <a:endParaRPr lang="en-US" sz="1350" dirty="0"/>
          </a:p>
        </p:txBody>
      </p:sp>
      <p:sp>
        <p:nvSpPr>
          <p:cNvPr id="7" name="circle-2"/>
          <p:cNvSpPr/>
          <p:nvPr/>
        </p:nvSpPr>
        <p:spPr>
          <a:xfrm>
            <a:off x="640080" y="3200400"/>
            <a:ext cx="566928" cy="566928"/>
          </a:xfrm>
          <a:prstGeom prst="ellipse">
            <a:avLst/>
          </a:prstGeom>
          <a:solidFill>
            <a:schemeClr val="accent1"/>
          </a:solidFill>
          <a:ln/>
        </p:spPr>
      </p:sp>
      <p:sp>
        <p:nvSpPr>
          <p:cNvPr id="8" name="Text 6"/>
          <p:cNvSpPr txBox="1"/>
          <p:nvPr/>
        </p:nvSpPr>
        <p:spPr>
          <a:xfrm>
            <a:off x="640080" y="32004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Text 7"/>
          <p:cNvSpPr txBox="1"/>
          <p:nvPr/>
        </p:nvSpPr>
        <p:spPr>
          <a:xfrm>
            <a:off x="1508760" y="3154680"/>
            <a:ext cx="10058400" cy="411480"/>
          </a:xfrm>
          <a:prstGeom prst="rect">
            <a:avLst/>
          </a:prstGeom>
          <a:noFill/>
          <a:ln/>
        </p:spPr>
        <p:txBody>
          <a:bodyPr wrap="square" lIns="0" tIns="0" rIns="0" bIns="0" rtlCol="0" anchor="t"/>
          <a:lstStyle/>
          <a:p>
            <a:pPr indent="0" marL="0">
              <a:buNone/>
            </a:pPr>
            <a:r>
              <a:rPr lang="en-US" sz="1800" b="1" dirty="0">
                <a:solidFill>
                  <a:schemeClr val="tx2"/>
                </a:solidFill>
              </a:rPr>
              <a:t>A second sport</a:t>
            </a:r>
            <a:endParaRPr lang="en-US" sz="1800" dirty="0"/>
          </a:p>
        </p:txBody>
      </p:sp>
      <p:sp>
        <p:nvSpPr>
          <p:cNvPr id="10" name="Text 8"/>
          <p:cNvSpPr txBox="1"/>
          <p:nvPr/>
        </p:nvSpPr>
        <p:spPr>
          <a:xfrm>
            <a:off x="1508760" y="3575304"/>
            <a:ext cx="10058400" cy="960120"/>
          </a:xfrm>
          <a:prstGeom prst="rect">
            <a:avLst/>
          </a:prstGeom>
          <a:noFill/>
          <a:ln/>
        </p:spPr>
        <p:txBody>
          <a:bodyPr wrap="square" lIns="0" tIns="0" rIns="0" bIns="0" rtlCol="0" anchor="t"/>
          <a:lstStyle/>
          <a:p>
            <a:pPr indent="0" marL="0">
              <a:buNone/>
            </a:pPr>
            <a:r>
              <a:rPr lang="en-US" sz="1350" dirty="0">
                <a:solidFill>
                  <a:schemeClr val="accent5"/>
                </a:solidFill>
              </a:rPr>
              <a:t>Basketball or tennis would show whether the framework generalises. The cost is a data pipeline; the algorithms do not change.</a:t>
            </a:r>
            <a:endParaRPr lang="en-US" sz="1350" dirty="0"/>
          </a:p>
        </p:txBody>
      </p:sp>
      <p:sp>
        <p:nvSpPr>
          <p:cNvPr id="11" name="circle-3"/>
          <p:cNvSpPr/>
          <p:nvPr/>
        </p:nvSpPr>
        <p:spPr>
          <a:xfrm>
            <a:off x="640080" y="4709160"/>
            <a:ext cx="566928" cy="566928"/>
          </a:xfrm>
          <a:prstGeom prst="ellipse">
            <a:avLst/>
          </a:prstGeom>
          <a:solidFill>
            <a:schemeClr val="accent1"/>
          </a:solidFill>
          <a:ln/>
        </p:spPr>
      </p:sp>
      <p:sp>
        <p:nvSpPr>
          <p:cNvPr id="12" name="Text 10"/>
          <p:cNvSpPr txBox="1"/>
          <p:nvPr/>
        </p:nvSpPr>
        <p:spPr>
          <a:xfrm>
            <a:off x="640080" y="47091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3" name="Text 11"/>
          <p:cNvSpPr txBox="1"/>
          <p:nvPr/>
        </p:nvSpPr>
        <p:spPr>
          <a:xfrm>
            <a:off x="1508760" y="4663440"/>
            <a:ext cx="10058400" cy="411480"/>
          </a:xfrm>
          <a:prstGeom prst="rect">
            <a:avLst/>
          </a:prstGeom>
          <a:noFill/>
          <a:ln/>
        </p:spPr>
        <p:txBody>
          <a:bodyPr wrap="square" lIns="0" tIns="0" rIns="0" bIns="0" rtlCol="0" anchor="t"/>
          <a:lstStyle/>
          <a:p>
            <a:pPr indent="0" marL="0">
              <a:buNone/>
            </a:pPr>
            <a:r>
              <a:rPr lang="en-US" sz="1800" b="1" dirty="0">
                <a:solidFill>
                  <a:schemeClr val="tx2"/>
                </a:solidFill>
              </a:rPr>
              <a:t>Bayesian Model Averaging as a baseline</a:t>
            </a:r>
            <a:endParaRPr lang="en-US" sz="1800" dirty="0"/>
          </a:p>
        </p:txBody>
      </p:sp>
      <p:sp>
        <p:nvSpPr>
          <p:cNvPr id="14" name="Text 12"/>
          <p:cNvSpPr txBox="1"/>
          <p:nvPr/>
        </p:nvSpPr>
        <p:spPr>
          <a:xfrm>
            <a:off x="1508760" y="5084064"/>
            <a:ext cx="10058400" cy="960120"/>
          </a:xfrm>
          <a:prstGeom prst="rect">
            <a:avLst/>
          </a:prstGeom>
          <a:noFill/>
          <a:ln/>
        </p:spPr>
        <p:txBody>
          <a:bodyPr wrap="square" lIns="0" tIns="0" rIns="0" bIns="0" rtlCol="0" anchor="t"/>
          <a:lstStyle/>
          <a:p>
            <a:pPr indent="0" marL="0">
              <a:buNone/>
            </a:pPr>
            <a:r>
              <a:rPr lang="en-US" sz="1350" dirty="0">
                <a:solidFill>
                  <a:schemeClr val="accent5"/>
                </a:solidFill>
              </a:rPr>
              <a:t>An empirical comparison against the online algorithms, and more light on why the Aggregating Algorithm underperforms here.</a:t>
            </a:r>
            <a:endParaRPr lang="en-US" sz="1350" dirty="0"/>
          </a:p>
        </p:txBody>
      </p:sp>
      <p:sp>
        <p:nvSpPr>
          <p:cNvPr id="25" name="Slide Number Placeholder 0"/>
          <p:cNvSpPr>
            <a:spLocks noGrp="1"/>
          </p:cNvSpPr>
          <p:nvPr>
            <p:ph type="sldNum" sz="quarter" idx="4294967295"/>
          </p:nvPr>
        </p:nvSpPr>
        <p:spPr>
          <a:xfrm>
            <a:off x="11521440" y="6355080"/>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914400" y="2103120"/>
            <a:ext cx="10332720" cy="1737360"/>
          </a:xfrm>
          <a:prstGeom prst="rect">
            <a:avLst/>
          </a:prstGeom>
          <a:noFill/>
          <a:ln/>
        </p:spPr>
        <p:txBody>
          <a:bodyPr wrap="square" rtlCol="0" anchor="b"/>
          <a:lstStyle/>
          <a:p>
            <a:pPr algn="ctr"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914400" y="3977640"/>
            <a:ext cx="10332720" cy="1463040"/>
          </a:xfrm>
          <a:prstGeom prst="rect">
            <a:avLst/>
          </a:prstGeom>
          <a:noFill/>
          <a:ln/>
        </p:spPr>
        <p:txBody>
          <a:bodyPr wrap="square" rtlCol="0" anchor="t"/>
          <a:lstStyle/>
          <a:p>
            <a:pPr algn="ctr" indent="0" marL="0">
              <a:buNone/>
            </a:pPr>
            <a:r>
              <a:rPr lang="en-US" sz="1700" dirty="0">
                <a:solidFill>
                  <a:srgbClr val="CBD5E1"/>
                </a:solidFill>
              </a:rPr>
              <a:t>Questions</a:t>
            </a:r>
            <a:endParaRPr lang="en-US" sz="1700" dirty="0"/>
          </a:p>
        </p:txBody>
      </p:sp>
    </p:spTree>
  </p:cSld>
  <p:clrMapOvr>
    <a:masterClrMapping/>
  </p:clrMapOvr>
</p:sld>
</file>

<file path=ppt/theme/theme1.xml><?xml version="1.0" encoding="utf-8"?>
<a:theme xmlns:a="http://schemas.openxmlformats.org/drawingml/2006/main" name="OCO Defence">
  <a:themeElements>
    <a:clrScheme name="OCO Defence">
      <a:dk1>
        <a:srgbClr val="111827"/>
      </a:dk1>
      <a:lt1>
        <a:srgbClr val="FFFFFF"/>
      </a:lt1>
      <a:dk2>
        <a:srgbClr val="16213E"/>
      </a:dk2>
      <a:lt2>
        <a:srgbClr val="F2F5F9"/>
      </a:lt2>
      <a:accent1>
        <a:srgbClr val="0F4C81"/>
      </a:accent1>
      <a:accent2>
        <a:srgbClr val="C1121F"/>
      </a:accent2>
      <a:accent3>
        <a:srgbClr val="2F7D5C"/>
      </a:accent3>
      <a:accent4>
        <a:srgbClr val="D98324"/>
      </a:accent4>
      <a:accent5>
        <a:srgbClr val="5C6B8A"/>
      </a:accent5>
      <a:accent6>
        <a:srgbClr val="94A3B8"/>
      </a:accent6>
      <a:hlink>
        <a:srgbClr val="0F4C81"/>
      </a:hlink>
      <a:folHlink>
        <a:srgbClr val="5C6B8A"/>
      </a:folHlink>
    </a:clrScheme>
    <a:fontScheme name="OCO Def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Convex Optimization based tuning of Mixture of Experts</dc:title>
  <dc:subject>PptxGenJS Presentation</dc:subject>
  <dc:creator>Stefanos Mousadis</dc:creator>
  <cp:lastModifiedBy>Stefanos Mousadis</cp:lastModifiedBy>
  <cp:revision>1</cp:revision>
  <dcterms:created xsi:type="dcterms:W3CDTF">2026-10-09T08:28:51Z</dcterms:created>
  <dcterms:modified xsi:type="dcterms:W3CDTF">2026-10-09T08:28:51Z</dcterms:modified>
</cp:coreProperties>
</file>