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f134a6ee-a5ae-6aed-35cc-7f79dcbe38eb}">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OGD</c:v>
                </c:pt>
              </c:strCache>
            </c:strRef>
          </c:tx>
          <c:spPr>
            <a:solidFill>
              <a:srgbClr val="0F4C81"/>
            </a:solidFill>
            <a:ln w="38100" cap="flat">
              <a:solidFill>
                <a:srgbClr val="0F4C81"/>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0F4C81"/>
              </a:solidFill>
              <a:ln w="9525" cap="flat">
                <a:solidFill>
                  <a:srgbClr val="0F4C81"/>
                </a:solidFill>
                <a:prstDash val="solid"/>
                <a:round/>
              </a:ln>
              <a:effectLst/>
            </c:spPr>
          </c:marker>
          <c:cat>
            <c:multiLvlStrRef>
              <c:f>Sheet1!$A$2:$A$16</c:f>
              <c:multiLvlStrCache>
                <c:ptCount val="15"/>
                <c:lvl>
                  <c:pt idx="0">
                    <c:v>1</c:v>
                  </c:pt>
                  <c:pt idx="1">
                    <c:v>2</c:v>
                  </c:pt>
                  <c:pt idx="2">
                    <c:v>5</c:v>
                  </c:pt>
                  <c:pt idx="3">
                    <c:v>10</c:v>
                  </c:pt>
                  <c:pt idx="4">
                    <c:v>25</c:v>
                  </c:pt>
                  <c:pt idx="5">
                    <c:v>50</c:v>
                  </c:pt>
                  <c:pt idx="6">
                    <c:v>75</c:v>
                  </c:pt>
                  <c:pt idx="7">
                    <c:v>90</c:v>
                  </c:pt>
                  <c:pt idx="8">
                    <c:v>100</c:v>
                  </c:pt>
                  <c:pt idx="9">
                    <c:v>110</c:v>
                  </c:pt>
                  <c:pt idx="10">
                    <c:v>125</c:v>
                  </c:pt>
                  <c:pt idx="11">
                    <c:v>150</c:v>
                  </c:pt>
                  <c:pt idx="12">
                    <c:v>200</c:v>
                  </c:pt>
                  <c:pt idx="13">
                    <c:v>500</c:v>
                  </c:pt>
                  <c:pt idx="14">
                    <c:v>1000</c:v>
                  </c:pt>
                </c:lvl>
              </c:multiLvlStrCache>
            </c:multiLvlStrRef>
          </c:cat>
          <c:val>
            <c:numRef>
              <c:f>Sheet1!$B$2:$B$16</c:f>
              <c:numCache>
                <c:formatCode>General</c:formatCode>
                <c:ptCount val="15"/>
                <c:pt idx="0">
                  <c:v>0.99803</c:v>
                </c:pt>
                <c:pt idx="1">
                  <c:v>0.998</c:v>
                </c:pt>
                <c:pt idx="2">
                  <c:v>0.99795</c:v>
                </c:pt>
                <c:pt idx="3">
                  <c:v>0.99791</c:v>
                </c:pt>
                <c:pt idx="4">
                  <c:v>0.99781</c:v>
                </c:pt>
                <c:pt idx="5">
                  <c:v>0.99772</c:v>
                </c:pt>
                <c:pt idx="6">
                  <c:v>0.99767</c:v>
                </c:pt>
                <c:pt idx="7">
                  <c:v>0.99766</c:v>
                </c:pt>
                <c:pt idx="8">
                  <c:v>0.99766</c:v>
                </c:pt>
                <c:pt idx="9">
                  <c:v>0.99766</c:v>
                </c:pt>
                <c:pt idx="10">
                  <c:v>0.99767</c:v>
                </c:pt>
                <c:pt idx="11">
                  <c:v>0.99769</c:v>
                </c:pt>
                <c:pt idx="12">
                  <c:v>0.99778</c:v>
                </c:pt>
                <c:pt idx="13">
                  <c:v>0.99857</c:v>
                </c:pt>
                <c:pt idx="14">
                  <c:v>0.99886</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C6B8A"/>
                    </a:solidFill>
                    <a:latin typeface="+mn-lt"/>
                  </a:defRPr>
                </a:pPr>
                <a:r>
                  <a:rPr sz="1200" b="0" i="0" u="none" strike="noStrike">
                    <a:solidFill>
                      <a:srgbClr val="5C6B8A"/>
                    </a:solidFill>
                    <a:latin typeface="+mn-lt"/>
                  </a:rPr>
                  <a:t>step multiplier (1 = textbook schedule)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0.9995"/>
          <c:min val="0.9975"/>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calibrated log-loss</c:v>
                </c:pt>
              </c:strCache>
            </c:strRef>
          </c:tx>
          <c:spPr>
            <a:solidFill>
              <a:srgbClr val="0F4C81"/>
            </a:solidFill>
            <a:effectLst/>
          </c:spPr>
          <c:invertIfNegative val="0"/>
          <c:dLbls>
            <c:numFmt formatCode="0.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dPt>
            <c:idx val="0"/>
            <c:invertIfNegative val="0"/>
            <c:bubble3D val="0"/>
            <c:spPr>
              <a:solidFill>
                <a:srgbClr val="0F4C81"/>
              </a:solidFill>
              <a:effectLst/>
            </c:spPr>
          </c:dPt>
          <c:dPt>
            <c:idx val="1"/>
            <c:invertIfNegative val="0"/>
            <c:bubble3D val="0"/>
            <c:spPr>
              <a:solidFill>
                <a:srgbClr val="C1121F"/>
              </a:solidFill>
              <a:effectLst/>
            </c:spPr>
          </c:dPt>
          <c:dPt>
            <c:idx val="2"/>
            <c:invertIfNegative val="0"/>
            <c:bubble3D val="0"/>
            <c:spPr>
              <a:solidFill>
                <a:srgbClr val="0F4C81"/>
              </a:solidFill>
              <a:effectLst/>
            </c:spPr>
          </c:dPt>
          <c:dPt>
            <c:idx val="3"/>
            <c:invertIfNegative val="0"/>
            <c:bubble3D val="0"/>
            <c:spPr>
              <a:solidFill>
                <a:srgbClr val="0F4C81"/>
              </a:solidFill>
              <a:effectLst/>
            </c:spPr>
          </c:dPt>
          <c:dPt>
            <c:idx val="4"/>
            <c:invertIfNegative val="0"/>
            <c:bubble3D val="0"/>
            <c:spPr>
              <a:solidFill>
                <a:srgbClr val="0F4C81"/>
              </a:solidFill>
              <a:effectLst/>
            </c:spPr>
          </c:dPt>
          <c:dPt>
            <c:idx val="5"/>
            <c:invertIfNegative val="0"/>
            <c:bubble3D val="0"/>
            <c:spPr>
              <a:solidFill>
                <a:srgbClr val="C1121F"/>
              </a:solidFill>
              <a:effectLst/>
            </c:spPr>
          </c:dPt>
          <c:dPt>
            <c:idx val="6"/>
            <c:invertIfNegative val="0"/>
            <c:bubble3D val="0"/>
            <c:spPr>
              <a:solidFill>
                <a:srgbClr val="C1121F"/>
              </a:solidFill>
              <a:effectLst/>
            </c:spPr>
          </c:dPt>
          <c:dPt>
            <c:idx val="7"/>
            <c:invertIfNegative val="0"/>
            <c:bubble3D val="0"/>
            <c:spPr>
              <a:solidFill>
                <a:srgbClr val="C1121F"/>
              </a:solidFill>
              <a:effectLst/>
            </c:spPr>
          </c:dPt>
          <c:dPt>
            <c:idx val="8"/>
            <c:invertIfNegative val="0"/>
            <c:bubble3D val="0"/>
            <c:spPr>
              <a:solidFill>
                <a:srgbClr val="C1121F"/>
              </a:solidFill>
              <a:effectLst/>
            </c:spPr>
          </c:dPt>
          <c:cat>
            <c:multiLvlStrRef>
              <c:f>Sheet1!$A$2:$A$10</c:f>
              <c:multiLvlStrCache>
                <c:ptCount val="9"/>
                <c:lvl>
                  <c:pt idx="0">
                    <c:v>Hedge</c:v>
                  </c:pt>
                  <c:pt idx="1">
                    <c:v>PSC</c:v>
                  </c:pt>
                  <c:pt idx="2">
                    <c:v>OGD</c:v>
                  </c:pt>
                  <c:pt idx="3">
                    <c:v>FTRL</c:v>
                  </c:pt>
                  <c:pt idx="4">
                    <c:v>Uniform average</c:v>
                  </c:pt>
                  <c:pt idx="5">
                    <c:v>B365C</c:v>
                  </c:pt>
                  <c:pt idx="6">
                    <c:v>BWC</c:v>
                  </c:pt>
                  <c:pt idx="7">
                    <c:v>VC_BV</c:v>
                  </c:pt>
                  <c:pt idx="8">
                    <c:v>WH</c:v>
                  </c:pt>
                </c:lvl>
              </c:multiLvlStrCache>
            </c:multiLvlStrRef>
          </c:cat>
          <c:val>
            <c:numRef>
              <c:f>Sheet1!$B$2:$B$10</c:f>
              <c:numCache>
                <c:formatCode>General</c:formatCode>
                <c:ptCount val="9"/>
                <c:pt idx="0">
                  <c:v>0.99656</c:v>
                </c:pt>
                <c:pt idx="1">
                  <c:v>0.99685</c:v>
                </c:pt>
                <c:pt idx="2">
                  <c:v>0.99693</c:v>
                </c:pt>
                <c:pt idx="3">
                  <c:v>0.99773</c:v>
                </c:pt>
                <c:pt idx="4">
                  <c:v>0.99814</c:v>
                </c:pt>
                <c:pt idx="5">
                  <c:v>0.9991</c:v>
                </c:pt>
                <c:pt idx="6">
                  <c:v>0.99917</c:v>
                </c:pt>
                <c:pt idx="7">
                  <c:v>1.00026</c:v>
                </c:pt>
                <c:pt idx="8">
                  <c:v>1.00048</c:v>
                </c:pt>
              </c:numCache>
            </c:numRef>
          </c:val>
        </c:ser>
        <c:dLbls>
          <c:numFmt formatCode="0.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1.0012"/>
          <c:min val="0.996"/>
        </c:scaling>
        <c:delete val="0"/>
        <c:axPos val="b"/>
        <c:majorGridlines>
          <c:spPr>
            <a:ln w="1270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opening (13)</c:v>
                </c:pt>
              </c:strCache>
            </c:strRef>
          </c:tx>
          <c:spPr>
            <a:solidFill>
              <a:srgbClr val="C1121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Sheet1!$B$2:$B$5</c:f>
              <c:numCache>
                <c:formatCode>General</c:formatCode>
                <c:ptCount val="4"/>
                <c:pt idx="0">
                  <c:v>1.00076</c:v>
                </c:pt>
                <c:pt idx="1">
                  <c:v>1.00019</c:v>
                </c:pt>
                <c:pt idx="2">
                  <c:v>1.00078</c:v>
                </c:pt>
                <c:pt idx="3">
                  <c:v>1.00077</c:v>
                </c:pt>
              </c:numCache>
            </c:numRef>
          </c:val>
        </c:ser>
        <c:ser>
          <c:idx val="1"/>
          <c:order val="1"/>
          <c:tx>
            <c:strRef>
              <c:f>Sheet1!$C$1</c:f>
              <c:strCache>
                <c:ptCount val="1"/>
                <c:pt idx="0">
                  <c:v>all (26)</c:v>
                </c:pt>
              </c:strCache>
            </c:strRef>
          </c:tx>
          <c:spPr>
            <a:solidFill>
              <a:srgbClr val="5C6B8A"/>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Sheet1!$C$2:$C$5</c:f>
              <c:numCache>
                <c:formatCode>General</c:formatCode>
                <c:ptCount val="4"/>
                <c:pt idx="0">
                  <c:v>0.99746</c:v>
                </c:pt>
                <c:pt idx="1">
                  <c:v>0.9969</c:v>
                </c:pt>
                <c:pt idx="2">
                  <c:v>0.99841</c:v>
                </c:pt>
                <c:pt idx="3">
                  <c:v>0.99886</c:v>
                </c:pt>
              </c:numCache>
            </c:numRef>
          </c:val>
        </c:ser>
        <c:ser>
          <c:idx val="2"/>
          <c:order val="2"/>
          <c:tx>
            <c:strRef>
              <c:f>Sheet1!$D$1</c:f>
              <c:strCache>
                <c:ptCount val="1"/>
                <c:pt idx="0">
                  <c:v>closing (13)</c:v>
                </c:pt>
              </c:strCache>
            </c:strRef>
          </c:tx>
          <c:spPr>
            <a:solidFill>
              <a:srgbClr val="0F4C81"/>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Sheet1!$D$2:$D$5</c:f>
              <c:numCache>
                <c:formatCode>General</c:formatCode>
                <c:ptCount val="4"/>
                <c:pt idx="0">
                  <c:v>0.99723</c:v>
                </c:pt>
                <c:pt idx="1">
                  <c:v>0.99711</c:v>
                </c:pt>
                <c:pt idx="2">
                  <c:v>0.99761</c:v>
                </c:pt>
                <c:pt idx="3">
                  <c:v>0.99748</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1.002"/>
          <c:min val="0.996"/>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C6B8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closing advantage</c:v>
                </c:pt>
              </c:strCache>
            </c:strRef>
          </c:tx>
          <c:spPr>
            <a:solidFill>
              <a:srgbClr val="C7D2DE"/>
            </a:solidFill>
            <a:effectLst/>
          </c:spPr>
          <c:invertIfNegative val="0"/>
          <c:dLbls>
            <c:numFmt formatCode="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dPt>
            <c:idx val="0"/>
            <c:invertIfNegative val="0"/>
            <c:bubble3D val="0"/>
            <c:spPr>
              <a:solidFill>
                <a:srgbClr val="C7D2DE"/>
              </a:solidFill>
              <a:effectLst/>
            </c:spPr>
          </c:dPt>
          <c:dPt>
            <c:idx val="1"/>
            <c:invertIfNegative val="0"/>
            <c:bubble3D val="0"/>
            <c:spPr>
              <a:solidFill>
                <a:srgbClr val="9FB3C8"/>
              </a:solidFill>
              <a:effectLst/>
            </c:spPr>
          </c:dPt>
          <c:dPt>
            <c:idx val="2"/>
            <c:invertIfNegative val="0"/>
            <c:bubble3D val="0"/>
            <c:spPr>
              <a:solidFill>
                <a:srgbClr val="6E8CA8"/>
              </a:solidFill>
              <a:effectLst/>
            </c:spPr>
          </c:dPt>
          <c:dPt>
            <c:idx val="3"/>
            <c:invertIfNegative val="0"/>
            <c:bubble3D val="0"/>
            <c:spPr>
              <a:solidFill>
                <a:srgbClr val="3D6B8E"/>
              </a:solidFill>
              <a:effectLst/>
            </c:spPr>
          </c:dPt>
          <c:dPt>
            <c:idx val="4"/>
            <c:invertIfNegative val="0"/>
            <c:bubble3D val="0"/>
            <c:spPr>
              <a:solidFill>
                <a:srgbClr val="0F4C81"/>
              </a:solidFill>
              <a:effectLst/>
            </c:spPr>
          </c:dPt>
          <c:cat>
            <c:multiLvlStrRef>
              <c:f>Sheet1!$A$2:$A$6</c:f>
              <c:multiLvlStrCache>
                <c:ptCount val="5"/>
                <c:lvl>
                  <c:pt idx="0">
                    <c:v>Q1
quiet</c:v>
                  </c:pt>
                  <c:pt idx="1">
                    <c:v>Q2</c:v>
                  </c:pt>
                  <c:pt idx="2">
                    <c:v>Q3</c:v>
                  </c:pt>
                  <c:pt idx="3">
                    <c:v>Q4</c:v>
                  </c:pt>
                  <c:pt idx="4">
                    <c:v>Q5
noisy</c:v>
                  </c:pt>
                </c:lvl>
              </c:multiLvlStrCache>
            </c:multiLvlStrRef>
          </c:cat>
          <c:val>
            <c:numRef>
              <c:f>Sheet1!$B$2:$B$6</c:f>
              <c:numCache>
                <c:formatCode>General</c:formatCode>
                <c:ptCount val="5"/>
                <c:pt idx="0">
                  <c:v>0.0002706918386334</c:v>
                </c:pt>
                <c:pt idx="1">
                  <c:v>0.0005100357630526</c:v>
                </c:pt>
                <c:pt idx="2">
                  <c:v>0.001442340715369</c:v>
                </c:pt>
                <c:pt idx="3">
                  <c:v>0.0040835425690032</c:v>
                </c:pt>
                <c:pt idx="4">
                  <c:v>0.0115173289615689</c:v>
                </c:pt>
              </c:numCache>
            </c:numRef>
          </c:val>
        </c:ser>
        <c:dLbls>
          <c:numFmt formatCode="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log10 growth</c:v>
                </c:pt>
              </c:strCache>
            </c:strRef>
          </c:tx>
          <c:spPr>
            <a:solidFill>
              <a:srgbClr val="2F7D5C"/>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dPt>
            <c:idx val="0"/>
            <c:invertIfNegative val="0"/>
            <c:bubble3D val="0"/>
            <c:spPr>
              <a:solidFill>
                <a:srgbClr val="2F7D5C"/>
              </a:solidFill>
              <a:effectLst/>
            </c:spPr>
          </c:dPt>
          <c:dPt>
            <c:idx val="1"/>
            <c:invertIfNegative val="0"/>
            <c:bubble3D val="0"/>
            <c:spPr>
              <a:solidFill>
                <a:srgbClr val="2F7D5C"/>
              </a:solidFill>
              <a:effectLst/>
            </c:spPr>
          </c:dPt>
          <c:dPt>
            <c:idx val="2"/>
            <c:invertIfNegative val="0"/>
            <c:bubble3D val="0"/>
            <c:spPr>
              <a:solidFill>
                <a:srgbClr val="94A3B8"/>
              </a:solidFill>
              <a:effectLst/>
            </c:spPr>
          </c:dPt>
          <c:dPt>
            <c:idx val="3"/>
            <c:invertIfNegative val="0"/>
            <c:bubble3D val="0"/>
            <c:spPr>
              <a:solidFill>
                <a:srgbClr val="94A3B8"/>
              </a:solidFill>
              <a:effectLst/>
            </c:spPr>
          </c:dPt>
          <c:dPt>
            <c:idx val="4"/>
            <c:invertIfNegative val="0"/>
            <c:bubble3D val="0"/>
            <c:spPr>
              <a:solidFill>
                <a:srgbClr val="94A3B8"/>
              </a:solidFill>
              <a:effectLst/>
            </c:spPr>
          </c:dPt>
          <c:dPt>
            <c:idx val="5"/>
            <c:invertIfNegative val="0"/>
            <c:bubble3D val="0"/>
            <c:spPr>
              <a:solidFill>
                <a:srgbClr val="94A3B8"/>
              </a:solidFill>
              <a:effectLst/>
            </c:spPr>
          </c:dPt>
          <c:dPt>
            <c:idx val="6"/>
            <c:invertIfNegative val="0"/>
            <c:bubble3D val="0"/>
            <c:spPr>
              <a:solidFill>
                <a:srgbClr val="94A3B8"/>
              </a:solidFill>
              <a:effectLst/>
            </c:spPr>
          </c:dPt>
          <c:dPt>
            <c:idx val="7"/>
            <c:invertIfNegative val="0"/>
            <c:bubble3D val="0"/>
            <c:spPr>
              <a:solidFill>
                <a:srgbClr val="C1121F"/>
              </a:solidFill>
              <a:effectLst/>
            </c:spPr>
          </c:dPt>
          <c:dPt>
            <c:idx val="8"/>
            <c:invertIfNegative val="0"/>
            <c:bubble3D val="0"/>
            <c:spPr>
              <a:solidFill>
                <a:srgbClr val="C1121F"/>
              </a:solidFill>
              <a:effectLst/>
            </c:spPr>
          </c:dPt>
          <c:cat>
            <c:multiLvlStrRef>
              <c:f>Sheet1!$A$2:$A$10</c:f>
              <c:multiLvlStrCache>
                <c:ptCount val="9"/>
                <c:lvl>
                  <c:pt idx="0">
                    <c:v>WHC</c:v>
                  </c:pt>
                  <c:pt idx="1">
                    <c:v>IW</c:v>
                  </c:pt>
                  <c:pt idx="2">
                    <c:v>BWC</c:v>
                  </c:pt>
                  <c:pt idx="3">
                    <c:v>BW</c:v>
                  </c:pt>
                  <c:pt idx="4">
                    <c:v>VC_BVC</c:v>
                  </c:pt>
                  <c:pt idx="5">
                    <c:v>WH</c:v>
                  </c:pt>
                  <c:pt idx="6">
                    <c:v>B365C</c:v>
                  </c:pt>
                  <c:pt idx="7">
                    <c:v>PS</c:v>
                  </c:pt>
                  <c:pt idx="8">
                    <c:v>PSC</c:v>
                  </c:pt>
                </c:lvl>
              </c:multiLvlStrCache>
            </c:multiLvlStrRef>
          </c:cat>
          <c:val>
            <c:numRef>
              <c:f>Sheet1!$B$2:$B$10</c:f>
              <c:numCache>
                <c:formatCode>General</c:formatCode>
                <c:ptCount val="9"/>
                <c:pt idx="0">
                  <c:v>1.932</c:v>
                </c:pt>
                <c:pt idx="1">
                  <c:v>1.378</c:v>
                </c:pt>
                <c:pt idx="2">
                  <c:v>0.428</c:v>
                </c:pt>
                <c:pt idx="3">
                  <c:v>0.303</c:v>
                </c:pt>
                <c:pt idx="4">
                  <c:v>0.283</c:v>
                </c:pt>
                <c:pt idx="5">
                  <c:v>0.204</c:v>
                </c:pt>
                <c:pt idx="6">
                  <c:v>0.185</c:v>
                </c:pt>
                <c:pt idx="7">
                  <c:v>-0.678</c:v>
                </c:pt>
                <c:pt idx="8">
                  <c:v>-3.097</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2"/>
          <c:min val="-4"/>
        </c:scaling>
        <c:delete val="0"/>
        <c:axPos val="l"/>
        <c:majorGridlines>
          <c:spPr>
            <a:ln w="12700" cap="flat">
              <a:solidFill>
                <a:srgbClr val="E2E8F0"/>
              </a:solidFill>
              <a:prstDash val="solid"/>
              <a:round/>
            </a:ln>
          </c:spPr>
        </c:majorGridlines>
        <c:title>
          <c:tx>
            <c:rich>
              <a:bodyPr/>
              <a:lstStyle/>
              <a:p>
                <a:pPr>
                  <a:defRPr sz="1200" b="0" i="0" u="none" strike="noStrike">
                    <a:solidFill>
                      <a:srgbClr val="5C6B8A"/>
                    </a:solidFill>
                    <a:latin typeface="+mn-lt"/>
                  </a:defRPr>
                </a:pPr>
                <a:r>
                  <a:rPr sz="1200" b="0" i="0" u="none" strike="noStrike">
                    <a:solidFill>
                      <a:srgbClr val="5C6B8A"/>
                    </a:solidFill>
                    <a:latin typeface="+mn-lt"/>
                  </a:rPr>
                  <a:t>log10 (final bankroll / stake)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Greeting, then straight to the question. Twenty minutes, so no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thesis in one question. Stress what is NOT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expert is a firm with analysts and a live order flow: one part in a thousand against this is large. The three obstacles explain Sleeping Experts, de-vigging and the Kelly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of the work. Grey boxes prepare the data, blue boxes are the three online stages. Do not explain each box; the next slides take the important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cells are quotes. Point at a gap: that expert's weight does not move while it sleeps. For Hedge the awake group is rescaled back to its previous total mass after each update: that rescaling is what the guarantee rests on (slide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uniformity is the point: one recipe, three unknowns. Do not derive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rule exists because breaking it produced a wrong conclusion at some point. This is where the reliability of everything that follows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eta sits decides the direction: one gradient for OGD, the whole accumulated loss for FTRL.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 is better. The tests are paired on shared rounds, which is why the bar gaps differ from the quoted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generally useful finding: it tells anyone applying this elsewhere what to check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for the obvious objection: match difficulty is NOT monotone across the quintiles.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Betfair line yourself, first. It is the question they will ask, and the next slide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two obvious objections at once: the results do not depend on the sleeping-experts reduction, and Betfair is not shown to be better than Pinnacle. Calibrated log-loss, lower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edge sits at the soft houses and is absent at the sharp one. With Hedge, the better forecaster, the profits grow (WHC 39x to 86x, IW 8x to 24x) and Hedge bets significantly better than OGD against four of the eleven targets, never worse; the Pinnacle losses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high point. Any comparison against a uniform baseline should now carry this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methodological finding of the same kind as the 42%: a number from theory, checked against the data, exposed an implementation that looked right. The earlier explanation of the Aggregating Algorithm's failure (Pinnacle disappearing) was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slide. The pattern matters more than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points, about twelve seconds each. Nothing new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feed answers the thesis's own main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Let them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lstStyle>
            <a:lvl1pPr algn="ctr" indent="0" marL="0">
              <a:buNone/>
              <a:defRPr lang="en-US" sz="1700" dirty="0">
                <a:solidFill>
                  <a:srgbClr val="CBD5E1"/>
                </a:solidFill>
              </a:defRPr>
            </a:lvl1pPr>
          </a:lstStyle>
          <a:p>
            <a:pPr algn="ct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ANVAS">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lstStyle>
            <a:lvl1pPr algn="l" indent="0" marL="0">
              <a:buNone/>
              <a:defRPr lang="en-US" sz="1700" dirty="0">
                <a:solidFill>
                  <a:srgbClr val="CBD5E1"/>
                </a:solidFill>
              </a:defRPr>
            </a:lvl1pPr>
          </a:lstStyle>
          <a:p>
            <a:pPr algn="l" indent="0" marL="0">
              <a:buNone/>
            </a:pPr>
            <a:endParaRPr lang="en-US" sz="1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nchor="b"/>
          <a:lstStyle/>
          <a:p>
            <a:pPr algn="ctr" indent="0" marL="0">
              <a:buNone/>
            </a:pPr>
            <a:r>
              <a:rPr lang="en-US" sz="4000" b="1" dirty="0">
                <a:solidFill>
                  <a:schemeClr val="bg1"/>
                </a:solidFill>
              </a:rPr>
              <a:t>Online Convex Optimization based tuning</a:t>
            </a:r>
            <a:endParaRPr lang="en-US" sz="4000" dirty="0"/>
          </a:p>
          <a:p>
            <a:pPr algn="ctr" indent="0" marL="0">
              <a:buNone/>
            </a:pPr>
            <a:r>
              <a:rPr lang="en-US" sz="4000" b="1" dirty="0">
                <a:solidFill>
                  <a:schemeClr val="bg1"/>
                </a:solidFill>
              </a:rPr>
              <a:t>of Mixture of Experts</a:t>
            </a:r>
            <a:endParaRPr lang="en-US" sz="4000" dirty="0"/>
          </a:p>
          <a:p>
            <a:pPr algn="ctr" indent="0" marL="0">
              <a:buNone/>
            </a:pPr>
            <a:r>
              <a:rPr lang="en-US" sz="4000" b="1" dirty="0">
                <a:solidFill>
                  <a:schemeClr val="bg1"/>
                </a:solidFill>
              </a:rPr>
              <a:t>for Sports Outcome Prediction</a:t>
            </a: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nchor="t"/>
          <a:lstStyle/>
          <a:p>
            <a:pPr algn="ctr" indent="0" marL="0">
              <a:buNone/>
            </a:pPr>
            <a:r>
              <a:rPr lang="en-US" sz="1900" b="1" dirty="0">
                <a:solidFill>
                  <a:srgbClr val="FFFFFF"/>
                </a:solidFill>
              </a:rPr>
              <a:t>Stefanos Mousadis</a:t>
            </a:r>
            <a:endParaRPr lang="en-US" sz="1700" dirty="0"/>
          </a:p>
          <a:p>
            <a:pPr algn="ctr" indent="0" marL="0">
              <a:buNone/>
            </a:pPr>
            <a:r>
              <a:rPr lang="en-US" sz="1700" dirty="0">
                <a:solidFill>
                  <a:srgbClr val="CBD5E1"/>
                </a:solidFill>
              </a:rPr>
              <a:t>Supervisor: Prof. Thrasyvoulos Spyropoulos</a:t>
            </a:r>
            <a:endParaRPr lang="en-US" sz="1700" dirty="0"/>
          </a:p>
          <a:p>
            <a:pPr algn="ctr" indent="0" marL="0">
              <a:buNone/>
            </a:pPr>
            <a:r>
              <a:rPr lang="en-US" sz="1700" dirty="0">
                <a:solidFill>
                  <a:srgbClr val="CBD5E1"/>
                </a:solidFill>
              </a:rPr>
              <a:t>School of Electrical and Computer Engineering · Technical University of Crete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nchor="ctr"/>
          <a:lstStyle/>
          <a:p>
            <a:pPr algn="l" indent="0" marL="0">
              <a:buNone/>
            </a:pPr>
            <a:r>
              <a:rPr lang="en-US" sz="3400" b="1" dirty="0">
                <a:solidFill>
                  <a:schemeClr val="bg1"/>
                </a:solidFill>
              </a:rPr>
              <a:t>Can a mixture of bookmakers beat</a:t>
            </a:r>
            <a:endParaRPr lang="en-US" sz="3400" dirty="0"/>
          </a:p>
          <a:p>
            <a:pPr algn="l" indent="0" marL="0">
              <a:buNone/>
            </a:pPr>
            <a:r>
              <a:rPr lang="en-US" sz="3400" b="1" dirty="0">
                <a:solidFill>
                  <a:schemeClr val="bg1"/>
                </a:solidFill>
              </a:rPr>
              <a:t>the bookmakers themselves?</a:t>
            </a: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nchor="t"/>
          <a:lstStyle/>
          <a:p>
            <a:pPr algn="l" indent="0" marL="0">
              <a:buNone/>
            </a:pPr>
            <a:r>
              <a:rPr lang="en-US" sz="1700" dirty="0">
                <a:solidFill>
                  <a:srgbClr val="CBD5E1"/>
                </a:solidFill>
              </a:rPr>
              <a:t>No model of football. No team form, no injuries, no home advantage. Only the prices the market publishes, combined online, match by match.</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A strong baseline, and three obstacles</a:t>
            </a:r>
            <a:endParaRPr lang="en-US" sz="3000" dirty="0"/>
          </a:p>
        </p:txBody>
      </p:sp>
      <p:sp>
        <p:nvSpPr>
          <p:cNvPr id="3" name="Text 1"/>
          <p:cNvSpPr txBox="1"/>
          <p:nvPr/>
        </p:nvSpPr>
        <p:spPr>
          <a:xfrm>
            <a:off x="640080" y="1325880"/>
            <a:ext cx="3474720" cy="685800"/>
          </a:xfrm>
          <a:prstGeom prst="rect">
            <a:avLst/>
          </a:prstGeom>
          <a:noFill/>
          <a:ln/>
        </p:spPr>
        <p:txBody>
          <a:bodyPr wrap="square" lIns="0" tIns="0" rIns="0" bIns="0" rtlCol="0" anchor="b"/>
          <a:lstStyle/>
          <a:p>
            <a:pPr algn="l" indent="0" marL="0">
              <a:buNone/>
            </a:pPr>
            <a:r>
              <a:rPr lang="en-US" sz="3800" b="1" dirty="0">
                <a:solidFill>
                  <a:schemeClr val="accent1"/>
                </a:solidFill>
              </a:rPr>
              <a:t>26</a:t>
            </a:r>
            <a:endParaRPr lang="en-US" sz="3800" dirty="0"/>
          </a:p>
        </p:txBody>
      </p:sp>
      <p:sp>
        <p:nvSpPr>
          <p:cNvPr id="4" name="Text 2"/>
          <p:cNvSpPr txBox="1"/>
          <p:nvPr/>
        </p:nvSpPr>
        <p:spPr>
          <a:xfrm>
            <a:off x="640080" y="2029968"/>
            <a:ext cx="3474720" cy="411480"/>
          </a:xfrm>
          <a:prstGeom prst="rect">
            <a:avLst/>
          </a:prstGeom>
          <a:noFill/>
          <a:ln/>
        </p:spPr>
        <p:txBody>
          <a:bodyPr wrap="square" lIns="0" tIns="0" rIns="0" bIns="0" rtlCol="0" anchor="t"/>
          <a:lstStyle/>
          <a:p>
            <a:pPr algn="l" indent="0" marL="0">
              <a:buNone/>
            </a:pPr>
            <a:r>
              <a:rPr lang="en-US" sz="1300" dirty="0">
                <a:solidFill>
                  <a:schemeClr val="accent5"/>
                </a:solidFill>
              </a:rPr>
              <a:t>experts: 13 bookmakers, opening and closing</a:t>
            </a:r>
            <a:endParaRPr lang="en-US" sz="1300" dirty="0"/>
          </a:p>
        </p:txBody>
      </p:sp>
      <p:sp>
        <p:nvSpPr>
          <p:cNvPr id="5" name="Text 3"/>
          <p:cNvSpPr txBox="1"/>
          <p:nvPr/>
        </p:nvSpPr>
        <p:spPr>
          <a:xfrm>
            <a:off x="4297680" y="1325880"/>
            <a:ext cx="3474720" cy="685800"/>
          </a:xfrm>
          <a:prstGeom prst="rect">
            <a:avLst/>
          </a:prstGeom>
          <a:noFill/>
          <a:ln/>
        </p:spPr>
        <p:txBody>
          <a:bodyPr wrap="square" lIns="0" tIns="0" rIns="0" bIns="0" rtlCol="0" anchor="b"/>
          <a:lstStyle/>
          <a:p>
            <a:pPr algn="l" indent="0" marL="0">
              <a:buNone/>
            </a:pPr>
            <a:r>
              <a:rPr lang="en-US" sz="3800" b="1" dirty="0">
                <a:solidFill>
                  <a:schemeClr val="accent1"/>
                </a:solidFill>
              </a:rPr>
              <a:t>76,584</a:t>
            </a:r>
            <a:endParaRPr lang="en-US" sz="3800" dirty="0"/>
          </a:p>
        </p:txBody>
      </p:sp>
      <p:sp>
        <p:nvSpPr>
          <p:cNvPr id="6" name="Text 4"/>
          <p:cNvSpPr txBox="1"/>
          <p:nvPr/>
        </p:nvSpPr>
        <p:spPr>
          <a:xfrm>
            <a:off x="4297680" y="2029968"/>
            <a:ext cx="3474720" cy="411480"/>
          </a:xfrm>
          <a:prstGeom prst="rect">
            <a:avLst/>
          </a:prstGeom>
          <a:noFill/>
          <a:ln/>
        </p:spPr>
        <p:txBody>
          <a:bodyPr wrap="square" lIns="0" tIns="0" rIns="0" bIns="0" rtlCol="0" anchor="t"/>
          <a:lstStyle/>
          <a:p>
            <a:pPr algn="l" indent="0" marL="0">
              <a:buNone/>
            </a:pPr>
            <a:r>
              <a:rPr lang="en-US" sz="1300" dirty="0">
                <a:solidFill>
                  <a:schemeClr val="accent5"/>
                </a:solidFill>
              </a:rPr>
              <a:t>matches, 22 leagues, 10 seasons</a:t>
            </a:r>
            <a:endParaRPr lang="en-US" sz="1300" dirty="0"/>
          </a:p>
        </p:txBody>
      </p:sp>
      <p:sp>
        <p:nvSpPr>
          <p:cNvPr id="7" name="Text 5"/>
          <p:cNvSpPr txBox="1"/>
          <p:nvPr/>
        </p:nvSpPr>
        <p:spPr>
          <a:xfrm>
            <a:off x="7955280" y="1325880"/>
            <a:ext cx="3474720" cy="685800"/>
          </a:xfrm>
          <a:prstGeom prst="rect">
            <a:avLst/>
          </a:prstGeom>
          <a:noFill/>
          <a:ln/>
        </p:spPr>
        <p:txBody>
          <a:bodyPr wrap="square" lIns="0" tIns="0" rIns="0" bIns="0" rtlCol="0" anchor="b"/>
          <a:lstStyle/>
          <a:p>
            <a:pPr algn="l" indent="0" marL="0">
              <a:buNone/>
            </a:pPr>
            <a:r>
              <a:rPr lang="en-US" sz="3800" b="1" dirty="0">
                <a:solidFill>
                  <a:schemeClr val="accent2"/>
                </a:solidFill>
              </a:rPr>
              <a:t>4.4 → 6.0%</a:t>
            </a:r>
            <a:endParaRPr lang="en-US" sz="3800" dirty="0"/>
          </a:p>
        </p:txBody>
      </p:sp>
      <p:sp>
        <p:nvSpPr>
          <p:cNvPr id="8" name="Text 6"/>
          <p:cNvSpPr txBox="1"/>
          <p:nvPr/>
        </p:nvSpPr>
        <p:spPr>
          <a:xfrm>
            <a:off x="7955280" y="2029968"/>
            <a:ext cx="3474720" cy="411480"/>
          </a:xfrm>
          <a:prstGeom prst="rect">
            <a:avLst/>
          </a:prstGeom>
          <a:noFill/>
          <a:ln/>
        </p:spPr>
        <p:txBody>
          <a:bodyPr wrap="square" lIns="0" tIns="0" rIns="0" bIns="0" rtlCol="0" anchor="t"/>
          <a:lstStyle/>
          <a:p>
            <a:pPr algn="l" indent="0" marL="0">
              <a:buNone/>
            </a:pPr>
            <a:r>
              <a:rPr lang="en-US" sz="1300" dirty="0">
                <a:solidFill>
                  <a:schemeClr val="accent5"/>
                </a:solidFill>
              </a:rPr>
              <a:t>the margin they charge, rising over the decade</a:t>
            </a:r>
            <a:endParaRPr lang="en-US" sz="1300" dirty="0"/>
          </a:p>
        </p:txBody>
      </p:sp>
      <p:sp>
        <p:nvSpPr>
          <p:cNvPr id="9" name="circle-1"/>
          <p:cNvSpPr/>
          <p:nvPr/>
        </p:nvSpPr>
        <p:spPr>
          <a:xfrm>
            <a:off x="640080" y="2788920"/>
            <a:ext cx="566928" cy="566928"/>
          </a:xfrm>
          <a:prstGeom prst="ellipse">
            <a:avLst/>
          </a:prstGeom>
          <a:solidFill>
            <a:schemeClr val="accent1"/>
          </a:solidFill>
          <a:ln/>
        </p:spPr>
      </p:sp>
      <p:sp>
        <p:nvSpPr>
          <p:cNvPr id="10" name="Text 8"/>
          <p:cNvSpPr txBox="1"/>
          <p:nvPr/>
        </p:nvSpPr>
        <p:spPr>
          <a:xfrm>
            <a:off x="640080" y="27889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11" name="Text 9"/>
          <p:cNvSpPr txBox="1"/>
          <p:nvPr/>
        </p:nvSpPr>
        <p:spPr>
          <a:xfrm>
            <a:off x="1508760" y="2743200"/>
            <a:ext cx="10058400" cy="365760"/>
          </a:xfrm>
          <a:prstGeom prst="rect">
            <a:avLst/>
          </a:prstGeom>
          <a:noFill/>
          <a:ln/>
        </p:spPr>
        <p:txBody>
          <a:bodyPr wrap="square" lIns="0" tIns="0" rIns="0" bIns="0" rtlCol="0" anchor="t"/>
          <a:lstStyle/>
          <a:p>
            <a:pPr indent="0" marL="0">
              <a:buNone/>
            </a:pPr>
            <a:r>
              <a:rPr lang="en-US" sz="1700" b="1" dirty="0">
                <a:solidFill>
                  <a:schemeClr val="tx2"/>
                </a:solidFill>
              </a:rPr>
              <a:t>Partial coverage</a:t>
            </a:r>
            <a:endParaRPr lang="en-US" sz="1700" dirty="0"/>
          </a:p>
        </p:txBody>
      </p:sp>
      <p:sp>
        <p:nvSpPr>
          <p:cNvPr id="12" name="Text 10"/>
          <p:cNvSpPr txBox="1"/>
          <p:nvPr/>
        </p:nvSpPr>
        <p:spPr>
          <a:xfrm>
            <a:off x="1508760" y="3127248"/>
            <a:ext cx="10058400" cy="685800"/>
          </a:xfrm>
          <a:prstGeom prst="rect">
            <a:avLst/>
          </a:prstGeom>
          <a:noFill/>
          <a:ln/>
        </p:spPr>
        <p:txBody>
          <a:bodyPr wrap="square" lIns="0" tIns="0" rIns="0" bIns="0" rtlCol="0" anchor="t"/>
          <a:lstStyle/>
          <a:p>
            <a:pPr indent="0" marL="0">
              <a:buNone/>
            </a:pPr>
            <a:r>
              <a:rPr lang="en-US" sz="1400" dirty="0">
                <a:solidFill>
                  <a:schemeClr val="accent5"/>
                </a:solidFill>
              </a:rPr>
              <a:t>No bookmaker quotes every match: coverage runs from 6.9% to 99.8%, so the standard expert-advice algorithms do not apply as written.</a:t>
            </a:r>
            <a:endParaRPr lang="en-US" sz="1400" dirty="0"/>
          </a:p>
        </p:txBody>
      </p:sp>
      <p:sp>
        <p:nvSpPr>
          <p:cNvPr id="13" name="circle-2"/>
          <p:cNvSpPr/>
          <p:nvPr/>
        </p:nvSpPr>
        <p:spPr>
          <a:xfrm>
            <a:off x="640080" y="3977640"/>
            <a:ext cx="566928" cy="566928"/>
          </a:xfrm>
          <a:prstGeom prst="ellipse">
            <a:avLst/>
          </a:prstGeom>
          <a:solidFill>
            <a:schemeClr val="accent1"/>
          </a:solidFill>
          <a:ln/>
        </p:spPr>
      </p:sp>
      <p:sp>
        <p:nvSpPr>
          <p:cNvPr id="14" name="Text 12"/>
          <p:cNvSpPr txBox="1"/>
          <p:nvPr/>
        </p:nvSpPr>
        <p:spPr>
          <a:xfrm>
            <a:off x="64008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5" name="Text 13"/>
          <p:cNvSpPr txBox="1"/>
          <p:nvPr/>
        </p:nvSpPr>
        <p:spPr>
          <a:xfrm>
            <a:off x="1508760" y="3931920"/>
            <a:ext cx="10058400" cy="365760"/>
          </a:xfrm>
          <a:prstGeom prst="rect">
            <a:avLst/>
          </a:prstGeom>
          <a:noFill/>
          <a:ln/>
        </p:spPr>
        <p:txBody>
          <a:bodyPr wrap="square" lIns="0" tIns="0" rIns="0" bIns="0" rtlCol="0" anchor="t"/>
          <a:lstStyle/>
          <a:p>
            <a:pPr indent="0" marL="0">
              <a:buNone/>
            </a:pPr>
            <a:r>
              <a:rPr lang="en-US" sz="1700" b="1" dirty="0">
                <a:solidFill>
                  <a:schemeClr val="tx2"/>
                </a:solidFill>
              </a:rPr>
              <a:t>Odds are not probabilities</a:t>
            </a:r>
            <a:endParaRPr lang="en-US" sz="1700" dirty="0"/>
          </a:p>
        </p:txBody>
      </p:sp>
      <p:sp>
        <p:nvSpPr>
          <p:cNvPr id="16" name="Text 14"/>
          <p:cNvSpPr txBox="1"/>
          <p:nvPr/>
        </p:nvSpPr>
        <p:spPr>
          <a:xfrm>
            <a:off x="1508760" y="4315968"/>
            <a:ext cx="10058400" cy="685800"/>
          </a:xfrm>
          <a:prstGeom prst="rect">
            <a:avLst/>
          </a:prstGeom>
          <a:noFill/>
          <a:ln/>
        </p:spPr>
        <p:txBody>
          <a:bodyPr wrap="square" lIns="0" tIns="0" rIns="0" bIns="0" rtlCol="0" anchor="t"/>
          <a:lstStyle/>
          <a:p>
            <a:pPr indent="0" marL="0">
              <a:buNone/>
            </a:pPr>
            <a:r>
              <a:rPr lang="en-US" sz="1400" dirty="0">
                <a:solidFill>
                  <a:schemeClr val="accent5"/>
                </a:solidFill>
              </a:rPr>
              <a:t>They carry a margin, so they sum to more than one. Removing it is a modelling decision, not arithmetic.</a:t>
            </a:r>
            <a:endParaRPr lang="en-US" sz="1400" dirty="0"/>
          </a:p>
        </p:txBody>
      </p:sp>
      <p:sp>
        <p:nvSpPr>
          <p:cNvPr id="17" name="circle-3"/>
          <p:cNvSpPr/>
          <p:nvPr/>
        </p:nvSpPr>
        <p:spPr>
          <a:xfrm>
            <a:off x="640080" y="5166360"/>
            <a:ext cx="566928" cy="566928"/>
          </a:xfrm>
          <a:prstGeom prst="ellipse">
            <a:avLst/>
          </a:prstGeom>
          <a:solidFill>
            <a:schemeClr val="accent1"/>
          </a:solidFill>
          <a:ln/>
        </p:spPr>
      </p:sp>
      <p:sp>
        <p:nvSpPr>
          <p:cNvPr id="18" name="Text 16"/>
          <p:cNvSpPr txBox="1"/>
          <p:nvPr/>
        </p:nvSpPr>
        <p:spPr>
          <a:xfrm>
            <a:off x="640080" y="51663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9" name="Text 17"/>
          <p:cNvSpPr txBox="1"/>
          <p:nvPr/>
        </p:nvSpPr>
        <p:spPr>
          <a:xfrm>
            <a:off x="1508760" y="5120640"/>
            <a:ext cx="10058400" cy="365760"/>
          </a:xfrm>
          <a:prstGeom prst="rect">
            <a:avLst/>
          </a:prstGeom>
          <a:noFill/>
          <a:ln/>
        </p:spPr>
        <p:txBody>
          <a:bodyPr wrap="square" lIns="0" tIns="0" rIns="0" bIns="0" rtlCol="0" anchor="t"/>
          <a:lstStyle/>
          <a:p>
            <a:pPr indent="0" marL="0">
              <a:buNone/>
            </a:pPr>
            <a:r>
              <a:rPr lang="en-US" sz="1700" b="1" dirty="0">
                <a:solidFill>
                  <a:schemeClr val="tx2"/>
                </a:solidFill>
              </a:rPr>
              <a:t>The best log-loss is not the objective</a:t>
            </a:r>
            <a:endParaRPr lang="en-US" sz="1700" dirty="0"/>
          </a:p>
        </p:txBody>
      </p:sp>
      <p:sp>
        <p:nvSpPr>
          <p:cNvPr id="20" name="Text 18"/>
          <p:cNvSpPr txBox="1"/>
          <p:nvPr/>
        </p:nvSpPr>
        <p:spPr>
          <a:xfrm>
            <a:off x="1508760" y="5504688"/>
            <a:ext cx="10058400" cy="685800"/>
          </a:xfrm>
          <a:prstGeom prst="rect">
            <a:avLst/>
          </a:prstGeom>
          <a:noFill/>
          <a:ln/>
        </p:spPr>
        <p:txBody>
          <a:bodyPr wrap="square" lIns="0" tIns="0" rIns="0" bIns="0" rtlCol="0" anchor="t"/>
          <a:lstStyle/>
          <a:p>
            <a:pPr indent="0" marL="0">
              <a:buNone/>
            </a:pPr>
            <a:r>
              <a:rPr lang="en-US" sz="1400" dirty="0">
                <a:solidFill>
                  <a:schemeClr val="accent5"/>
                </a:solidFill>
              </a:rPr>
              <a:t>A better forecast only pays if the gain exceeds the margin. Accuracy and profit are different questions, and both are measured.</a:t>
            </a:r>
            <a:endParaRPr lang="en-US" sz="14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What I built: from raw odds to a bet</a:t>
            </a:r>
            <a:endParaRPr lang="en-US" sz="3000" dirty="0"/>
          </a:p>
        </p:txBody>
      </p:sp>
      <p:sp>
        <p:nvSpPr>
          <p:cNvPr id="3" name="build-0"/>
          <p:cNvSpPr/>
          <p:nvPr/>
        </p:nvSpPr>
        <p:spPr>
          <a:xfrm>
            <a:off x="640080" y="1463040"/>
            <a:ext cx="1600200" cy="2148840"/>
          </a:xfrm>
          <a:prstGeom prst="roundRect">
            <a:avLst>
              <a:gd name="adj" fmla="val 4571"/>
            </a:avLst>
          </a:prstGeom>
          <a:solidFill>
            <a:srgbClr val="F2F5F9"/>
          </a:solidFill>
          <a:ln w="12700">
            <a:solidFill>
              <a:srgbClr val="E2E8F0"/>
            </a:solidFill>
            <a:prstDash val="solid"/>
          </a:ln>
        </p:spPr>
      </p:sp>
      <p:sp>
        <p:nvSpPr>
          <p:cNvPr id="4" name="Text 2"/>
          <p:cNvSpPr txBox="1"/>
          <p:nvPr/>
        </p:nvSpPr>
        <p:spPr>
          <a:xfrm>
            <a:off x="777240" y="1572768"/>
            <a:ext cx="457200" cy="320040"/>
          </a:xfrm>
          <a:prstGeom prst="rect">
            <a:avLst/>
          </a:prstGeom>
          <a:noFill/>
          <a:ln/>
        </p:spPr>
        <p:txBody>
          <a:bodyPr wrap="square" lIns="0" tIns="0" rIns="0" bIns="0" rtlCol="0" anchor="ctr"/>
          <a:lstStyle/>
          <a:p>
            <a:pPr indent="0" marL="0">
              <a:buNone/>
            </a:pPr>
            <a:r>
              <a:rPr lang="en-US" sz="1300" b="1" dirty="0">
                <a:solidFill>
                  <a:schemeClr val="accent5"/>
                </a:solidFill>
              </a:rPr>
              <a:t>1</a:t>
            </a:r>
            <a:endParaRPr lang="en-US" sz="1300" dirty="0"/>
          </a:p>
        </p:txBody>
      </p:sp>
      <p:sp>
        <p:nvSpPr>
          <p:cNvPr id="5" name="Text 3"/>
          <p:cNvSpPr txBox="1"/>
          <p:nvPr/>
        </p:nvSpPr>
        <p:spPr>
          <a:xfrm>
            <a:off x="777240" y="1874520"/>
            <a:ext cx="1371600" cy="365760"/>
          </a:xfrm>
          <a:prstGeom prst="rect">
            <a:avLst/>
          </a:prstGeom>
          <a:noFill/>
          <a:ln/>
        </p:spPr>
        <p:txBody>
          <a:bodyPr wrap="square" lIns="0" tIns="0" rIns="0" bIns="0" rtlCol="0" anchor="t"/>
          <a:lstStyle/>
          <a:p>
            <a:pPr indent="0" marL="0">
              <a:buNone/>
            </a:pPr>
            <a:r>
              <a:rPr lang="en-US" sz="1500" b="1" dirty="0">
                <a:solidFill>
                  <a:schemeClr val="tx2"/>
                </a:solidFill>
              </a:rPr>
              <a:t>Data</a:t>
            </a:r>
            <a:endParaRPr lang="en-US" sz="1500" dirty="0"/>
          </a:p>
        </p:txBody>
      </p:sp>
      <p:sp>
        <p:nvSpPr>
          <p:cNvPr id="6" name="Text 4"/>
          <p:cNvSpPr txBox="1"/>
          <p:nvPr/>
        </p:nvSpPr>
        <p:spPr>
          <a:xfrm>
            <a:off x="777240" y="2286000"/>
            <a:ext cx="1371600" cy="1234440"/>
          </a:xfrm>
          <a:prstGeom prst="rect">
            <a:avLst/>
          </a:prstGeom>
          <a:noFill/>
          <a:ln/>
        </p:spPr>
        <p:txBody>
          <a:bodyPr wrap="square" lIns="0" tIns="0" rIns="0" bIns="0" rtlCol="0" anchor="t"/>
          <a:lstStyle/>
          <a:p>
            <a:pPr indent="0" marL="0">
              <a:buNone/>
            </a:pPr>
            <a:r>
              <a:rPr lang="en-US" sz="1150" dirty="0">
                <a:solidFill>
                  <a:schemeClr val="accent5"/>
                </a:solidFill>
              </a:rPr>
              <a:t>835,550 quotes from football-data.co.uk, 22 leagues, 2016/17 to 2025/26</a:t>
            </a:r>
            <a:endParaRPr lang="en-US" sz="1150" dirty="0"/>
          </a:p>
        </p:txBody>
      </p:sp>
      <p:sp>
        <p:nvSpPr>
          <p:cNvPr id="7" name="Text 5"/>
          <p:cNvSpPr txBox="1"/>
          <p:nvPr/>
        </p:nvSpPr>
        <p:spPr>
          <a:xfrm>
            <a:off x="2240280" y="2286000"/>
            <a:ext cx="256032" cy="411480"/>
          </a:xfrm>
          <a:prstGeom prst="rect">
            <a:avLst/>
          </a:prstGeom>
          <a:noFill/>
          <a:ln/>
        </p:spPr>
        <p:txBody>
          <a:bodyPr wrap="square" lIns="0" tIns="0" rIns="0" bIns="0" rtlCol="0" anchor="ctr"/>
          <a:lstStyle/>
          <a:p>
            <a:pPr algn="ctr" indent="0" marL="0">
              <a:buNone/>
            </a:pPr>
            <a:r>
              <a:rPr lang="en-US" sz="1600" dirty="0">
                <a:solidFill>
                  <a:schemeClr val="accent6"/>
                </a:solidFill>
              </a:rPr>
              <a:t>→</a:t>
            </a:r>
            <a:endParaRPr lang="en-US" sz="1600" dirty="0"/>
          </a:p>
        </p:txBody>
      </p:sp>
      <p:sp>
        <p:nvSpPr>
          <p:cNvPr id="8" name="build-1"/>
          <p:cNvSpPr/>
          <p:nvPr/>
        </p:nvSpPr>
        <p:spPr>
          <a:xfrm>
            <a:off x="2496312" y="1463040"/>
            <a:ext cx="1600200" cy="2148840"/>
          </a:xfrm>
          <a:prstGeom prst="roundRect">
            <a:avLst>
              <a:gd name="adj" fmla="val 4571"/>
            </a:avLst>
          </a:prstGeom>
          <a:solidFill>
            <a:srgbClr val="F2F5F9"/>
          </a:solidFill>
          <a:ln w="12700">
            <a:solidFill>
              <a:srgbClr val="E2E8F0"/>
            </a:solidFill>
            <a:prstDash val="solid"/>
          </a:ln>
        </p:spPr>
      </p:sp>
      <p:sp>
        <p:nvSpPr>
          <p:cNvPr id="9" name="Text 7"/>
          <p:cNvSpPr txBox="1"/>
          <p:nvPr/>
        </p:nvSpPr>
        <p:spPr>
          <a:xfrm>
            <a:off x="2633472" y="1572768"/>
            <a:ext cx="457200" cy="320040"/>
          </a:xfrm>
          <a:prstGeom prst="rect">
            <a:avLst/>
          </a:prstGeom>
          <a:noFill/>
          <a:ln/>
        </p:spPr>
        <p:txBody>
          <a:bodyPr wrap="square" lIns="0" tIns="0" rIns="0" bIns="0" rtlCol="0" anchor="ctr"/>
          <a:lstStyle/>
          <a:p>
            <a:pPr indent="0" marL="0">
              <a:buNone/>
            </a:pPr>
            <a:r>
              <a:rPr lang="en-US" sz="1300" b="1" dirty="0">
                <a:solidFill>
                  <a:schemeClr val="accent5"/>
                </a:solidFill>
              </a:rPr>
              <a:t>2</a:t>
            </a:r>
            <a:endParaRPr lang="en-US" sz="1300" dirty="0"/>
          </a:p>
        </p:txBody>
      </p:sp>
      <p:sp>
        <p:nvSpPr>
          <p:cNvPr id="10" name="Text 8"/>
          <p:cNvSpPr txBox="1"/>
          <p:nvPr/>
        </p:nvSpPr>
        <p:spPr>
          <a:xfrm>
            <a:off x="2633472" y="1874520"/>
            <a:ext cx="1371600" cy="365760"/>
          </a:xfrm>
          <a:prstGeom prst="rect">
            <a:avLst/>
          </a:prstGeom>
          <a:noFill/>
          <a:ln/>
        </p:spPr>
        <p:txBody>
          <a:bodyPr wrap="square" lIns="0" tIns="0" rIns="0" bIns="0" rtlCol="0" anchor="t"/>
          <a:lstStyle/>
          <a:p>
            <a:pPr indent="0" marL="0">
              <a:buNone/>
            </a:pPr>
            <a:r>
              <a:rPr lang="en-US" sz="1500" b="1" dirty="0">
                <a:solidFill>
                  <a:schemeClr val="tx2"/>
                </a:solidFill>
              </a:rPr>
              <a:t>Cleaning</a:t>
            </a:r>
            <a:endParaRPr lang="en-US" sz="1500" dirty="0"/>
          </a:p>
        </p:txBody>
      </p:sp>
      <p:sp>
        <p:nvSpPr>
          <p:cNvPr id="11" name="Text 9"/>
          <p:cNvSpPr txBox="1"/>
          <p:nvPr/>
        </p:nvSpPr>
        <p:spPr>
          <a:xfrm>
            <a:off x="2633472" y="2286000"/>
            <a:ext cx="1371600" cy="1234440"/>
          </a:xfrm>
          <a:prstGeom prst="rect">
            <a:avLst/>
          </a:prstGeom>
          <a:noFill/>
          <a:ln/>
        </p:spPr>
        <p:txBody>
          <a:bodyPr wrap="square" lIns="0" tIns="0" rIns="0" bIns="0" rtlCol="0" anchor="t"/>
          <a:lstStyle/>
          <a:p>
            <a:pPr indent="0" marL="0">
              <a:buNone/>
            </a:pPr>
            <a:r>
              <a:rPr lang="en-US" sz="1150" dirty="0">
                <a:solidFill>
                  <a:schemeClr val="accent5"/>
                </a:solidFill>
              </a:rPr>
              <a:t>787 faulty quotes dropped, VC Bet / BetVictor merged, aggregate columns removed</a:t>
            </a:r>
            <a:endParaRPr lang="en-US" sz="1150" dirty="0"/>
          </a:p>
        </p:txBody>
      </p:sp>
      <p:sp>
        <p:nvSpPr>
          <p:cNvPr id="12" name="Text 10"/>
          <p:cNvSpPr txBox="1"/>
          <p:nvPr/>
        </p:nvSpPr>
        <p:spPr>
          <a:xfrm>
            <a:off x="4096512" y="2286000"/>
            <a:ext cx="256032" cy="411480"/>
          </a:xfrm>
          <a:prstGeom prst="rect">
            <a:avLst/>
          </a:prstGeom>
          <a:noFill/>
          <a:ln/>
        </p:spPr>
        <p:txBody>
          <a:bodyPr wrap="square" lIns="0" tIns="0" rIns="0" bIns="0" rtlCol="0" anchor="ctr"/>
          <a:lstStyle/>
          <a:p>
            <a:pPr algn="ctr" indent="0" marL="0">
              <a:buNone/>
            </a:pPr>
            <a:r>
              <a:rPr lang="en-US" sz="1600" dirty="0">
                <a:solidFill>
                  <a:schemeClr val="accent6"/>
                </a:solidFill>
              </a:rPr>
              <a:t>→</a:t>
            </a:r>
            <a:endParaRPr lang="en-US" sz="1600" dirty="0"/>
          </a:p>
        </p:txBody>
      </p:sp>
      <p:sp>
        <p:nvSpPr>
          <p:cNvPr id="13" name="build-2"/>
          <p:cNvSpPr/>
          <p:nvPr/>
        </p:nvSpPr>
        <p:spPr>
          <a:xfrm>
            <a:off x="4352544" y="1463040"/>
            <a:ext cx="1600200" cy="2148840"/>
          </a:xfrm>
          <a:prstGeom prst="roundRect">
            <a:avLst>
              <a:gd name="adj" fmla="val 4571"/>
            </a:avLst>
          </a:prstGeom>
          <a:solidFill>
            <a:srgbClr val="F2F5F9"/>
          </a:solidFill>
          <a:ln w="12700">
            <a:solidFill>
              <a:srgbClr val="E2E8F0"/>
            </a:solidFill>
            <a:prstDash val="solid"/>
          </a:ln>
        </p:spPr>
      </p:sp>
      <p:sp>
        <p:nvSpPr>
          <p:cNvPr id="14" name="Text 12"/>
          <p:cNvSpPr txBox="1"/>
          <p:nvPr/>
        </p:nvSpPr>
        <p:spPr>
          <a:xfrm>
            <a:off x="4489704" y="1572768"/>
            <a:ext cx="457200" cy="320040"/>
          </a:xfrm>
          <a:prstGeom prst="rect">
            <a:avLst/>
          </a:prstGeom>
          <a:noFill/>
          <a:ln/>
        </p:spPr>
        <p:txBody>
          <a:bodyPr wrap="square" lIns="0" tIns="0" rIns="0" bIns="0" rtlCol="0" anchor="ctr"/>
          <a:lstStyle/>
          <a:p>
            <a:pPr indent="0" marL="0">
              <a:buNone/>
            </a:pPr>
            <a:r>
              <a:rPr lang="en-US" sz="1300" b="1" dirty="0">
                <a:solidFill>
                  <a:schemeClr val="accent5"/>
                </a:solidFill>
              </a:rPr>
              <a:t>3</a:t>
            </a:r>
            <a:endParaRPr lang="en-US" sz="1300" dirty="0"/>
          </a:p>
        </p:txBody>
      </p:sp>
      <p:sp>
        <p:nvSpPr>
          <p:cNvPr id="15" name="Text 13"/>
          <p:cNvSpPr txBox="1"/>
          <p:nvPr/>
        </p:nvSpPr>
        <p:spPr>
          <a:xfrm>
            <a:off x="4489704" y="1874520"/>
            <a:ext cx="1371600" cy="365760"/>
          </a:xfrm>
          <a:prstGeom prst="rect">
            <a:avLst/>
          </a:prstGeom>
          <a:noFill/>
          <a:ln/>
        </p:spPr>
        <p:txBody>
          <a:bodyPr wrap="square" lIns="0" tIns="0" rIns="0" bIns="0" rtlCol="0" anchor="t"/>
          <a:lstStyle/>
          <a:p>
            <a:pPr indent="0" marL="0">
              <a:buNone/>
            </a:pPr>
            <a:r>
              <a:rPr lang="en-US" sz="1500" b="1" dirty="0">
                <a:solidFill>
                  <a:schemeClr val="tx2"/>
                </a:solidFill>
              </a:rPr>
              <a:t>De-vigging</a:t>
            </a:r>
            <a:endParaRPr lang="en-US" sz="1500" dirty="0"/>
          </a:p>
        </p:txBody>
      </p:sp>
      <p:sp>
        <p:nvSpPr>
          <p:cNvPr id="16" name="Text 14"/>
          <p:cNvSpPr txBox="1"/>
          <p:nvPr/>
        </p:nvSpPr>
        <p:spPr>
          <a:xfrm>
            <a:off x="4489704" y="2286000"/>
            <a:ext cx="1371600" cy="1234440"/>
          </a:xfrm>
          <a:prstGeom prst="rect">
            <a:avLst/>
          </a:prstGeom>
          <a:noFill/>
          <a:ln/>
        </p:spPr>
        <p:txBody>
          <a:bodyPr wrap="square" lIns="0" tIns="0" rIns="0" bIns="0" rtlCol="0" anchor="t"/>
          <a:lstStyle/>
          <a:p>
            <a:pPr indent="0" marL="0">
              <a:buNone/>
            </a:pPr>
            <a:r>
              <a:rPr lang="en-US" sz="1150" dirty="0">
                <a:solidFill>
                  <a:schemeClr val="accent5"/>
                </a:solidFill>
              </a:rPr>
              <a:t>proportional and Shin, both carried through every main result</a:t>
            </a:r>
            <a:endParaRPr lang="en-US" sz="1150" dirty="0"/>
          </a:p>
        </p:txBody>
      </p:sp>
      <p:sp>
        <p:nvSpPr>
          <p:cNvPr id="17" name="Text 15"/>
          <p:cNvSpPr txBox="1"/>
          <p:nvPr/>
        </p:nvSpPr>
        <p:spPr>
          <a:xfrm>
            <a:off x="5952744" y="2286000"/>
            <a:ext cx="256032" cy="411480"/>
          </a:xfrm>
          <a:prstGeom prst="rect">
            <a:avLst/>
          </a:prstGeom>
          <a:noFill/>
          <a:ln/>
        </p:spPr>
        <p:txBody>
          <a:bodyPr wrap="square" lIns="0" tIns="0" rIns="0" bIns="0" rtlCol="0" anchor="ctr"/>
          <a:lstStyle/>
          <a:p>
            <a:pPr algn="ctr" indent="0" marL="0">
              <a:buNone/>
            </a:pPr>
            <a:r>
              <a:rPr lang="en-US" sz="1600" dirty="0">
                <a:solidFill>
                  <a:schemeClr val="accent6"/>
                </a:solidFill>
              </a:rPr>
              <a:t>→</a:t>
            </a:r>
            <a:endParaRPr lang="en-US" sz="1600" dirty="0"/>
          </a:p>
        </p:txBody>
      </p:sp>
      <p:sp>
        <p:nvSpPr>
          <p:cNvPr id="18" name="build-3"/>
          <p:cNvSpPr/>
          <p:nvPr/>
        </p:nvSpPr>
        <p:spPr>
          <a:xfrm>
            <a:off x="6208776" y="1463040"/>
            <a:ext cx="1600200" cy="2148840"/>
          </a:xfrm>
          <a:prstGeom prst="roundRect">
            <a:avLst>
              <a:gd name="adj" fmla="val 4571"/>
            </a:avLst>
          </a:prstGeom>
          <a:solidFill>
            <a:srgbClr val="EAF1F8"/>
          </a:solidFill>
          <a:ln w="12700">
            <a:solidFill>
              <a:srgbClr val="E2E8F0"/>
            </a:solidFill>
            <a:prstDash val="solid"/>
          </a:ln>
        </p:spPr>
      </p:sp>
      <p:sp>
        <p:nvSpPr>
          <p:cNvPr id="19" name="Text 17"/>
          <p:cNvSpPr txBox="1"/>
          <p:nvPr/>
        </p:nvSpPr>
        <p:spPr>
          <a:xfrm>
            <a:off x="6345936" y="1572768"/>
            <a:ext cx="457200" cy="320040"/>
          </a:xfrm>
          <a:prstGeom prst="rect">
            <a:avLst/>
          </a:prstGeom>
          <a:noFill/>
          <a:ln/>
        </p:spPr>
        <p:txBody>
          <a:bodyPr wrap="square" lIns="0" tIns="0" rIns="0" bIns="0" rtlCol="0" anchor="ctr"/>
          <a:lstStyle/>
          <a:p>
            <a:pPr indent="0" marL="0">
              <a:buNone/>
            </a:pPr>
            <a:r>
              <a:rPr lang="en-US" sz="1300" b="1" dirty="0">
                <a:solidFill>
                  <a:schemeClr val="accent1"/>
                </a:solidFill>
              </a:rPr>
              <a:t>4</a:t>
            </a:r>
            <a:endParaRPr lang="en-US" sz="1300" dirty="0"/>
          </a:p>
        </p:txBody>
      </p:sp>
      <p:sp>
        <p:nvSpPr>
          <p:cNvPr id="20" name="Text 18"/>
          <p:cNvSpPr txBox="1"/>
          <p:nvPr/>
        </p:nvSpPr>
        <p:spPr>
          <a:xfrm>
            <a:off x="6345936" y="1874520"/>
            <a:ext cx="1371600" cy="365760"/>
          </a:xfrm>
          <a:prstGeom prst="rect">
            <a:avLst/>
          </a:prstGeom>
          <a:noFill/>
          <a:ln/>
        </p:spPr>
        <p:txBody>
          <a:bodyPr wrap="square" lIns="0" tIns="0" rIns="0" bIns="0" rtlCol="0" anchor="t"/>
          <a:lstStyle/>
          <a:p>
            <a:pPr indent="0" marL="0">
              <a:buNone/>
            </a:pPr>
            <a:r>
              <a:rPr lang="en-US" sz="1500" b="1" dirty="0">
                <a:solidFill>
                  <a:schemeClr val="tx2"/>
                </a:solidFill>
              </a:rPr>
              <a:t>Weighting</a:t>
            </a:r>
            <a:endParaRPr lang="en-US" sz="1500" dirty="0"/>
          </a:p>
        </p:txBody>
      </p:sp>
      <p:sp>
        <p:nvSpPr>
          <p:cNvPr id="21" name="Text 19"/>
          <p:cNvSpPr txBox="1"/>
          <p:nvPr/>
        </p:nvSpPr>
        <p:spPr>
          <a:xfrm>
            <a:off x="6345936" y="2286000"/>
            <a:ext cx="1371600" cy="1234440"/>
          </a:xfrm>
          <a:prstGeom prst="rect">
            <a:avLst/>
          </a:prstGeom>
          <a:noFill/>
          <a:ln/>
        </p:spPr>
        <p:txBody>
          <a:bodyPr wrap="square" lIns="0" tIns="0" rIns="0" bIns="0" rtlCol="0" anchor="t"/>
          <a:lstStyle/>
          <a:p>
            <a:pPr indent="0" marL="0">
              <a:buNone/>
            </a:pPr>
            <a:r>
              <a:rPr lang="en-US" sz="1150" dirty="0">
                <a:solidFill>
                  <a:schemeClr val="accent5"/>
                </a:solidFill>
              </a:rPr>
              <a:t>Hedge, OGD, FTRL with Sleeping Experts over 26 experts</a:t>
            </a:r>
            <a:endParaRPr lang="en-US" sz="1150" dirty="0"/>
          </a:p>
        </p:txBody>
      </p:sp>
      <p:sp>
        <p:nvSpPr>
          <p:cNvPr id="22" name="Text 20"/>
          <p:cNvSpPr txBox="1"/>
          <p:nvPr/>
        </p:nvSpPr>
        <p:spPr>
          <a:xfrm>
            <a:off x="7808976" y="2286000"/>
            <a:ext cx="256032" cy="411480"/>
          </a:xfrm>
          <a:prstGeom prst="rect">
            <a:avLst/>
          </a:prstGeom>
          <a:noFill/>
          <a:ln/>
        </p:spPr>
        <p:txBody>
          <a:bodyPr wrap="square" lIns="0" tIns="0" rIns="0" bIns="0" rtlCol="0" anchor="ctr"/>
          <a:lstStyle/>
          <a:p>
            <a:pPr algn="ctr" indent="0" marL="0">
              <a:buNone/>
            </a:pPr>
            <a:r>
              <a:rPr lang="en-US" sz="1600" dirty="0">
                <a:solidFill>
                  <a:schemeClr val="accent6"/>
                </a:solidFill>
              </a:rPr>
              <a:t>→</a:t>
            </a:r>
            <a:endParaRPr lang="en-US" sz="1600" dirty="0"/>
          </a:p>
        </p:txBody>
      </p:sp>
      <p:sp>
        <p:nvSpPr>
          <p:cNvPr id="23" name="build-4"/>
          <p:cNvSpPr/>
          <p:nvPr/>
        </p:nvSpPr>
        <p:spPr>
          <a:xfrm>
            <a:off x="8065008" y="1463040"/>
            <a:ext cx="1600200" cy="2148840"/>
          </a:xfrm>
          <a:prstGeom prst="roundRect">
            <a:avLst>
              <a:gd name="adj" fmla="val 4571"/>
            </a:avLst>
          </a:prstGeom>
          <a:solidFill>
            <a:srgbClr val="EAF1F8"/>
          </a:solidFill>
          <a:ln w="12700">
            <a:solidFill>
              <a:srgbClr val="E2E8F0"/>
            </a:solidFill>
            <a:prstDash val="solid"/>
          </a:ln>
        </p:spPr>
      </p:sp>
      <p:sp>
        <p:nvSpPr>
          <p:cNvPr id="24" name="Text 22"/>
          <p:cNvSpPr txBox="1"/>
          <p:nvPr/>
        </p:nvSpPr>
        <p:spPr>
          <a:xfrm>
            <a:off x="8202168" y="1572768"/>
            <a:ext cx="457200" cy="320040"/>
          </a:xfrm>
          <a:prstGeom prst="rect">
            <a:avLst/>
          </a:prstGeom>
          <a:noFill/>
          <a:ln/>
        </p:spPr>
        <p:txBody>
          <a:bodyPr wrap="square" lIns="0" tIns="0" rIns="0" bIns="0" rtlCol="0" anchor="ctr"/>
          <a:lstStyle/>
          <a:p>
            <a:pPr indent="0" marL="0">
              <a:buNone/>
            </a:pPr>
            <a:r>
              <a:rPr lang="en-US" sz="1300" b="1" dirty="0">
                <a:solidFill>
                  <a:schemeClr val="accent1"/>
                </a:solidFill>
              </a:rPr>
              <a:t>5</a:t>
            </a:r>
            <a:endParaRPr lang="en-US" sz="1300" dirty="0"/>
          </a:p>
        </p:txBody>
      </p:sp>
      <p:sp>
        <p:nvSpPr>
          <p:cNvPr id="25" name="Text 23"/>
          <p:cNvSpPr txBox="1"/>
          <p:nvPr/>
        </p:nvSpPr>
        <p:spPr>
          <a:xfrm>
            <a:off x="8202168" y="1874520"/>
            <a:ext cx="1371600" cy="365760"/>
          </a:xfrm>
          <a:prstGeom prst="rect">
            <a:avLst/>
          </a:prstGeom>
          <a:noFill/>
          <a:ln/>
        </p:spPr>
        <p:txBody>
          <a:bodyPr wrap="square" lIns="0" tIns="0" rIns="0" bIns="0" rtlCol="0" anchor="t"/>
          <a:lstStyle/>
          <a:p>
            <a:pPr indent="0" marL="0">
              <a:buNone/>
            </a:pPr>
            <a:r>
              <a:rPr lang="en-US" sz="1500" b="1" dirty="0">
                <a:solidFill>
                  <a:schemeClr val="tx2"/>
                </a:solidFill>
              </a:rPr>
              <a:t>Calibration</a:t>
            </a:r>
            <a:endParaRPr lang="en-US" sz="1500" dirty="0"/>
          </a:p>
        </p:txBody>
      </p:sp>
      <p:sp>
        <p:nvSpPr>
          <p:cNvPr id="26" name="Text 24"/>
          <p:cNvSpPr txBox="1"/>
          <p:nvPr/>
        </p:nvSpPr>
        <p:spPr>
          <a:xfrm>
            <a:off x="8202168" y="2286000"/>
            <a:ext cx="1371600" cy="1234440"/>
          </a:xfrm>
          <a:prstGeom prst="rect">
            <a:avLst/>
          </a:prstGeom>
          <a:noFill/>
          <a:ln/>
        </p:spPr>
        <p:txBody>
          <a:bodyPr wrap="square" lIns="0" tIns="0" rIns="0" bIns="0" rtlCol="0" anchor="t"/>
          <a:lstStyle/>
          <a:p>
            <a:pPr indent="0" marL="0">
              <a:buNone/>
            </a:pPr>
            <a:r>
              <a:rPr lang="en-US" sz="1150" dirty="0">
                <a:solidFill>
                  <a:schemeClr val="accent5"/>
                </a:solidFill>
              </a:rPr>
              <a:t>online temperature scaling, applied to every series alike</a:t>
            </a:r>
            <a:endParaRPr lang="en-US" sz="1150" dirty="0"/>
          </a:p>
        </p:txBody>
      </p:sp>
      <p:sp>
        <p:nvSpPr>
          <p:cNvPr id="27" name="Text 25"/>
          <p:cNvSpPr txBox="1"/>
          <p:nvPr/>
        </p:nvSpPr>
        <p:spPr>
          <a:xfrm>
            <a:off x="9665208" y="2286000"/>
            <a:ext cx="256032" cy="411480"/>
          </a:xfrm>
          <a:prstGeom prst="rect">
            <a:avLst/>
          </a:prstGeom>
          <a:noFill/>
          <a:ln/>
        </p:spPr>
        <p:txBody>
          <a:bodyPr wrap="square" lIns="0" tIns="0" rIns="0" bIns="0" rtlCol="0" anchor="ctr"/>
          <a:lstStyle/>
          <a:p>
            <a:pPr algn="ctr" indent="0" marL="0">
              <a:buNone/>
            </a:pPr>
            <a:r>
              <a:rPr lang="en-US" sz="1600" dirty="0">
                <a:solidFill>
                  <a:schemeClr val="accent6"/>
                </a:solidFill>
              </a:rPr>
              <a:t>→</a:t>
            </a:r>
            <a:endParaRPr lang="en-US" sz="1600" dirty="0"/>
          </a:p>
        </p:txBody>
      </p:sp>
      <p:sp>
        <p:nvSpPr>
          <p:cNvPr id="28" name="build-5"/>
          <p:cNvSpPr/>
          <p:nvPr/>
        </p:nvSpPr>
        <p:spPr>
          <a:xfrm>
            <a:off x="9921240" y="1463040"/>
            <a:ext cx="1600200" cy="2148840"/>
          </a:xfrm>
          <a:prstGeom prst="roundRect">
            <a:avLst>
              <a:gd name="adj" fmla="val 4571"/>
            </a:avLst>
          </a:prstGeom>
          <a:solidFill>
            <a:srgbClr val="EAF1F8"/>
          </a:solidFill>
          <a:ln w="12700">
            <a:solidFill>
              <a:srgbClr val="E2E8F0"/>
            </a:solidFill>
            <a:prstDash val="solid"/>
          </a:ln>
        </p:spPr>
      </p:sp>
      <p:sp>
        <p:nvSpPr>
          <p:cNvPr id="29" name="Text 27"/>
          <p:cNvSpPr txBox="1"/>
          <p:nvPr/>
        </p:nvSpPr>
        <p:spPr>
          <a:xfrm>
            <a:off x="10058400" y="1572768"/>
            <a:ext cx="457200" cy="320040"/>
          </a:xfrm>
          <a:prstGeom prst="rect">
            <a:avLst/>
          </a:prstGeom>
          <a:noFill/>
          <a:ln/>
        </p:spPr>
        <p:txBody>
          <a:bodyPr wrap="square" lIns="0" tIns="0" rIns="0" bIns="0" rtlCol="0" anchor="ctr"/>
          <a:lstStyle/>
          <a:p>
            <a:pPr indent="0" marL="0">
              <a:buNone/>
            </a:pPr>
            <a:r>
              <a:rPr lang="en-US" sz="1300" b="1" dirty="0">
                <a:solidFill>
                  <a:schemeClr val="accent1"/>
                </a:solidFill>
              </a:rPr>
              <a:t>6</a:t>
            </a:r>
            <a:endParaRPr lang="en-US" sz="1300" dirty="0"/>
          </a:p>
        </p:txBody>
      </p:sp>
      <p:sp>
        <p:nvSpPr>
          <p:cNvPr id="30" name="Text 28"/>
          <p:cNvSpPr txBox="1"/>
          <p:nvPr/>
        </p:nvSpPr>
        <p:spPr>
          <a:xfrm>
            <a:off x="10058400" y="1874520"/>
            <a:ext cx="1371600" cy="365760"/>
          </a:xfrm>
          <a:prstGeom prst="rect">
            <a:avLst/>
          </a:prstGeom>
          <a:noFill/>
          <a:ln/>
        </p:spPr>
        <p:txBody>
          <a:bodyPr wrap="square" lIns="0" tIns="0" rIns="0" bIns="0" rtlCol="0" anchor="t"/>
          <a:lstStyle/>
          <a:p>
            <a:pPr indent="0" marL="0">
              <a:buNone/>
            </a:pPr>
            <a:r>
              <a:rPr lang="en-US" sz="1500" b="1" dirty="0">
                <a:solidFill>
                  <a:schemeClr val="tx2"/>
                </a:solidFill>
              </a:rPr>
              <a:t>Stake</a:t>
            </a:r>
            <a:endParaRPr lang="en-US" sz="1500" dirty="0"/>
          </a:p>
        </p:txBody>
      </p:sp>
      <p:sp>
        <p:nvSpPr>
          <p:cNvPr id="31" name="Text 29"/>
          <p:cNvSpPr txBox="1"/>
          <p:nvPr/>
        </p:nvSpPr>
        <p:spPr>
          <a:xfrm>
            <a:off x="10058400" y="2286000"/>
            <a:ext cx="1371600" cy="1234440"/>
          </a:xfrm>
          <a:prstGeom prst="rect">
            <a:avLst/>
          </a:prstGeom>
          <a:noFill/>
          <a:ln/>
        </p:spPr>
        <p:txBody>
          <a:bodyPr wrap="square" lIns="0" tIns="0" rIns="0" bIns="0" rtlCol="0" anchor="t"/>
          <a:lstStyle/>
          <a:p>
            <a:pPr indent="0" marL="0">
              <a:buNone/>
            </a:pPr>
            <a:r>
              <a:rPr lang="en-US" sz="1150" dirty="0">
                <a:solidFill>
                  <a:schemeClr val="accent5"/>
                </a:solidFill>
              </a:rPr>
              <a:t>Kelly × λ, with λ learned online by Online Newton Step</a:t>
            </a:r>
            <a:endParaRPr lang="en-US" sz="1150" dirty="0"/>
          </a:p>
        </p:txBody>
      </p:sp>
      <p:sp>
        <p:nvSpPr>
          <p:cNvPr id="32" name="evaluation"/>
          <p:cNvSpPr/>
          <p:nvPr/>
        </p:nvSpPr>
        <p:spPr>
          <a:xfrm>
            <a:off x="640080" y="3886200"/>
            <a:ext cx="10881360" cy="1325880"/>
          </a:xfrm>
          <a:prstGeom prst="roundRect">
            <a:avLst>
              <a:gd name="adj" fmla="val 5517"/>
            </a:avLst>
          </a:prstGeom>
          <a:solidFill>
            <a:srgbClr val="F2F5F9"/>
          </a:solidFill>
          <a:ln w="12700">
            <a:solidFill>
              <a:srgbClr val="E2E8F0"/>
            </a:solidFill>
            <a:prstDash val="solid"/>
          </a:ln>
        </p:spPr>
      </p:sp>
      <p:sp>
        <p:nvSpPr>
          <p:cNvPr id="33" name="Text 31"/>
          <p:cNvSpPr txBox="1"/>
          <p:nvPr/>
        </p:nvSpPr>
        <p:spPr>
          <a:xfrm>
            <a:off x="960120" y="4023360"/>
            <a:ext cx="3657600" cy="365760"/>
          </a:xfrm>
          <a:prstGeom prst="rect">
            <a:avLst/>
          </a:prstGeom>
          <a:noFill/>
          <a:ln/>
        </p:spPr>
        <p:txBody>
          <a:bodyPr wrap="square" lIns="0" tIns="0" rIns="0" bIns="0" rtlCol="0" anchor="ctr"/>
          <a:lstStyle/>
          <a:p>
            <a:pPr indent="0" marL="0">
              <a:buNone/>
            </a:pPr>
            <a:r>
              <a:rPr lang="en-US" sz="1500" b="1" dirty="0">
                <a:solidFill>
                  <a:schemeClr val="tx2"/>
                </a:solidFill>
              </a:rPr>
              <a:t>Evaluated by</a:t>
            </a:r>
            <a:endParaRPr lang="en-US" sz="1500" dirty="0"/>
          </a:p>
        </p:txBody>
      </p:sp>
      <p:sp>
        <p:nvSpPr>
          <p:cNvPr id="34" name="Text 32"/>
          <p:cNvSpPr txBox="1"/>
          <p:nvPr/>
        </p:nvSpPr>
        <p:spPr>
          <a:xfrm>
            <a:off x="960120" y="4407408"/>
            <a:ext cx="10241280" cy="685800"/>
          </a:xfrm>
          <a:prstGeom prst="rect">
            <a:avLst/>
          </a:prstGeom>
          <a:noFill/>
          <a:ln/>
        </p:spPr>
        <p:txBody>
          <a:bodyPr wrap="square" lIns="0" tIns="0" rIns="0" bIns="0" rtlCol="0" anchor="t"/>
          <a:lstStyle/>
          <a:p>
            <a:pPr indent="0" marL="0">
              <a:buNone/>
            </a:pPr>
            <a:r>
              <a:rPr lang="en-US" sz="1350" dirty="0">
                <a:solidFill>
                  <a:schemeClr val="tx1"/>
                </a:solidFill>
              </a:rPr>
              <a:t>log-loss and Brier · a paired moving block bootstrap on every claim · a real date-cut deployment test on 2025-26 · value betting against 11 bookmakers · common-matches datasets with nobody asleep</a:t>
            </a:r>
            <a:endParaRPr lang="en-US" sz="1350" dirty="0"/>
          </a:p>
        </p:txBody>
      </p:sp>
      <p:sp>
        <p:nvSpPr>
          <p:cNvPr id="35" name="Text 33"/>
          <p:cNvSpPr txBox="1"/>
          <p:nvPr/>
        </p:nvSpPr>
        <p:spPr>
          <a:xfrm>
            <a:off x="640080" y="5486400"/>
            <a:ext cx="10881360" cy="640080"/>
          </a:xfrm>
          <a:prstGeom prst="rect">
            <a:avLst/>
          </a:prstGeom>
          <a:noFill/>
          <a:ln/>
        </p:spPr>
        <p:txBody>
          <a:bodyPr wrap="square" rtlCol="0" anchor="ctr"/>
          <a:lstStyle/>
          <a:p>
            <a:pPr indent="0" marL="0">
              <a:buNone/>
            </a:pPr>
            <a:r>
              <a:rPr lang="en-US" sz="1500" b="1" dirty="0">
                <a:solidFill>
                  <a:schemeClr val="tx2"/>
                </a:solidFill>
              </a:rPr>
              <a:t>One 35-step pipeline regenerates every number and figure in the thesis, deterministically. Nine further ideas were built, tested and rejected.</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Sleeping Experts: the reduction that makes it work</a:t>
            </a:r>
            <a:endParaRPr lang="en-US" sz="3000" dirty="0"/>
          </a:p>
        </p:txBody>
      </p:sp>
      <p:sp>
        <p:nvSpPr>
          <p:cNvPr id="3" name="Text 1"/>
          <p:cNvSpPr txBox="1"/>
          <p:nvPr/>
        </p:nvSpPr>
        <p:spPr>
          <a:xfrm>
            <a:off x="640080" y="1325880"/>
            <a:ext cx="10881360" cy="365760"/>
          </a:xfrm>
          <a:prstGeom prst="rect">
            <a:avLst/>
          </a:prstGeom>
          <a:noFill/>
          <a:ln/>
        </p:spPr>
        <p:txBody>
          <a:bodyPr wrap="square" rtlCol="0" anchor="ctr"/>
          <a:lstStyle/>
          <a:p>
            <a:pPr indent="0" marL="0">
              <a:buNone/>
            </a:pPr>
            <a:r>
              <a:rPr lang="en-US" sz="1600" dirty="0">
                <a:solidFill>
                  <a:schemeClr val="tx1"/>
                </a:solidFill>
              </a:rPr>
              <a:t>Not every bookmaker quotes every match, so at round t only the awake subset A(t) predicts.</a:t>
            </a:r>
            <a:endParaRPr lang="en-US" sz="1600" dirty="0"/>
          </a:p>
        </p:txBody>
      </p:sp>
      <p:sp>
        <p:nvSpPr>
          <p:cNvPr id="4" name="cell-0-0"/>
          <p:cNvSpPr/>
          <p:nvPr/>
        </p:nvSpPr>
        <p:spPr>
          <a:xfrm>
            <a:off x="640080" y="1920240"/>
            <a:ext cx="384048" cy="384048"/>
          </a:xfrm>
          <a:prstGeom prst="rect">
            <a:avLst/>
          </a:prstGeom>
          <a:solidFill>
            <a:srgbClr val="0F4C81"/>
          </a:solidFill>
          <a:ln w="12700">
            <a:solidFill>
              <a:srgbClr val="FFFFFF"/>
            </a:solidFill>
            <a:prstDash val="solid"/>
          </a:ln>
        </p:spPr>
      </p:sp>
      <p:sp>
        <p:nvSpPr>
          <p:cNvPr id="5" name="cell-0-1"/>
          <p:cNvSpPr/>
          <p:nvPr/>
        </p:nvSpPr>
        <p:spPr>
          <a:xfrm>
            <a:off x="1088136" y="1920240"/>
            <a:ext cx="384048" cy="384048"/>
          </a:xfrm>
          <a:prstGeom prst="rect">
            <a:avLst/>
          </a:prstGeom>
          <a:solidFill>
            <a:srgbClr val="0F4C81"/>
          </a:solidFill>
          <a:ln w="12700">
            <a:solidFill>
              <a:srgbClr val="FFFFFF"/>
            </a:solidFill>
            <a:prstDash val="solid"/>
          </a:ln>
        </p:spPr>
      </p:sp>
      <p:sp>
        <p:nvSpPr>
          <p:cNvPr id="6" name="cell-0-2"/>
          <p:cNvSpPr/>
          <p:nvPr/>
        </p:nvSpPr>
        <p:spPr>
          <a:xfrm>
            <a:off x="1536192" y="1920240"/>
            <a:ext cx="384048" cy="384048"/>
          </a:xfrm>
          <a:prstGeom prst="rect">
            <a:avLst/>
          </a:prstGeom>
          <a:solidFill>
            <a:srgbClr val="0F4C81"/>
          </a:solidFill>
          <a:ln w="12700">
            <a:solidFill>
              <a:srgbClr val="FFFFFF"/>
            </a:solidFill>
            <a:prstDash val="solid"/>
          </a:ln>
        </p:spPr>
      </p:sp>
      <p:sp>
        <p:nvSpPr>
          <p:cNvPr id="7" name="cell-0-3"/>
          <p:cNvSpPr/>
          <p:nvPr/>
        </p:nvSpPr>
        <p:spPr>
          <a:xfrm>
            <a:off x="1984248" y="1920240"/>
            <a:ext cx="384048" cy="384048"/>
          </a:xfrm>
          <a:prstGeom prst="rect">
            <a:avLst/>
          </a:prstGeom>
          <a:solidFill>
            <a:srgbClr val="0F4C81"/>
          </a:solidFill>
          <a:ln w="12700">
            <a:solidFill>
              <a:srgbClr val="FFFFFF"/>
            </a:solidFill>
            <a:prstDash val="solid"/>
          </a:ln>
        </p:spPr>
      </p:sp>
      <p:sp>
        <p:nvSpPr>
          <p:cNvPr id="8" name="cell-0-4"/>
          <p:cNvSpPr/>
          <p:nvPr/>
        </p:nvSpPr>
        <p:spPr>
          <a:xfrm>
            <a:off x="2432304" y="1920240"/>
            <a:ext cx="384048" cy="384048"/>
          </a:xfrm>
          <a:prstGeom prst="rect">
            <a:avLst/>
          </a:prstGeom>
          <a:solidFill>
            <a:srgbClr val="0F4C81"/>
          </a:solidFill>
          <a:ln w="12700">
            <a:solidFill>
              <a:srgbClr val="FFFFFF"/>
            </a:solidFill>
            <a:prstDash val="solid"/>
          </a:ln>
        </p:spPr>
      </p:sp>
      <p:sp>
        <p:nvSpPr>
          <p:cNvPr id="9" name="cell-0-5"/>
          <p:cNvSpPr/>
          <p:nvPr/>
        </p:nvSpPr>
        <p:spPr>
          <a:xfrm>
            <a:off x="2880360" y="1920240"/>
            <a:ext cx="384048" cy="384048"/>
          </a:xfrm>
          <a:prstGeom prst="rect">
            <a:avLst/>
          </a:prstGeom>
          <a:solidFill>
            <a:srgbClr val="0F4C81"/>
          </a:solidFill>
          <a:ln w="12700">
            <a:solidFill>
              <a:srgbClr val="FFFFFF"/>
            </a:solidFill>
            <a:prstDash val="solid"/>
          </a:ln>
        </p:spPr>
      </p:sp>
      <p:sp>
        <p:nvSpPr>
          <p:cNvPr id="10" name="cell-0-6"/>
          <p:cNvSpPr/>
          <p:nvPr/>
        </p:nvSpPr>
        <p:spPr>
          <a:xfrm>
            <a:off x="3328416" y="1920240"/>
            <a:ext cx="384048" cy="384048"/>
          </a:xfrm>
          <a:prstGeom prst="rect">
            <a:avLst/>
          </a:prstGeom>
          <a:solidFill>
            <a:srgbClr val="0F4C81"/>
          </a:solidFill>
          <a:ln w="12700">
            <a:solidFill>
              <a:srgbClr val="FFFFFF"/>
            </a:solidFill>
            <a:prstDash val="solid"/>
          </a:ln>
        </p:spPr>
      </p:sp>
      <p:sp>
        <p:nvSpPr>
          <p:cNvPr id="11" name="cell-0-7"/>
          <p:cNvSpPr/>
          <p:nvPr/>
        </p:nvSpPr>
        <p:spPr>
          <a:xfrm>
            <a:off x="3776472" y="1920240"/>
            <a:ext cx="384048" cy="384048"/>
          </a:xfrm>
          <a:prstGeom prst="rect">
            <a:avLst/>
          </a:prstGeom>
          <a:solidFill>
            <a:srgbClr val="0F4C81"/>
          </a:solidFill>
          <a:ln w="12700">
            <a:solidFill>
              <a:srgbClr val="FFFFFF"/>
            </a:solidFill>
            <a:prstDash val="solid"/>
          </a:ln>
        </p:spPr>
      </p:sp>
      <p:sp>
        <p:nvSpPr>
          <p:cNvPr id="12" name="cell-0-8"/>
          <p:cNvSpPr/>
          <p:nvPr/>
        </p:nvSpPr>
        <p:spPr>
          <a:xfrm>
            <a:off x="4224528" y="1920240"/>
            <a:ext cx="384048" cy="384048"/>
          </a:xfrm>
          <a:prstGeom prst="rect">
            <a:avLst/>
          </a:prstGeom>
          <a:solidFill>
            <a:srgbClr val="0F4C81"/>
          </a:solidFill>
          <a:ln w="12700">
            <a:solidFill>
              <a:srgbClr val="FFFFFF"/>
            </a:solidFill>
            <a:prstDash val="solid"/>
          </a:ln>
        </p:spPr>
      </p:sp>
      <p:sp>
        <p:nvSpPr>
          <p:cNvPr id="13" name="cell-0-9"/>
          <p:cNvSpPr/>
          <p:nvPr/>
        </p:nvSpPr>
        <p:spPr>
          <a:xfrm>
            <a:off x="4672584" y="1920240"/>
            <a:ext cx="384048" cy="384048"/>
          </a:xfrm>
          <a:prstGeom prst="rect">
            <a:avLst/>
          </a:prstGeom>
          <a:solidFill>
            <a:srgbClr val="0F4C81"/>
          </a:solidFill>
          <a:ln w="12700">
            <a:solidFill>
              <a:srgbClr val="FFFFFF"/>
            </a:solidFill>
            <a:prstDash val="solid"/>
          </a:ln>
        </p:spPr>
      </p:sp>
      <p:sp>
        <p:nvSpPr>
          <p:cNvPr id="14" name="cell-0-10"/>
          <p:cNvSpPr/>
          <p:nvPr/>
        </p:nvSpPr>
        <p:spPr>
          <a:xfrm>
            <a:off x="5120640" y="1920240"/>
            <a:ext cx="384048" cy="384048"/>
          </a:xfrm>
          <a:prstGeom prst="rect">
            <a:avLst/>
          </a:prstGeom>
          <a:solidFill>
            <a:srgbClr val="0F4C81"/>
          </a:solidFill>
          <a:ln w="12700">
            <a:solidFill>
              <a:srgbClr val="FFFFFF"/>
            </a:solidFill>
            <a:prstDash val="solid"/>
          </a:ln>
        </p:spPr>
      </p:sp>
      <p:sp>
        <p:nvSpPr>
          <p:cNvPr id="15" name="cell-0-11"/>
          <p:cNvSpPr/>
          <p:nvPr/>
        </p:nvSpPr>
        <p:spPr>
          <a:xfrm>
            <a:off x="5568696" y="1920240"/>
            <a:ext cx="384048" cy="384048"/>
          </a:xfrm>
          <a:prstGeom prst="rect">
            <a:avLst/>
          </a:prstGeom>
          <a:solidFill>
            <a:srgbClr val="0F4C81"/>
          </a:solidFill>
          <a:ln w="12700">
            <a:solidFill>
              <a:srgbClr val="FFFFFF"/>
            </a:solidFill>
            <a:prstDash val="solid"/>
          </a:ln>
        </p:spPr>
      </p:sp>
      <p:sp>
        <p:nvSpPr>
          <p:cNvPr id="16" name="cell-1-0"/>
          <p:cNvSpPr/>
          <p:nvPr/>
        </p:nvSpPr>
        <p:spPr>
          <a:xfrm>
            <a:off x="640080" y="2386584"/>
            <a:ext cx="384048" cy="384048"/>
          </a:xfrm>
          <a:prstGeom prst="rect">
            <a:avLst/>
          </a:prstGeom>
          <a:solidFill>
            <a:srgbClr val="E2E8F0"/>
          </a:solidFill>
          <a:ln w="12700">
            <a:solidFill>
              <a:srgbClr val="FFFFFF"/>
            </a:solidFill>
            <a:prstDash val="solid"/>
          </a:ln>
        </p:spPr>
      </p:sp>
      <p:sp>
        <p:nvSpPr>
          <p:cNvPr id="17" name="cell-1-1"/>
          <p:cNvSpPr/>
          <p:nvPr/>
        </p:nvSpPr>
        <p:spPr>
          <a:xfrm>
            <a:off x="1088136" y="2386584"/>
            <a:ext cx="384048" cy="384048"/>
          </a:xfrm>
          <a:prstGeom prst="rect">
            <a:avLst/>
          </a:prstGeom>
          <a:solidFill>
            <a:srgbClr val="E2E8F0"/>
          </a:solidFill>
          <a:ln w="12700">
            <a:solidFill>
              <a:srgbClr val="FFFFFF"/>
            </a:solidFill>
            <a:prstDash val="solid"/>
          </a:ln>
        </p:spPr>
      </p:sp>
      <p:sp>
        <p:nvSpPr>
          <p:cNvPr id="18" name="cell-1-2"/>
          <p:cNvSpPr/>
          <p:nvPr/>
        </p:nvSpPr>
        <p:spPr>
          <a:xfrm>
            <a:off x="1536192" y="2386584"/>
            <a:ext cx="384048" cy="384048"/>
          </a:xfrm>
          <a:prstGeom prst="rect">
            <a:avLst/>
          </a:prstGeom>
          <a:solidFill>
            <a:srgbClr val="0F4C81"/>
          </a:solidFill>
          <a:ln w="12700">
            <a:solidFill>
              <a:srgbClr val="FFFFFF"/>
            </a:solidFill>
            <a:prstDash val="solid"/>
          </a:ln>
        </p:spPr>
      </p:sp>
      <p:sp>
        <p:nvSpPr>
          <p:cNvPr id="19" name="cell-1-3"/>
          <p:cNvSpPr/>
          <p:nvPr/>
        </p:nvSpPr>
        <p:spPr>
          <a:xfrm>
            <a:off x="1984248" y="2386584"/>
            <a:ext cx="384048" cy="384048"/>
          </a:xfrm>
          <a:prstGeom prst="rect">
            <a:avLst/>
          </a:prstGeom>
          <a:solidFill>
            <a:srgbClr val="0F4C81"/>
          </a:solidFill>
          <a:ln w="12700">
            <a:solidFill>
              <a:srgbClr val="FFFFFF"/>
            </a:solidFill>
            <a:prstDash val="solid"/>
          </a:ln>
        </p:spPr>
      </p:sp>
      <p:sp>
        <p:nvSpPr>
          <p:cNvPr id="20" name="cell-1-4"/>
          <p:cNvSpPr/>
          <p:nvPr/>
        </p:nvSpPr>
        <p:spPr>
          <a:xfrm>
            <a:off x="2432304" y="2386584"/>
            <a:ext cx="384048" cy="384048"/>
          </a:xfrm>
          <a:prstGeom prst="rect">
            <a:avLst/>
          </a:prstGeom>
          <a:solidFill>
            <a:srgbClr val="0F4C81"/>
          </a:solidFill>
          <a:ln w="12700">
            <a:solidFill>
              <a:srgbClr val="FFFFFF"/>
            </a:solidFill>
            <a:prstDash val="solid"/>
          </a:ln>
        </p:spPr>
      </p:sp>
      <p:sp>
        <p:nvSpPr>
          <p:cNvPr id="21" name="cell-1-5"/>
          <p:cNvSpPr/>
          <p:nvPr/>
        </p:nvSpPr>
        <p:spPr>
          <a:xfrm>
            <a:off x="2880360" y="2386584"/>
            <a:ext cx="384048" cy="384048"/>
          </a:xfrm>
          <a:prstGeom prst="rect">
            <a:avLst/>
          </a:prstGeom>
          <a:solidFill>
            <a:srgbClr val="0F4C81"/>
          </a:solidFill>
          <a:ln w="12700">
            <a:solidFill>
              <a:srgbClr val="FFFFFF"/>
            </a:solidFill>
            <a:prstDash val="solid"/>
          </a:ln>
        </p:spPr>
      </p:sp>
      <p:sp>
        <p:nvSpPr>
          <p:cNvPr id="22" name="cell-1-6"/>
          <p:cNvSpPr/>
          <p:nvPr/>
        </p:nvSpPr>
        <p:spPr>
          <a:xfrm>
            <a:off x="3328416" y="2386584"/>
            <a:ext cx="384048" cy="384048"/>
          </a:xfrm>
          <a:prstGeom prst="rect">
            <a:avLst/>
          </a:prstGeom>
          <a:solidFill>
            <a:srgbClr val="0F4C81"/>
          </a:solidFill>
          <a:ln w="12700">
            <a:solidFill>
              <a:srgbClr val="FFFFFF"/>
            </a:solidFill>
            <a:prstDash val="solid"/>
          </a:ln>
        </p:spPr>
      </p:sp>
      <p:sp>
        <p:nvSpPr>
          <p:cNvPr id="23" name="cell-1-7"/>
          <p:cNvSpPr/>
          <p:nvPr/>
        </p:nvSpPr>
        <p:spPr>
          <a:xfrm>
            <a:off x="3776472" y="2386584"/>
            <a:ext cx="384048" cy="384048"/>
          </a:xfrm>
          <a:prstGeom prst="rect">
            <a:avLst/>
          </a:prstGeom>
          <a:solidFill>
            <a:srgbClr val="0F4C81"/>
          </a:solidFill>
          <a:ln w="12700">
            <a:solidFill>
              <a:srgbClr val="FFFFFF"/>
            </a:solidFill>
            <a:prstDash val="solid"/>
          </a:ln>
        </p:spPr>
      </p:sp>
      <p:sp>
        <p:nvSpPr>
          <p:cNvPr id="24" name="cell-1-8"/>
          <p:cNvSpPr/>
          <p:nvPr/>
        </p:nvSpPr>
        <p:spPr>
          <a:xfrm>
            <a:off x="4224528" y="2386584"/>
            <a:ext cx="384048" cy="384048"/>
          </a:xfrm>
          <a:prstGeom prst="rect">
            <a:avLst/>
          </a:prstGeom>
          <a:solidFill>
            <a:srgbClr val="0F4C81"/>
          </a:solidFill>
          <a:ln w="12700">
            <a:solidFill>
              <a:srgbClr val="FFFFFF"/>
            </a:solidFill>
            <a:prstDash val="solid"/>
          </a:ln>
        </p:spPr>
      </p:sp>
      <p:sp>
        <p:nvSpPr>
          <p:cNvPr id="25" name="cell-1-9"/>
          <p:cNvSpPr/>
          <p:nvPr/>
        </p:nvSpPr>
        <p:spPr>
          <a:xfrm>
            <a:off x="4672584" y="2386584"/>
            <a:ext cx="384048" cy="384048"/>
          </a:xfrm>
          <a:prstGeom prst="rect">
            <a:avLst/>
          </a:prstGeom>
          <a:solidFill>
            <a:srgbClr val="0F4C81"/>
          </a:solidFill>
          <a:ln w="12700">
            <a:solidFill>
              <a:srgbClr val="FFFFFF"/>
            </a:solidFill>
            <a:prstDash val="solid"/>
          </a:ln>
        </p:spPr>
      </p:sp>
      <p:sp>
        <p:nvSpPr>
          <p:cNvPr id="26" name="cell-1-10"/>
          <p:cNvSpPr/>
          <p:nvPr/>
        </p:nvSpPr>
        <p:spPr>
          <a:xfrm>
            <a:off x="5120640" y="2386584"/>
            <a:ext cx="384048" cy="384048"/>
          </a:xfrm>
          <a:prstGeom prst="rect">
            <a:avLst/>
          </a:prstGeom>
          <a:solidFill>
            <a:srgbClr val="0F4C81"/>
          </a:solidFill>
          <a:ln w="12700">
            <a:solidFill>
              <a:srgbClr val="FFFFFF"/>
            </a:solidFill>
            <a:prstDash val="solid"/>
          </a:ln>
        </p:spPr>
      </p:sp>
      <p:sp>
        <p:nvSpPr>
          <p:cNvPr id="27" name="cell-1-11"/>
          <p:cNvSpPr/>
          <p:nvPr/>
        </p:nvSpPr>
        <p:spPr>
          <a:xfrm>
            <a:off x="5568696" y="2386584"/>
            <a:ext cx="384048" cy="384048"/>
          </a:xfrm>
          <a:prstGeom prst="rect">
            <a:avLst/>
          </a:prstGeom>
          <a:solidFill>
            <a:srgbClr val="0F4C81"/>
          </a:solidFill>
          <a:ln w="12700">
            <a:solidFill>
              <a:srgbClr val="FFFFFF"/>
            </a:solidFill>
            <a:prstDash val="solid"/>
          </a:ln>
        </p:spPr>
      </p:sp>
      <p:sp>
        <p:nvSpPr>
          <p:cNvPr id="28" name="cell-2-0"/>
          <p:cNvSpPr/>
          <p:nvPr/>
        </p:nvSpPr>
        <p:spPr>
          <a:xfrm>
            <a:off x="640080" y="2852928"/>
            <a:ext cx="384048" cy="384048"/>
          </a:xfrm>
          <a:prstGeom prst="rect">
            <a:avLst/>
          </a:prstGeom>
          <a:solidFill>
            <a:srgbClr val="0F4C81"/>
          </a:solidFill>
          <a:ln w="12700">
            <a:solidFill>
              <a:srgbClr val="FFFFFF"/>
            </a:solidFill>
            <a:prstDash val="solid"/>
          </a:ln>
        </p:spPr>
      </p:sp>
      <p:sp>
        <p:nvSpPr>
          <p:cNvPr id="29" name="cell-2-1"/>
          <p:cNvSpPr/>
          <p:nvPr/>
        </p:nvSpPr>
        <p:spPr>
          <a:xfrm>
            <a:off x="1088136" y="2852928"/>
            <a:ext cx="384048" cy="384048"/>
          </a:xfrm>
          <a:prstGeom prst="rect">
            <a:avLst/>
          </a:prstGeom>
          <a:solidFill>
            <a:srgbClr val="0F4C81"/>
          </a:solidFill>
          <a:ln w="12700">
            <a:solidFill>
              <a:srgbClr val="FFFFFF"/>
            </a:solidFill>
            <a:prstDash val="solid"/>
          </a:ln>
        </p:spPr>
      </p:sp>
      <p:sp>
        <p:nvSpPr>
          <p:cNvPr id="30" name="cell-2-2"/>
          <p:cNvSpPr/>
          <p:nvPr/>
        </p:nvSpPr>
        <p:spPr>
          <a:xfrm>
            <a:off x="1536192" y="2852928"/>
            <a:ext cx="384048" cy="384048"/>
          </a:xfrm>
          <a:prstGeom prst="rect">
            <a:avLst/>
          </a:prstGeom>
          <a:solidFill>
            <a:srgbClr val="0F4C81"/>
          </a:solidFill>
          <a:ln w="12700">
            <a:solidFill>
              <a:srgbClr val="FFFFFF"/>
            </a:solidFill>
            <a:prstDash val="solid"/>
          </a:ln>
        </p:spPr>
      </p:sp>
      <p:sp>
        <p:nvSpPr>
          <p:cNvPr id="31" name="cell-2-3"/>
          <p:cNvSpPr/>
          <p:nvPr/>
        </p:nvSpPr>
        <p:spPr>
          <a:xfrm>
            <a:off x="1984248" y="2852928"/>
            <a:ext cx="384048" cy="384048"/>
          </a:xfrm>
          <a:prstGeom prst="rect">
            <a:avLst/>
          </a:prstGeom>
          <a:solidFill>
            <a:srgbClr val="0F4C81"/>
          </a:solidFill>
          <a:ln w="12700">
            <a:solidFill>
              <a:srgbClr val="FFFFFF"/>
            </a:solidFill>
            <a:prstDash val="solid"/>
          </a:ln>
        </p:spPr>
      </p:sp>
      <p:sp>
        <p:nvSpPr>
          <p:cNvPr id="32" name="cell-2-4"/>
          <p:cNvSpPr/>
          <p:nvPr/>
        </p:nvSpPr>
        <p:spPr>
          <a:xfrm>
            <a:off x="2432304" y="2852928"/>
            <a:ext cx="384048" cy="384048"/>
          </a:xfrm>
          <a:prstGeom prst="rect">
            <a:avLst/>
          </a:prstGeom>
          <a:solidFill>
            <a:srgbClr val="0F4C81"/>
          </a:solidFill>
          <a:ln w="12700">
            <a:solidFill>
              <a:srgbClr val="FFFFFF"/>
            </a:solidFill>
            <a:prstDash val="solid"/>
          </a:ln>
        </p:spPr>
      </p:sp>
      <p:sp>
        <p:nvSpPr>
          <p:cNvPr id="33" name="cell-2-5"/>
          <p:cNvSpPr/>
          <p:nvPr/>
        </p:nvSpPr>
        <p:spPr>
          <a:xfrm>
            <a:off x="2880360" y="2852928"/>
            <a:ext cx="384048" cy="384048"/>
          </a:xfrm>
          <a:prstGeom prst="rect">
            <a:avLst/>
          </a:prstGeom>
          <a:solidFill>
            <a:srgbClr val="0F4C81"/>
          </a:solidFill>
          <a:ln w="12700">
            <a:solidFill>
              <a:srgbClr val="FFFFFF"/>
            </a:solidFill>
            <a:prstDash val="solid"/>
          </a:ln>
        </p:spPr>
      </p:sp>
      <p:sp>
        <p:nvSpPr>
          <p:cNvPr id="34" name="cell-2-6"/>
          <p:cNvSpPr/>
          <p:nvPr/>
        </p:nvSpPr>
        <p:spPr>
          <a:xfrm>
            <a:off x="3328416" y="2852928"/>
            <a:ext cx="384048" cy="384048"/>
          </a:xfrm>
          <a:prstGeom prst="rect">
            <a:avLst/>
          </a:prstGeom>
          <a:solidFill>
            <a:srgbClr val="E2E8F0"/>
          </a:solidFill>
          <a:ln w="12700">
            <a:solidFill>
              <a:srgbClr val="FFFFFF"/>
            </a:solidFill>
            <a:prstDash val="solid"/>
          </a:ln>
        </p:spPr>
      </p:sp>
      <p:sp>
        <p:nvSpPr>
          <p:cNvPr id="35" name="cell-2-7"/>
          <p:cNvSpPr/>
          <p:nvPr/>
        </p:nvSpPr>
        <p:spPr>
          <a:xfrm>
            <a:off x="3776472" y="2852928"/>
            <a:ext cx="384048" cy="384048"/>
          </a:xfrm>
          <a:prstGeom prst="rect">
            <a:avLst/>
          </a:prstGeom>
          <a:solidFill>
            <a:srgbClr val="E2E8F0"/>
          </a:solidFill>
          <a:ln w="12700">
            <a:solidFill>
              <a:srgbClr val="FFFFFF"/>
            </a:solidFill>
            <a:prstDash val="solid"/>
          </a:ln>
        </p:spPr>
      </p:sp>
      <p:sp>
        <p:nvSpPr>
          <p:cNvPr id="36" name="cell-2-8"/>
          <p:cNvSpPr/>
          <p:nvPr/>
        </p:nvSpPr>
        <p:spPr>
          <a:xfrm>
            <a:off x="4224528" y="2852928"/>
            <a:ext cx="384048" cy="384048"/>
          </a:xfrm>
          <a:prstGeom prst="rect">
            <a:avLst/>
          </a:prstGeom>
          <a:solidFill>
            <a:srgbClr val="E2E8F0"/>
          </a:solidFill>
          <a:ln w="12700">
            <a:solidFill>
              <a:srgbClr val="FFFFFF"/>
            </a:solidFill>
            <a:prstDash val="solid"/>
          </a:ln>
        </p:spPr>
      </p:sp>
      <p:sp>
        <p:nvSpPr>
          <p:cNvPr id="37" name="cell-2-9"/>
          <p:cNvSpPr/>
          <p:nvPr/>
        </p:nvSpPr>
        <p:spPr>
          <a:xfrm>
            <a:off x="4672584" y="2852928"/>
            <a:ext cx="384048" cy="384048"/>
          </a:xfrm>
          <a:prstGeom prst="rect">
            <a:avLst/>
          </a:prstGeom>
          <a:solidFill>
            <a:srgbClr val="E2E8F0"/>
          </a:solidFill>
          <a:ln w="12700">
            <a:solidFill>
              <a:srgbClr val="FFFFFF"/>
            </a:solidFill>
            <a:prstDash val="solid"/>
          </a:ln>
        </p:spPr>
      </p:sp>
      <p:sp>
        <p:nvSpPr>
          <p:cNvPr id="38" name="cell-2-10"/>
          <p:cNvSpPr/>
          <p:nvPr/>
        </p:nvSpPr>
        <p:spPr>
          <a:xfrm>
            <a:off x="5120640" y="2852928"/>
            <a:ext cx="384048" cy="384048"/>
          </a:xfrm>
          <a:prstGeom prst="rect">
            <a:avLst/>
          </a:prstGeom>
          <a:solidFill>
            <a:srgbClr val="E2E8F0"/>
          </a:solidFill>
          <a:ln w="12700">
            <a:solidFill>
              <a:srgbClr val="FFFFFF"/>
            </a:solidFill>
            <a:prstDash val="solid"/>
          </a:ln>
        </p:spPr>
      </p:sp>
      <p:sp>
        <p:nvSpPr>
          <p:cNvPr id="39" name="cell-2-11"/>
          <p:cNvSpPr/>
          <p:nvPr/>
        </p:nvSpPr>
        <p:spPr>
          <a:xfrm>
            <a:off x="5568696" y="2852928"/>
            <a:ext cx="384048" cy="384048"/>
          </a:xfrm>
          <a:prstGeom prst="rect">
            <a:avLst/>
          </a:prstGeom>
          <a:solidFill>
            <a:srgbClr val="E2E8F0"/>
          </a:solidFill>
          <a:ln w="12700">
            <a:solidFill>
              <a:srgbClr val="FFFFFF"/>
            </a:solidFill>
            <a:prstDash val="solid"/>
          </a:ln>
        </p:spPr>
      </p:sp>
      <p:sp>
        <p:nvSpPr>
          <p:cNvPr id="40" name="cell-3-0"/>
          <p:cNvSpPr/>
          <p:nvPr/>
        </p:nvSpPr>
        <p:spPr>
          <a:xfrm>
            <a:off x="640080" y="3319272"/>
            <a:ext cx="384048" cy="384048"/>
          </a:xfrm>
          <a:prstGeom prst="rect">
            <a:avLst/>
          </a:prstGeom>
          <a:solidFill>
            <a:srgbClr val="0F4C81"/>
          </a:solidFill>
          <a:ln w="12700">
            <a:solidFill>
              <a:srgbClr val="FFFFFF"/>
            </a:solidFill>
            <a:prstDash val="solid"/>
          </a:ln>
        </p:spPr>
      </p:sp>
      <p:sp>
        <p:nvSpPr>
          <p:cNvPr id="41" name="cell-3-1"/>
          <p:cNvSpPr/>
          <p:nvPr/>
        </p:nvSpPr>
        <p:spPr>
          <a:xfrm>
            <a:off x="1088136" y="3319272"/>
            <a:ext cx="384048" cy="384048"/>
          </a:xfrm>
          <a:prstGeom prst="rect">
            <a:avLst/>
          </a:prstGeom>
          <a:solidFill>
            <a:srgbClr val="0F4C81"/>
          </a:solidFill>
          <a:ln w="12700">
            <a:solidFill>
              <a:srgbClr val="FFFFFF"/>
            </a:solidFill>
            <a:prstDash val="solid"/>
          </a:ln>
        </p:spPr>
      </p:sp>
      <p:sp>
        <p:nvSpPr>
          <p:cNvPr id="42" name="cell-3-2"/>
          <p:cNvSpPr/>
          <p:nvPr/>
        </p:nvSpPr>
        <p:spPr>
          <a:xfrm>
            <a:off x="1536192" y="3319272"/>
            <a:ext cx="384048" cy="384048"/>
          </a:xfrm>
          <a:prstGeom prst="rect">
            <a:avLst/>
          </a:prstGeom>
          <a:solidFill>
            <a:srgbClr val="0F4C81"/>
          </a:solidFill>
          <a:ln w="12700">
            <a:solidFill>
              <a:srgbClr val="FFFFFF"/>
            </a:solidFill>
            <a:prstDash val="solid"/>
          </a:ln>
        </p:spPr>
      </p:sp>
      <p:sp>
        <p:nvSpPr>
          <p:cNvPr id="43" name="cell-3-3"/>
          <p:cNvSpPr/>
          <p:nvPr/>
        </p:nvSpPr>
        <p:spPr>
          <a:xfrm>
            <a:off x="1984248" y="3319272"/>
            <a:ext cx="384048" cy="384048"/>
          </a:xfrm>
          <a:prstGeom prst="rect">
            <a:avLst/>
          </a:prstGeom>
          <a:solidFill>
            <a:srgbClr val="0F4C81"/>
          </a:solidFill>
          <a:ln w="12700">
            <a:solidFill>
              <a:srgbClr val="FFFFFF"/>
            </a:solidFill>
            <a:prstDash val="solid"/>
          </a:ln>
        </p:spPr>
      </p:sp>
      <p:sp>
        <p:nvSpPr>
          <p:cNvPr id="44" name="cell-3-4"/>
          <p:cNvSpPr/>
          <p:nvPr/>
        </p:nvSpPr>
        <p:spPr>
          <a:xfrm>
            <a:off x="2432304" y="3319272"/>
            <a:ext cx="384048" cy="384048"/>
          </a:xfrm>
          <a:prstGeom prst="rect">
            <a:avLst/>
          </a:prstGeom>
          <a:solidFill>
            <a:srgbClr val="0F4C81"/>
          </a:solidFill>
          <a:ln w="12700">
            <a:solidFill>
              <a:srgbClr val="FFFFFF"/>
            </a:solidFill>
            <a:prstDash val="solid"/>
          </a:ln>
        </p:spPr>
      </p:sp>
      <p:sp>
        <p:nvSpPr>
          <p:cNvPr id="45" name="cell-3-5"/>
          <p:cNvSpPr/>
          <p:nvPr/>
        </p:nvSpPr>
        <p:spPr>
          <a:xfrm>
            <a:off x="2880360" y="3319272"/>
            <a:ext cx="384048" cy="384048"/>
          </a:xfrm>
          <a:prstGeom prst="rect">
            <a:avLst/>
          </a:prstGeom>
          <a:solidFill>
            <a:srgbClr val="0F4C81"/>
          </a:solidFill>
          <a:ln w="12700">
            <a:solidFill>
              <a:srgbClr val="FFFFFF"/>
            </a:solidFill>
            <a:prstDash val="solid"/>
          </a:ln>
        </p:spPr>
      </p:sp>
      <p:sp>
        <p:nvSpPr>
          <p:cNvPr id="46" name="cell-3-6"/>
          <p:cNvSpPr/>
          <p:nvPr/>
        </p:nvSpPr>
        <p:spPr>
          <a:xfrm>
            <a:off x="3328416" y="3319272"/>
            <a:ext cx="384048" cy="384048"/>
          </a:xfrm>
          <a:prstGeom prst="rect">
            <a:avLst/>
          </a:prstGeom>
          <a:solidFill>
            <a:srgbClr val="0F4C81"/>
          </a:solidFill>
          <a:ln w="12700">
            <a:solidFill>
              <a:srgbClr val="FFFFFF"/>
            </a:solidFill>
            <a:prstDash val="solid"/>
          </a:ln>
        </p:spPr>
      </p:sp>
      <p:sp>
        <p:nvSpPr>
          <p:cNvPr id="47" name="cell-3-7"/>
          <p:cNvSpPr/>
          <p:nvPr/>
        </p:nvSpPr>
        <p:spPr>
          <a:xfrm>
            <a:off x="3776472" y="3319272"/>
            <a:ext cx="384048" cy="384048"/>
          </a:xfrm>
          <a:prstGeom prst="rect">
            <a:avLst/>
          </a:prstGeom>
          <a:solidFill>
            <a:srgbClr val="0F4C81"/>
          </a:solidFill>
          <a:ln w="12700">
            <a:solidFill>
              <a:srgbClr val="FFFFFF"/>
            </a:solidFill>
            <a:prstDash val="solid"/>
          </a:ln>
        </p:spPr>
      </p:sp>
      <p:sp>
        <p:nvSpPr>
          <p:cNvPr id="48" name="cell-3-8"/>
          <p:cNvSpPr/>
          <p:nvPr/>
        </p:nvSpPr>
        <p:spPr>
          <a:xfrm>
            <a:off x="4224528" y="3319272"/>
            <a:ext cx="384048" cy="384048"/>
          </a:xfrm>
          <a:prstGeom prst="rect">
            <a:avLst/>
          </a:prstGeom>
          <a:solidFill>
            <a:srgbClr val="0F4C81"/>
          </a:solidFill>
          <a:ln w="12700">
            <a:solidFill>
              <a:srgbClr val="FFFFFF"/>
            </a:solidFill>
            <a:prstDash val="solid"/>
          </a:ln>
        </p:spPr>
      </p:sp>
      <p:sp>
        <p:nvSpPr>
          <p:cNvPr id="49" name="cell-3-9"/>
          <p:cNvSpPr/>
          <p:nvPr/>
        </p:nvSpPr>
        <p:spPr>
          <a:xfrm>
            <a:off x="4672584" y="3319272"/>
            <a:ext cx="384048" cy="384048"/>
          </a:xfrm>
          <a:prstGeom prst="rect">
            <a:avLst/>
          </a:prstGeom>
          <a:solidFill>
            <a:srgbClr val="0F4C81"/>
          </a:solidFill>
          <a:ln w="12700">
            <a:solidFill>
              <a:srgbClr val="FFFFFF"/>
            </a:solidFill>
            <a:prstDash val="solid"/>
          </a:ln>
        </p:spPr>
      </p:sp>
      <p:sp>
        <p:nvSpPr>
          <p:cNvPr id="50" name="cell-3-10"/>
          <p:cNvSpPr/>
          <p:nvPr/>
        </p:nvSpPr>
        <p:spPr>
          <a:xfrm>
            <a:off x="5120640" y="3319272"/>
            <a:ext cx="384048" cy="384048"/>
          </a:xfrm>
          <a:prstGeom prst="rect">
            <a:avLst/>
          </a:prstGeom>
          <a:solidFill>
            <a:srgbClr val="0F4C81"/>
          </a:solidFill>
          <a:ln w="12700">
            <a:solidFill>
              <a:srgbClr val="FFFFFF"/>
            </a:solidFill>
            <a:prstDash val="solid"/>
          </a:ln>
        </p:spPr>
      </p:sp>
      <p:sp>
        <p:nvSpPr>
          <p:cNvPr id="51" name="cell-3-11"/>
          <p:cNvSpPr/>
          <p:nvPr/>
        </p:nvSpPr>
        <p:spPr>
          <a:xfrm>
            <a:off x="5568696" y="3319272"/>
            <a:ext cx="384048" cy="384048"/>
          </a:xfrm>
          <a:prstGeom prst="rect">
            <a:avLst/>
          </a:prstGeom>
          <a:solidFill>
            <a:srgbClr val="0F4C81"/>
          </a:solidFill>
          <a:ln w="12700">
            <a:solidFill>
              <a:srgbClr val="FFFFFF"/>
            </a:solidFill>
            <a:prstDash val="solid"/>
          </a:ln>
        </p:spPr>
      </p:sp>
      <p:sp>
        <p:nvSpPr>
          <p:cNvPr id="52" name="cell-4-0"/>
          <p:cNvSpPr/>
          <p:nvPr/>
        </p:nvSpPr>
        <p:spPr>
          <a:xfrm>
            <a:off x="640080" y="3785616"/>
            <a:ext cx="384048" cy="384048"/>
          </a:xfrm>
          <a:prstGeom prst="rect">
            <a:avLst/>
          </a:prstGeom>
          <a:solidFill>
            <a:srgbClr val="E2E8F0"/>
          </a:solidFill>
          <a:ln w="12700">
            <a:solidFill>
              <a:srgbClr val="FFFFFF"/>
            </a:solidFill>
            <a:prstDash val="solid"/>
          </a:ln>
        </p:spPr>
      </p:sp>
      <p:sp>
        <p:nvSpPr>
          <p:cNvPr id="53" name="cell-4-1"/>
          <p:cNvSpPr/>
          <p:nvPr/>
        </p:nvSpPr>
        <p:spPr>
          <a:xfrm>
            <a:off x="1088136" y="3785616"/>
            <a:ext cx="384048" cy="384048"/>
          </a:xfrm>
          <a:prstGeom prst="rect">
            <a:avLst/>
          </a:prstGeom>
          <a:solidFill>
            <a:srgbClr val="E2E8F0"/>
          </a:solidFill>
          <a:ln w="12700">
            <a:solidFill>
              <a:srgbClr val="FFFFFF"/>
            </a:solidFill>
            <a:prstDash val="solid"/>
          </a:ln>
        </p:spPr>
      </p:sp>
      <p:sp>
        <p:nvSpPr>
          <p:cNvPr id="54" name="cell-4-2"/>
          <p:cNvSpPr/>
          <p:nvPr/>
        </p:nvSpPr>
        <p:spPr>
          <a:xfrm>
            <a:off x="1536192" y="3785616"/>
            <a:ext cx="384048" cy="384048"/>
          </a:xfrm>
          <a:prstGeom prst="rect">
            <a:avLst/>
          </a:prstGeom>
          <a:solidFill>
            <a:srgbClr val="E2E8F0"/>
          </a:solidFill>
          <a:ln w="12700">
            <a:solidFill>
              <a:srgbClr val="FFFFFF"/>
            </a:solidFill>
            <a:prstDash val="solid"/>
          </a:ln>
        </p:spPr>
      </p:sp>
      <p:sp>
        <p:nvSpPr>
          <p:cNvPr id="55" name="cell-4-3"/>
          <p:cNvSpPr/>
          <p:nvPr/>
        </p:nvSpPr>
        <p:spPr>
          <a:xfrm>
            <a:off x="1984248" y="3785616"/>
            <a:ext cx="384048" cy="384048"/>
          </a:xfrm>
          <a:prstGeom prst="rect">
            <a:avLst/>
          </a:prstGeom>
          <a:solidFill>
            <a:srgbClr val="E2E8F0"/>
          </a:solidFill>
          <a:ln w="12700">
            <a:solidFill>
              <a:srgbClr val="FFFFFF"/>
            </a:solidFill>
            <a:prstDash val="solid"/>
          </a:ln>
        </p:spPr>
      </p:sp>
      <p:sp>
        <p:nvSpPr>
          <p:cNvPr id="56" name="cell-4-4"/>
          <p:cNvSpPr/>
          <p:nvPr/>
        </p:nvSpPr>
        <p:spPr>
          <a:xfrm>
            <a:off x="2432304" y="3785616"/>
            <a:ext cx="384048" cy="384048"/>
          </a:xfrm>
          <a:prstGeom prst="rect">
            <a:avLst/>
          </a:prstGeom>
          <a:solidFill>
            <a:srgbClr val="0F4C81"/>
          </a:solidFill>
          <a:ln w="12700">
            <a:solidFill>
              <a:srgbClr val="FFFFFF"/>
            </a:solidFill>
            <a:prstDash val="solid"/>
          </a:ln>
        </p:spPr>
      </p:sp>
      <p:sp>
        <p:nvSpPr>
          <p:cNvPr id="57" name="cell-4-5"/>
          <p:cNvSpPr/>
          <p:nvPr/>
        </p:nvSpPr>
        <p:spPr>
          <a:xfrm>
            <a:off x="2880360" y="3785616"/>
            <a:ext cx="384048" cy="384048"/>
          </a:xfrm>
          <a:prstGeom prst="rect">
            <a:avLst/>
          </a:prstGeom>
          <a:solidFill>
            <a:srgbClr val="0F4C81"/>
          </a:solidFill>
          <a:ln w="12700">
            <a:solidFill>
              <a:srgbClr val="FFFFFF"/>
            </a:solidFill>
            <a:prstDash val="solid"/>
          </a:ln>
        </p:spPr>
      </p:sp>
      <p:sp>
        <p:nvSpPr>
          <p:cNvPr id="58" name="cell-4-6"/>
          <p:cNvSpPr/>
          <p:nvPr/>
        </p:nvSpPr>
        <p:spPr>
          <a:xfrm>
            <a:off x="3328416" y="3785616"/>
            <a:ext cx="384048" cy="384048"/>
          </a:xfrm>
          <a:prstGeom prst="rect">
            <a:avLst/>
          </a:prstGeom>
          <a:solidFill>
            <a:srgbClr val="0F4C81"/>
          </a:solidFill>
          <a:ln w="12700">
            <a:solidFill>
              <a:srgbClr val="FFFFFF"/>
            </a:solidFill>
            <a:prstDash val="solid"/>
          </a:ln>
        </p:spPr>
      </p:sp>
      <p:sp>
        <p:nvSpPr>
          <p:cNvPr id="59" name="cell-4-7"/>
          <p:cNvSpPr/>
          <p:nvPr/>
        </p:nvSpPr>
        <p:spPr>
          <a:xfrm>
            <a:off x="3776472" y="3785616"/>
            <a:ext cx="384048" cy="384048"/>
          </a:xfrm>
          <a:prstGeom prst="rect">
            <a:avLst/>
          </a:prstGeom>
          <a:solidFill>
            <a:srgbClr val="0F4C81"/>
          </a:solidFill>
          <a:ln w="12700">
            <a:solidFill>
              <a:srgbClr val="FFFFFF"/>
            </a:solidFill>
            <a:prstDash val="solid"/>
          </a:ln>
        </p:spPr>
      </p:sp>
      <p:sp>
        <p:nvSpPr>
          <p:cNvPr id="60" name="cell-4-8"/>
          <p:cNvSpPr/>
          <p:nvPr/>
        </p:nvSpPr>
        <p:spPr>
          <a:xfrm>
            <a:off x="4224528" y="3785616"/>
            <a:ext cx="384048" cy="384048"/>
          </a:xfrm>
          <a:prstGeom prst="rect">
            <a:avLst/>
          </a:prstGeom>
          <a:solidFill>
            <a:srgbClr val="E2E8F0"/>
          </a:solidFill>
          <a:ln w="12700">
            <a:solidFill>
              <a:srgbClr val="FFFFFF"/>
            </a:solidFill>
            <a:prstDash val="solid"/>
          </a:ln>
        </p:spPr>
      </p:sp>
      <p:sp>
        <p:nvSpPr>
          <p:cNvPr id="61" name="cell-4-9"/>
          <p:cNvSpPr/>
          <p:nvPr/>
        </p:nvSpPr>
        <p:spPr>
          <a:xfrm>
            <a:off x="4672584" y="3785616"/>
            <a:ext cx="384048" cy="384048"/>
          </a:xfrm>
          <a:prstGeom prst="rect">
            <a:avLst/>
          </a:prstGeom>
          <a:solidFill>
            <a:srgbClr val="E2E8F0"/>
          </a:solidFill>
          <a:ln w="12700">
            <a:solidFill>
              <a:srgbClr val="FFFFFF"/>
            </a:solidFill>
            <a:prstDash val="solid"/>
          </a:ln>
        </p:spPr>
      </p:sp>
      <p:sp>
        <p:nvSpPr>
          <p:cNvPr id="62" name="cell-4-10"/>
          <p:cNvSpPr/>
          <p:nvPr/>
        </p:nvSpPr>
        <p:spPr>
          <a:xfrm>
            <a:off x="5120640" y="3785616"/>
            <a:ext cx="384048" cy="384048"/>
          </a:xfrm>
          <a:prstGeom prst="rect">
            <a:avLst/>
          </a:prstGeom>
          <a:solidFill>
            <a:srgbClr val="0F4C81"/>
          </a:solidFill>
          <a:ln w="12700">
            <a:solidFill>
              <a:srgbClr val="FFFFFF"/>
            </a:solidFill>
            <a:prstDash val="solid"/>
          </a:ln>
        </p:spPr>
      </p:sp>
      <p:sp>
        <p:nvSpPr>
          <p:cNvPr id="63" name="cell-4-11"/>
          <p:cNvSpPr/>
          <p:nvPr/>
        </p:nvSpPr>
        <p:spPr>
          <a:xfrm>
            <a:off x="5568696" y="3785616"/>
            <a:ext cx="384048" cy="384048"/>
          </a:xfrm>
          <a:prstGeom prst="rect">
            <a:avLst/>
          </a:prstGeom>
          <a:solidFill>
            <a:srgbClr val="0F4C81"/>
          </a:solidFill>
          <a:ln w="12700">
            <a:solidFill>
              <a:srgbClr val="FFFFFF"/>
            </a:solidFill>
            <a:prstDash val="solid"/>
          </a:ln>
        </p:spPr>
      </p:sp>
      <p:sp>
        <p:nvSpPr>
          <p:cNvPr id="64" name="Text 62"/>
          <p:cNvSpPr txBox="1"/>
          <p:nvPr/>
        </p:nvSpPr>
        <p:spPr>
          <a:xfrm>
            <a:off x="621792" y="4297680"/>
            <a:ext cx="1828800" cy="274320"/>
          </a:xfrm>
          <a:prstGeom prst="rect">
            <a:avLst/>
          </a:prstGeom>
          <a:noFill/>
          <a:ln/>
        </p:spPr>
        <p:txBody>
          <a:bodyPr wrap="square" lIns="0" tIns="0" rIns="0" bIns="0" rtlCol="0" anchor="ctr"/>
          <a:lstStyle/>
          <a:p>
            <a:pPr indent="0" marL="0">
              <a:buNone/>
            </a:pPr>
            <a:r>
              <a:rPr lang="en-US" sz="1200" dirty="0">
                <a:solidFill>
                  <a:schemeClr val="accent5"/>
                </a:solidFill>
              </a:rPr>
              <a:t>experts</a:t>
            </a:r>
            <a:endParaRPr lang="en-US" sz="1200" dirty="0"/>
          </a:p>
        </p:txBody>
      </p:sp>
      <p:sp>
        <p:nvSpPr>
          <p:cNvPr id="65" name="Text 63"/>
          <p:cNvSpPr txBox="1"/>
          <p:nvPr/>
        </p:nvSpPr>
        <p:spPr>
          <a:xfrm>
            <a:off x="4480560" y="4297680"/>
            <a:ext cx="1828800" cy="274320"/>
          </a:xfrm>
          <a:prstGeom prst="rect">
            <a:avLst/>
          </a:prstGeom>
          <a:noFill/>
          <a:ln/>
        </p:spPr>
        <p:txBody>
          <a:bodyPr wrap="square" lIns="0" tIns="0" rIns="0" bIns="0" rtlCol="0" anchor="ctr"/>
          <a:lstStyle/>
          <a:p>
            <a:pPr indent="0" marL="0">
              <a:buNone/>
            </a:pPr>
            <a:r>
              <a:rPr lang="en-US" sz="1200" dirty="0">
                <a:solidFill>
                  <a:schemeClr val="accent5"/>
                </a:solidFill>
              </a:rPr>
              <a:t>rounds  →</a:t>
            </a:r>
            <a:endParaRPr lang="en-US" sz="1200" dirty="0"/>
          </a:p>
        </p:txBody>
      </p:sp>
      <p:sp>
        <p:nvSpPr>
          <p:cNvPr id="66" name="rules"/>
          <p:cNvSpPr/>
          <p:nvPr/>
        </p:nvSpPr>
        <p:spPr>
          <a:xfrm>
            <a:off x="6309360" y="1828800"/>
            <a:ext cx="5212080" cy="2834640"/>
          </a:xfrm>
          <a:prstGeom prst="roundRect">
            <a:avLst>
              <a:gd name="adj" fmla="val 2581"/>
            </a:avLst>
          </a:prstGeom>
          <a:solidFill>
            <a:srgbClr val="F2F5F9"/>
          </a:solidFill>
          <a:ln w="12700">
            <a:solidFill>
              <a:srgbClr val="E2E8F0"/>
            </a:solidFill>
            <a:prstDash val="solid"/>
          </a:ln>
        </p:spPr>
      </p:sp>
      <p:sp>
        <p:nvSpPr>
          <p:cNvPr id="67" name="Text 65"/>
          <p:cNvSpPr txBox="1"/>
          <p:nvPr/>
        </p:nvSpPr>
        <p:spPr>
          <a:xfrm>
            <a:off x="6629400" y="2057400"/>
            <a:ext cx="4572000" cy="2377440"/>
          </a:xfrm>
          <a:prstGeom prst="rect">
            <a:avLst/>
          </a:prstGeom>
          <a:noFill/>
          <a:ln/>
        </p:spPr>
        <p:txBody>
          <a:bodyPr wrap="square" rtlCol="0" anchor="ctr"/>
          <a:lstStyle/>
          <a:p>
            <a:pPr marL="342900" indent="-342900">
              <a:spcAft>
                <a:spcPts val="1000"/>
              </a:spcAft>
              <a:buSzPct val="100000"/>
              <a:buChar char="•"/>
            </a:pPr>
            <a:r>
              <a:rPr lang="en-US" sz="1500" dirty="0">
                <a:solidFill>
                  <a:schemeClr val="tx1"/>
                </a:solidFill>
              </a:rPr>
              <a:t>each expert keeps its own persistent state</a:t>
            </a:r>
            <a:endParaRPr lang="en-US" sz="1500" dirty="0"/>
          </a:p>
          <a:p>
            <a:pPr marL="342900" indent="-342900">
              <a:spcAft>
                <a:spcPts val="1000"/>
              </a:spcAft>
              <a:buSzPct val="100000"/>
              <a:buChar char="•"/>
            </a:pPr>
            <a:r>
              <a:rPr lang="en-US" sz="1500" dirty="0">
                <a:solidFill>
                  <a:schemeClr val="tx1"/>
                </a:solidFill>
              </a:rPr>
              <a:t>the prediction is renormalised over A(t) alone</a:t>
            </a:r>
            <a:endParaRPr lang="en-US" sz="1500" dirty="0"/>
          </a:p>
          <a:p>
            <a:pPr marL="342900" indent="-342900">
              <a:spcAft>
                <a:spcPts val="1000"/>
              </a:spcAft>
              <a:buSzPct val="100000"/>
              <a:buChar char="•"/>
            </a:pPr>
            <a:r>
              <a:rPr lang="en-US" sz="1500" dirty="0">
                <a:solidFill>
                  <a:schemeClr val="tx1"/>
                </a:solidFill>
              </a:rPr>
              <a:t>sleepers are untouched; the awake group keeps its total mass</a:t>
            </a:r>
            <a:endParaRPr lang="en-US" sz="1500" dirty="0"/>
          </a:p>
          <a:p>
            <a:pPr marL="342900" indent="-342900">
              <a:spcAft>
                <a:spcPts val="1000"/>
              </a:spcAft>
              <a:buSzPct val="100000"/>
              <a:buChar char="•"/>
            </a:pPr>
            <a:r>
              <a:rPr lang="en-US" sz="1500" dirty="0">
                <a:solidFill>
                  <a:schemeClr val="tx1"/>
                </a:solidFill>
              </a:rPr>
              <a:t>regret is measured over each expert's own awake rounds</a:t>
            </a:r>
            <a:endParaRPr lang="en-US" sz="1500" dirty="0"/>
          </a:p>
        </p:txBody>
      </p:sp>
      <p:sp>
        <p:nvSpPr>
          <p:cNvPr id="68" name="Text 66"/>
          <p:cNvSpPr txBox="1"/>
          <p:nvPr/>
        </p:nvSpPr>
        <p:spPr>
          <a:xfrm>
            <a:off x="640080" y="5029200"/>
            <a:ext cx="10881360" cy="457200"/>
          </a:xfrm>
          <a:prstGeom prst="rect">
            <a:avLst/>
          </a:prstGeom>
          <a:noFill/>
          <a:ln/>
        </p:spPr>
        <p:txBody>
          <a:bodyPr wrap="square" rtlCol="0" anchor="ctr"/>
          <a:lstStyle/>
          <a:p>
            <a:pPr indent="0" marL="0">
              <a:buNone/>
            </a:pPr>
            <a:r>
              <a:rPr lang="en-US" sz="1500" i="1" dirty="0">
                <a:solidFill>
                  <a:schemeClr val="accent5"/>
                </a:solidFill>
              </a:rPr>
              <a:t>A bookmaker covering 7% of matches therefore does not dilute the guarantee of the rest.</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Three OCO stages, from odds to a bet</a:t>
            </a:r>
            <a:endParaRPr lang="en-US" sz="3000" dirty="0"/>
          </a:p>
        </p:txBody>
      </p:sp>
      <p:sp>
        <p:nvSpPr>
          <p:cNvPr id="3" name="circle-1"/>
          <p:cNvSpPr/>
          <p:nvPr/>
        </p:nvSpPr>
        <p:spPr>
          <a:xfrm>
            <a:off x="640080" y="1691640"/>
            <a:ext cx="566928" cy="566928"/>
          </a:xfrm>
          <a:prstGeom prst="ellipse">
            <a:avLst/>
          </a:prstGeom>
          <a:solidFill>
            <a:schemeClr val="accent1"/>
          </a:solidFill>
          <a:ln/>
        </p:spPr>
      </p:sp>
      <p:sp>
        <p:nvSpPr>
          <p:cNvPr id="4" name="Text 2"/>
          <p:cNvSpPr txBox="1"/>
          <p:nvPr/>
        </p:nvSpPr>
        <p:spPr>
          <a:xfrm>
            <a:off x="640080" y="1691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ext 3"/>
          <p:cNvSpPr txBox="1"/>
          <p:nvPr/>
        </p:nvSpPr>
        <p:spPr>
          <a:xfrm>
            <a:off x="1508760" y="160020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Weighting</a:t>
            </a:r>
            <a:endParaRPr lang="en-US" sz="2000" dirty="0"/>
          </a:p>
        </p:txBody>
      </p:sp>
      <p:sp>
        <p:nvSpPr>
          <p:cNvPr id="6" name="Text 4"/>
          <p:cNvSpPr txBox="1"/>
          <p:nvPr/>
        </p:nvSpPr>
        <p:spPr>
          <a:xfrm>
            <a:off x="3931920" y="1600200"/>
            <a:ext cx="2834640" cy="457200"/>
          </a:xfrm>
          <a:prstGeom prst="rect">
            <a:avLst/>
          </a:prstGeom>
          <a:noFill/>
          <a:ln/>
        </p:spPr>
        <p:txBody>
          <a:bodyPr wrap="square" lIns="0" tIns="0" rIns="0" bIns="0" rtlCol="0" anchor="ctr"/>
          <a:lstStyle/>
          <a:p>
            <a:pPr indent="0" marL="0">
              <a:buNone/>
            </a:pPr>
            <a:r>
              <a:rPr lang="en-US" sz="1600" i="1" dirty="0">
                <a:solidFill>
                  <a:schemeClr val="accent1"/>
                </a:solidFill>
              </a:rPr>
              <a:t>the weight vector w</a:t>
            </a:r>
            <a:endParaRPr lang="en-US" sz="1600" dirty="0"/>
          </a:p>
        </p:txBody>
      </p:sp>
      <p:sp>
        <p:nvSpPr>
          <p:cNvPr id="7" name="Text 5"/>
          <p:cNvSpPr txBox="1"/>
          <p:nvPr/>
        </p:nvSpPr>
        <p:spPr>
          <a:xfrm>
            <a:off x="6949440" y="1600200"/>
            <a:ext cx="4572000" cy="457200"/>
          </a:xfrm>
          <a:prstGeom prst="rect">
            <a:avLst/>
          </a:prstGeom>
          <a:noFill/>
          <a:ln/>
        </p:spPr>
        <p:txBody>
          <a:bodyPr wrap="square" lIns="0" tIns="0" rIns="0" bIns="0" rtlCol="0" anchor="ctr"/>
          <a:lstStyle/>
          <a:p>
            <a:pPr indent="0" marL="0">
              <a:buNone/>
            </a:pPr>
            <a:r>
              <a:rPr lang="en-US" sz="1400" dirty="0">
                <a:solidFill>
                  <a:schemeClr val="accent5"/>
                </a:solidFill>
              </a:rPr>
              <a:t>Hedge / OGD / FTRL over the awake experts</a:t>
            </a:r>
            <a:endParaRPr lang="en-US" sz="1400" dirty="0"/>
          </a:p>
        </p:txBody>
      </p:sp>
      <p:sp>
        <p:nvSpPr>
          <p:cNvPr id="8" name="circle-2"/>
          <p:cNvSpPr/>
          <p:nvPr/>
        </p:nvSpPr>
        <p:spPr>
          <a:xfrm>
            <a:off x="640080" y="3063240"/>
            <a:ext cx="566928" cy="566928"/>
          </a:xfrm>
          <a:prstGeom prst="ellipse">
            <a:avLst/>
          </a:prstGeom>
          <a:solidFill>
            <a:schemeClr val="accent1"/>
          </a:solidFill>
          <a:ln/>
        </p:spPr>
      </p:sp>
      <p:sp>
        <p:nvSpPr>
          <p:cNvPr id="9" name="Text 7"/>
          <p:cNvSpPr txBox="1"/>
          <p:nvPr/>
        </p:nvSpPr>
        <p:spPr>
          <a:xfrm>
            <a:off x="640080" y="30632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0" name="Text 8"/>
          <p:cNvSpPr txBox="1"/>
          <p:nvPr/>
        </p:nvSpPr>
        <p:spPr>
          <a:xfrm>
            <a:off x="1508760" y="297180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Calibration</a:t>
            </a:r>
            <a:endParaRPr lang="en-US" sz="2000" dirty="0"/>
          </a:p>
        </p:txBody>
      </p:sp>
      <p:sp>
        <p:nvSpPr>
          <p:cNvPr id="11" name="Text 9"/>
          <p:cNvSpPr txBox="1"/>
          <p:nvPr/>
        </p:nvSpPr>
        <p:spPr>
          <a:xfrm>
            <a:off x="3931920" y="2971800"/>
            <a:ext cx="2834640" cy="457200"/>
          </a:xfrm>
          <a:prstGeom prst="rect">
            <a:avLst/>
          </a:prstGeom>
          <a:noFill/>
          <a:ln/>
        </p:spPr>
        <p:txBody>
          <a:bodyPr wrap="square" lIns="0" tIns="0" rIns="0" bIns="0" rtlCol="0" anchor="ctr"/>
          <a:lstStyle/>
          <a:p>
            <a:pPr indent="0" marL="0">
              <a:buNone/>
            </a:pPr>
            <a:r>
              <a:rPr lang="en-US" sz="1600" i="1" dirty="0">
                <a:solidFill>
                  <a:schemeClr val="accent1"/>
                </a:solidFill>
              </a:rPr>
              <a:t>the temperature s</a:t>
            </a:r>
            <a:endParaRPr lang="en-US" sz="1600" dirty="0"/>
          </a:p>
        </p:txBody>
      </p:sp>
      <p:sp>
        <p:nvSpPr>
          <p:cNvPr id="12" name="Text 10"/>
          <p:cNvSpPr txBox="1"/>
          <p:nvPr/>
        </p:nvSpPr>
        <p:spPr>
          <a:xfrm>
            <a:off x="6949440" y="2971800"/>
            <a:ext cx="4572000" cy="457200"/>
          </a:xfrm>
          <a:prstGeom prst="rect">
            <a:avLst/>
          </a:prstGeom>
          <a:noFill/>
          <a:ln/>
        </p:spPr>
        <p:txBody>
          <a:bodyPr wrap="square" lIns="0" tIns="0" rIns="0" bIns="0" rtlCol="0" anchor="ctr"/>
          <a:lstStyle/>
          <a:p>
            <a:pPr indent="0" marL="0">
              <a:buNone/>
            </a:pPr>
            <a:r>
              <a:rPr lang="en-US" sz="1400" dirty="0">
                <a:solidFill>
                  <a:schemeClr val="accent5"/>
                </a:solidFill>
              </a:rPr>
              <a:t>online temperature scaling; the loss is convex in s</a:t>
            </a:r>
            <a:endParaRPr lang="en-US" sz="1400" dirty="0"/>
          </a:p>
        </p:txBody>
      </p:sp>
      <p:sp>
        <p:nvSpPr>
          <p:cNvPr id="13" name="circle-3"/>
          <p:cNvSpPr/>
          <p:nvPr/>
        </p:nvSpPr>
        <p:spPr>
          <a:xfrm>
            <a:off x="640080" y="4434840"/>
            <a:ext cx="566928" cy="566928"/>
          </a:xfrm>
          <a:prstGeom prst="ellipse">
            <a:avLst/>
          </a:prstGeom>
          <a:solidFill>
            <a:schemeClr val="accent3"/>
          </a:solidFill>
          <a:ln/>
        </p:spPr>
      </p:sp>
      <p:sp>
        <p:nvSpPr>
          <p:cNvPr id="14" name="Text 12"/>
          <p:cNvSpPr txBox="1"/>
          <p:nvPr/>
        </p:nvSpPr>
        <p:spPr>
          <a:xfrm>
            <a:off x="640080" y="44348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5" name="Text 13"/>
          <p:cNvSpPr txBox="1"/>
          <p:nvPr/>
        </p:nvSpPr>
        <p:spPr>
          <a:xfrm>
            <a:off x="1508760" y="434340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Stake size</a:t>
            </a:r>
            <a:endParaRPr lang="en-US" sz="2000" dirty="0"/>
          </a:p>
        </p:txBody>
      </p:sp>
      <p:sp>
        <p:nvSpPr>
          <p:cNvPr id="16" name="Text 14"/>
          <p:cNvSpPr txBox="1"/>
          <p:nvPr/>
        </p:nvSpPr>
        <p:spPr>
          <a:xfrm>
            <a:off x="3931920" y="4343400"/>
            <a:ext cx="2834640" cy="457200"/>
          </a:xfrm>
          <a:prstGeom prst="rect">
            <a:avLst/>
          </a:prstGeom>
          <a:noFill/>
          <a:ln/>
        </p:spPr>
        <p:txBody>
          <a:bodyPr wrap="square" lIns="0" tIns="0" rIns="0" bIns="0" rtlCol="0" anchor="ctr"/>
          <a:lstStyle/>
          <a:p>
            <a:pPr indent="0" marL="0">
              <a:buNone/>
            </a:pPr>
            <a:r>
              <a:rPr lang="en-US" sz="1600" i="1" dirty="0">
                <a:solidFill>
                  <a:schemeClr val="accent3"/>
                </a:solidFill>
              </a:rPr>
              <a:t>the Kelly multiplier λ</a:t>
            </a:r>
            <a:endParaRPr lang="en-US" sz="1600" dirty="0"/>
          </a:p>
        </p:txBody>
      </p:sp>
      <p:sp>
        <p:nvSpPr>
          <p:cNvPr id="17" name="Text 15"/>
          <p:cNvSpPr txBox="1"/>
          <p:nvPr/>
        </p:nvSpPr>
        <p:spPr>
          <a:xfrm>
            <a:off x="6949440" y="4343400"/>
            <a:ext cx="4572000" cy="457200"/>
          </a:xfrm>
          <a:prstGeom prst="rect">
            <a:avLst/>
          </a:prstGeom>
          <a:noFill/>
          <a:ln/>
        </p:spPr>
        <p:txBody>
          <a:bodyPr wrap="square" lIns="0" tIns="0" rIns="0" bIns="0" rtlCol="0" anchor="ctr"/>
          <a:lstStyle/>
          <a:p>
            <a:pPr indent="0" marL="0">
              <a:buNone/>
            </a:pPr>
            <a:r>
              <a:rPr lang="en-US" sz="1400" dirty="0">
                <a:solidFill>
                  <a:schemeClr val="accent5"/>
                </a:solidFill>
              </a:rPr>
              <a:t>Online Newton Step; the loss is exp-concave in λ</a:t>
            </a:r>
            <a:endParaRPr lang="en-US" sz="1400" dirty="0"/>
          </a:p>
        </p:txBody>
      </p:sp>
      <p:sp>
        <p:nvSpPr>
          <p:cNvPr id="18" name="recipe"/>
          <p:cNvSpPr/>
          <p:nvPr/>
        </p:nvSpPr>
        <p:spPr>
          <a:xfrm>
            <a:off x="640080" y="5486400"/>
            <a:ext cx="10881360" cy="914400"/>
          </a:xfrm>
          <a:prstGeom prst="roundRect">
            <a:avLst>
              <a:gd name="adj" fmla="val 8000"/>
            </a:avLst>
          </a:prstGeom>
          <a:solidFill>
            <a:srgbClr val="F2F5F9"/>
          </a:solidFill>
          <a:ln w="12700">
            <a:solidFill>
              <a:srgbClr val="E2E8F0"/>
            </a:solidFill>
            <a:prstDash val="solid"/>
          </a:ln>
        </p:spPr>
      </p:sp>
      <p:sp>
        <p:nvSpPr>
          <p:cNvPr id="19" name="Text 17"/>
          <p:cNvSpPr txBox="1"/>
          <p:nvPr/>
        </p:nvSpPr>
        <p:spPr>
          <a:xfrm>
            <a:off x="960120" y="5623560"/>
            <a:ext cx="10241280" cy="640080"/>
          </a:xfrm>
          <a:prstGeom prst="rect">
            <a:avLst/>
          </a:prstGeom>
          <a:noFill/>
          <a:ln/>
        </p:spPr>
        <p:txBody>
          <a:bodyPr wrap="square" rtlCol="0" anchor="ctr"/>
          <a:lstStyle/>
          <a:p>
            <a:pPr indent="0" marL="0">
              <a:buNone/>
            </a:pPr>
            <a:r>
              <a:rPr lang="en-US" sz="1500" dirty="0">
                <a:solidFill>
                  <a:schemeClr val="tx1"/>
                </a:solidFill>
              </a:rPr>
              <a:t>Convex loss, causal update, projection onto the feasible set. Only the unknown changes, and with it which algorithm is the right one.</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How the results were checked</a:t>
            </a:r>
            <a:endParaRPr lang="en-US" sz="3000" dirty="0"/>
          </a:p>
        </p:txBody>
      </p:sp>
      <p:sp>
        <p:nvSpPr>
          <p:cNvPr id="3" name="check-0"/>
          <p:cNvSpPr/>
          <p:nvPr/>
        </p:nvSpPr>
        <p:spPr>
          <a:xfrm>
            <a:off x="640080" y="1417320"/>
            <a:ext cx="5349240" cy="2194560"/>
          </a:xfrm>
          <a:prstGeom prst="roundRect">
            <a:avLst>
              <a:gd name="adj" fmla="val 3333"/>
            </a:avLst>
          </a:prstGeom>
          <a:solidFill>
            <a:srgbClr val="F2F5F9"/>
          </a:solidFill>
          <a:ln w="12700">
            <a:solidFill>
              <a:srgbClr val="E2E8F0"/>
            </a:solidFill>
            <a:prstDash val="solid"/>
          </a:ln>
        </p:spPr>
      </p:sp>
      <p:sp>
        <p:nvSpPr>
          <p:cNvPr id="4" name="circle-1"/>
          <p:cNvSpPr/>
          <p:nvPr/>
        </p:nvSpPr>
        <p:spPr>
          <a:xfrm>
            <a:off x="868680" y="1618488"/>
            <a:ext cx="566928" cy="566928"/>
          </a:xfrm>
          <a:prstGeom prst="ellipse">
            <a:avLst/>
          </a:prstGeom>
          <a:solidFill>
            <a:schemeClr val="accent1"/>
          </a:solidFill>
          <a:ln/>
        </p:spPr>
      </p:sp>
      <p:sp>
        <p:nvSpPr>
          <p:cNvPr id="5" name="Text 3"/>
          <p:cNvSpPr txBox="1"/>
          <p:nvPr/>
        </p:nvSpPr>
        <p:spPr>
          <a:xfrm>
            <a:off x="868680" y="16184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1600200" y="1618488"/>
            <a:ext cx="4206240" cy="566928"/>
          </a:xfrm>
          <a:prstGeom prst="rect">
            <a:avLst/>
          </a:prstGeom>
          <a:noFill/>
          <a:ln/>
        </p:spPr>
        <p:txBody>
          <a:bodyPr wrap="square" lIns="0" tIns="0" rIns="0" bIns="0" rtlCol="0" anchor="ctr"/>
          <a:lstStyle/>
          <a:p>
            <a:pPr indent="0" marL="0">
              <a:buNone/>
            </a:pPr>
            <a:r>
              <a:rPr lang="en-US" sz="1550" b="1" dirty="0">
                <a:solidFill>
                  <a:schemeClr val="tx2"/>
                </a:solidFill>
              </a:rPr>
              <a:t>Select on the first 75%, report the tail</a:t>
            </a:r>
            <a:endParaRPr lang="en-US" sz="1550" dirty="0"/>
          </a:p>
        </p:txBody>
      </p:sp>
      <p:sp>
        <p:nvSpPr>
          <p:cNvPr id="7" name="Text 5"/>
          <p:cNvSpPr txBox="1"/>
          <p:nvPr/>
        </p:nvSpPr>
        <p:spPr>
          <a:xfrm>
            <a:off x="914400" y="2313432"/>
            <a:ext cx="4846320" cy="731520"/>
          </a:xfrm>
          <a:prstGeom prst="rect">
            <a:avLst/>
          </a:prstGeom>
          <a:noFill/>
          <a:ln/>
        </p:spPr>
        <p:txBody>
          <a:bodyPr wrap="square" lIns="0" tIns="0" rIns="0" bIns="0" rtlCol="0" anchor="t"/>
          <a:lstStyle/>
          <a:p>
            <a:pPr indent="0" marL="0">
              <a:buNone/>
            </a:pPr>
            <a:r>
              <a:rPr lang="en-US" sz="1250" dirty="0">
                <a:solidFill>
                  <a:schemeClr val="tx1"/>
                </a:solidFill>
              </a:rPr>
              <a:t>Step sizes and calibration rates are chosen on the chronological prefix only; the last 25% is never used to choose anything.</a:t>
            </a:r>
            <a:endParaRPr lang="en-US" sz="1250" dirty="0"/>
          </a:p>
        </p:txBody>
      </p:sp>
      <p:sp>
        <p:nvSpPr>
          <p:cNvPr id="8" name="Text 6"/>
          <p:cNvSpPr txBox="1"/>
          <p:nvPr/>
        </p:nvSpPr>
        <p:spPr>
          <a:xfrm>
            <a:off x="914400" y="3063240"/>
            <a:ext cx="4846320" cy="457200"/>
          </a:xfrm>
          <a:prstGeom prst="rect">
            <a:avLst/>
          </a:prstGeom>
          <a:noFill/>
          <a:ln/>
        </p:spPr>
        <p:txBody>
          <a:bodyPr wrap="square" lIns="0" tIns="0" rIns="0" bIns="0" rtlCol="0" anchor="t"/>
          <a:lstStyle/>
          <a:p>
            <a:pPr indent="0" marL="0">
              <a:buNone/>
            </a:pPr>
            <a:r>
              <a:rPr lang="en-US" sz="1250" i="1" dirty="0">
                <a:solidFill>
                  <a:schemeClr val="accent2"/>
                </a:solidFill>
              </a:rPr>
              <a:t>Caught: tail selection would have retuned FTRL, and on train the order reverses.</a:t>
            </a:r>
            <a:endParaRPr lang="en-US" sz="1250" dirty="0"/>
          </a:p>
        </p:txBody>
      </p:sp>
      <p:sp>
        <p:nvSpPr>
          <p:cNvPr id="9" name="check-1"/>
          <p:cNvSpPr/>
          <p:nvPr/>
        </p:nvSpPr>
        <p:spPr>
          <a:xfrm>
            <a:off x="6172200" y="1417320"/>
            <a:ext cx="5349240" cy="2194560"/>
          </a:xfrm>
          <a:prstGeom prst="roundRect">
            <a:avLst>
              <a:gd name="adj" fmla="val 3333"/>
            </a:avLst>
          </a:prstGeom>
          <a:solidFill>
            <a:srgbClr val="F2F5F9"/>
          </a:solidFill>
          <a:ln w="12700">
            <a:solidFill>
              <a:srgbClr val="E2E8F0"/>
            </a:solidFill>
            <a:prstDash val="solid"/>
          </a:ln>
        </p:spPr>
      </p:sp>
      <p:sp>
        <p:nvSpPr>
          <p:cNvPr id="10" name="circle-2"/>
          <p:cNvSpPr/>
          <p:nvPr/>
        </p:nvSpPr>
        <p:spPr>
          <a:xfrm>
            <a:off x="6400800" y="1618488"/>
            <a:ext cx="566928" cy="566928"/>
          </a:xfrm>
          <a:prstGeom prst="ellipse">
            <a:avLst/>
          </a:prstGeom>
          <a:solidFill>
            <a:schemeClr val="accent1"/>
          </a:solidFill>
          <a:ln/>
        </p:spPr>
      </p:sp>
      <p:sp>
        <p:nvSpPr>
          <p:cNvPr id="11" name="Text 9"/>
          <p:cNvSpPr txBox="1"/>
          <p:nvPr/>
        </p:nvSpPr>
        <p:spPr>
          <a:xfrm>
            <a:off x="6400800" y="16184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2" name="Text 10"/>
          <p:cNvSpPr txBox="1"/>
          <p:nvPr/>
        </p:nvSpPr>
        <p:spPr>
          <a:xfrm>
            <a:off x="7132320" y="1618488"/>
            <a:ext cx="4206240" cy="566928"/>
          </a:xfrm>
          <a:prstGeom prst="rect">
            <a:avLst/>
          </a:prstGeom>
          <a:noFill/>
          <a:ln/>
        </p:spPr>
        <p:txBody>
          <a:bodyPr wrap="square" lIns="0" tIns="0" rIns="0" bIns="0" rtlCol="0" anchor="ctr"/>
          <a:lstStyle/>
          <a:p>
            <a:pPr indent="0" marL="0">
              <a:buNone/>
            </a:pPr>
            <a:r>
              <a:rPr lang="en-US" sz="1550" b="1" dirty="0">
                <a:solidFill>
                  <a:schemeClr val="tx2"/>
                </a:solidFill>
              </a:rPr>
              <a:t>A moving block bootstrap on every claim</a:t>
            </a:r>
            <a:endParaRPr lang="en-US" sz="1550" dirty="0"/>
          </a:p>
        </p:txBody>
      </p:sp>
      <p:sp>
        <p:nvSpPr>
          <p:cNvPr id="13" name="Text 11"/>
          <p:cNvSpPr txBox="1"/>
          <p:nvPr/>
        </p:nvSpPr>
        <p:spPr>
          <a:xfrm>
            <a:off x="6446520" y="2313432"/>
            <a:ext cx="4846320" cy="731520"/>
          </a:xfrm>
          <a:prstGeom prst="rect">
            <a:avLst/>
          </a:prstGeom>
          <a:noFill/>
          <a:ln/>
        </p:spPr>
        <p:txBody>
          <a:bodyPr wrap="square" lIns="0" tIns="0" rIns="0" bIns="0" rtlCol="0" anchor="t"/>
          <a:lstStyle/>
          <a:p>
            <a:pPr indent="0" marL="0">
              <a:buNone/>
            </a:pPr>
            <a:r>
              <a:rPr lang="en-US" sz="1250" dirty="0">
                <a:solidFill>
                  <a:schemeClr val="tx1"/>
                </a:solidFill>
              </a:rPr>
              <a:t>Consecutive matches are dependent, so an i.i.d. test overstates certainty. Resampling blocks of about 42 rounds keeps the dependence.</a:t>
            </a:r>
            <a:endParaRPr lang="en-US" sz="1250" dirty="0"/>
          </a:p>
        </p:txBody>
      </p:sp>
      <p:sp>
        <p:nvSpPr>
          <p:cNvPr id="14" name="Text 12"/>
          <p:cNvSpPr txBox="1"/>
          <p:nvPr/>
        </p:nvSpPr>
        <p:spPr>
          <a:xfrm>
            <a:off x="6446520" y="3063240"/>
            <a:ext cx="4846320" cy="457200"/>
          </a:xfrm>
          <a:prstGeom prst="rect">
            <a:avLst/>
          </a:prstGeom>
          <a:noFill/>
          <a:ln/>
        </p:spPr>
        <p:txBody>
          <a:bodyPr wrap="square" lIns="0" tIns="0" rIns="0" bIns="0" rtlCol="0" anchor="t"/>
          <a:lstStyle/>
          <a:p>
            <a:pPr indent="0" marL="0">
              <a:buNone/>
            </a:pPr>
            <a:r>
              <a:rPr lang="en-US" sz="1250" i="1" dirty="0">
                <a:solidFill>
                  <a:schemeClr val="accent5"/>
                </a:solidFill>
              </a:rPr>
              <a:t>Every "beats" and "ties" in this talk is one of these paired tests.</a:t>
            </a:r>
            <a:endParaRPr lang="en-US" sz="1250" dirty="0"/>
          </a:p>
        </p:txBody>
      </p:sp>
      <p:sp>
        <p:nvSpPr>
          <p:cNvPr id="15" name="check-2"/>
          <p:cNvSpPr/>
          <p:nvPr/>
        </p:nvSpPr>
        <p:spPr>
          <a:xfrm>
            <a:off x="640080" y="3794760"/>
            <a:ext cx="5349240" cy="2194560"/>
          </a:xfrm>
          <a:prstGeom prst="roundRect">
            <a:avLst>
              <a:gd name="adj" fmla="val 3333"/>
            </a:avLst>
          </a:prstGeom>
          <a:solidFill>
            <a:srgbClr val="F2F5F9"/>
          </a:solidFill>
          <a:ln w="12700">
            <a:solidFill>
              <a:srgbClr val="E2E8F0"/>
            </a:solidFill>
            <a:prstDash val="solid"/>
          </a:ln>
        </p:spPr>
      </p:sp>
      <p:sp>
        <p:nvSpPr>
          <p:cNvPr id="16" name="circle-3"/>
          <p:cNvSpPr/>
          <p:nvPr/>
        </p:nvSpPr>
        <p:spPr>
          <a:xfrm>
            <a:off x="868680" y="3995928"/>
            <a:ext cx="566928" cy="566928"/>
          </a:xfrm>
          <a:prstGeom prst="ellipse">
            <a:avLst/>
          </a:prstGeom>
          <a:solidFill>
            <a:schemeClr val="accent1"/>
          </a:solidFill>
          <a:ln/>
        </p:spPr>
      </p:sp>
      <p:sp>
        <p:nvSpPr>
          <p:cNvPr id="17" name="Text 15"/>
          <p:cNvSpPr txBox="1"/>
          <p:nvPr/>
        </p:nvSpPr>
        <p:spPr>
          <a:xfrm>
            <a:off x="868680" y="399592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8" name="Text 16"/>
          <p:cNvSpPr txBox="1"/>
          <p:nvPr/>
        </p:nvSpPr>
        <p:spPr>
          <a:xfrm>
            <a:off x="1600200" y="3995928"/>
            <a:ext cx="4206240" cy="566928"/>
          </a:xfrm>
          <a:prstGeom prst="rect">
            <a:avLst/>
          </a:prstGeom>
          <a:noFill/>
          <a:ln/>
        </p:spPr>
        <p:txBody>
          <a:bodyPr wrap="square" lIns="0" tIns="0" rIns="0" bIns="0" rtlCol="0" anchor="ctr"/>
          <a:lstStyle/>
          <a:p>
            <a:pPr indent="0" marL="0">
              <a:buNone/>
            </a:pPr>
            <a:r>
              <a:rPr lang="en-US" sz="1550" b="1" dirty="0">
                <a:solidFill>
                  <a:schemeClr val="tx2"/>
                </a:solidFill>
              </a:rPr>
              <a:t>Compare only on common matches</a:t>
            </a:r>
            <a:endParaRPr lang="en-US" sz="1550" dirty="0"/>
          </a:p>
        </p:txBody>
      </p:sp>
      <p:sp>
        <p:nvSpPr>
          <p:cNvPr id="19" name="Text 17"/>
          <p:cNvSpPr txBox="1"/>
          <p:nvPr/>
        </p:nvSpPr>
        <p:spPr>
          <a:xfrm>
            <a:off x="914400" y="4690872"/>
            <a:ext cx="4846320" cy="731520"/>
          </a:xfrm>
          <a:prstGeom prst="rect">
            <a:avLst/>
          </a:prstGeom>
          <a:noFill/>
          <a:ln/>
        </p:spPr>
        <p:txBody>
          <a:bodyPr wrap="square" lIns="0" tIns="0" rIns="0" bIns="0" rtlCol="0" anchor="t"/>
          <a:lstStyle/>
          <a:p>
            <a:pPr indent="0" marL="0">
              <a:buNone/>
            </a:pPr>
            <a:r>
              <a:rPr lang="en-US" sz="1250" dirty="0">
                <a:solidFill>
                  <a:schemeClr val="tx1"/>
                </a:solidFill>
              </a:rPr>
              <a:t>Series with different coverage are scored only where both are defined, never by subtracting two table entries.</a:t>
            </a:r>
            <a:endParaRPr lang="en-US" sz="1250" dirty="0"/>
          </a:p>
        </p:txBody>
      </p:sp>
      <p:sp>
        <p:nvSpPr>
          <p:cNvPr id="20" name="Text 18"/>
          <p:cNvSpPr txBox="1"/>
          <p:nvPr/>
        </p:nvSpPr>
        <p:spPr>
          <a:xfrm>
            <a:off x="914400" y="5440680"/>
            <a:ext cx="4846320" cy="457200"/>
          </a:xfrm>
          <a:prstGeom prst="rect">
            <a:avLst/>
          </a:prstGeom>
          <a:noFill/>
          <a:ln/>
        </p:spPr>
        <p:txBody>
          <a:bodyPr wrap="square" lIns="0" tIns="0" rIns="0" bIns="0" rtlCol="0" anchor="t"/>
          <a:lstStyle/>
          <a:p>
            <a:pPr indent="0" marL="0">
              <a:buNone/>
            </a:pPr>
            <a:r>
              <a:rPr lang="en-US" sz="1250" i="1" dirty="0">
                <a:solidFill>
                  <a:schemeClr val="accent2"/>
                </a:solidFill>
              </a:rPr>
              <a:t>Caught: a false near-tie with Pinnacle and a false win over B365C.</a:t>
            </a:r>
            <a:endParaRPr lang="en-US" sz="1250" dirty="0"/>
          </a:p>
        </p:txBody>
      </p:sp>
      <p:sp>
        <p:nvSpPr>
          <p:cNvPr id="21" name="check-3"/>
          <p:cNvSpPr/>
          <p:nvPr/>
        </p:nvSpPr>
        <p:spPr>
          <a:xfrm>
            <a:off x="6172200" y="3794760"/>
            <a:ext cx="5349240" cy="2194560"/>
          </a:xfrm>
          <a:prstGeom prst="roundRect">
            <a:avLst>
              <a:gd name="adj" fmla="val 3333"/>
            </a:avLst>
          </a:prstGeom>
          <a:solidFill>
            <a:srgbClr val="F2F5F9"/>
          </a:solidFill>
          <a:ln w="12700">
            <a:solidFill>
              <a:srgbClr val="E2E8F0"/>
            </a:solidFill>
            <a:prstDash val="solid"/>
          </a:ln>
        </p:spPr>
      </p:sp>
      <p:sp>
        <p:nvSpPr>
          <p:cNvPr id="22" name="circle-4"/>
          <p:cNvSpPr/>
          <p:nvPr/>
        </p:nvSpPr>
        <p:spPr>
          <a:xfrm>
            <a:off x="6400800" y="3995928"/>
            <a:ext cx="566928" cy="566928"/>
          </a:xfrm>
          <a:prstGeom prst="ellipse">
            <a:avLst/>
          </a:prstGeom>
          <a:solidFill>
            <a:schemeClr val="accent1"/>
          </a:solidFill>
          <a:ln/>
        </p:spPr>
      </p:sp>
      <p:sp>
        <p:nvSpPr>
          <p:cNvPr id="23" name="Text 21"/>
          <p:cNvSpPr txBox="1"/>
          <p:nvPr/>
        </p:nvSpPr>
        <p:spPr>
          <a:xfrm>
            <a:off x="6400800" y="399592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4" name="Text 22"/>
          <p:cNvSpPr txBox="1"/>
          <p:nvPr/>
        </p:nvSpPr>
        <p:spPr>
          <a:xfrm>
            <a:off x="7132320" y="3995928"/>
            <a:ext cx="4206240" cy="566928"/>
          </a:xfrm>
          <a:prstGeom prst="rect">
            <a:avLst/>
          </a:prstGeom>
          <a:noFill/>
          <a:ln/>
        </p:spPr>
        <p:txBody>
          <a:bodyPr wrap="square" lIns="0" tIns="0" rIns="0" bIns="0" rtlCol="0" anchor="ctr"/>
          <a:lstStyle/>
          <a:p>
            <a:pPr indent="0" marL="0">
              <a:buNone/>
            </a:pPr>
            <a:r>
              <a:rPr lang="en-US" sz="1550" b="1" dirty="0">
                <a:solidFill>
                  <a:schemeClr val="tx2"/>
                </a:solidFill>
              </a:rPr>
              <a:t>Controls: step zero, grid edges, the bound</a:t>
            </a:r>
            <a:endParaRPr lang="en-US" sz="1550" dirty="0"/>
          </a:p>
        </p:txBody>
      </p:sp>
      <p:sp>
        <p:nvSpPr>
          <p:cNvPr id="25" name="Text 23"/>
          <p:cNvSpPr txBox="1"/>
          <p:nvPr/>
        </p:nvSpPr>
        <p:spPr>
          <a:xfrm>
            <a:off x="6446520" y="4690872"/>
            <a:ext cx="4846320" cy="731520"/>
          </a:xfrm>
          <a:prstGeom prst="rect">
            <a:avLst/>
          </a:prstGeom>
          <a:noFill/>
          <a:ln/>
        </p:spPr>
        <p:txBody>
          <a:bodyPr wrap="square" lIns="0" tIns="0" rIns="0" bIns="0" rtlCol="0" anchor="t"/>
          <a:lstStyle/>
          <a:p>
            <a:pPr indent="0" marL="0">
              <a:buNone/>
            </a:pPr>
            <a:r>
              <a:rPr lang="en-US" sz="1250" dirty="0">
                <a:solidFill>
                  <a:schemeClr val="tx1"/>
                </a:solidFill>
              </a:rPr>
              <a:t>Run the same algorithm with step zero, extend any sweep whose best value sits on its edge, and check that the regret bound holds.</a:t>
            </a:r>
            <a:endParaRPr lang="en-US" sz="1250" dirty="0"/>
          </a:p>
        </p:txBody>
      </p:sp>
      <p:sp>
        <p:nvSpPr>
          <p:cNvPr id="26" name="Text 24"/>
          <p:cNvSpPr txBox="1"/>
          <p:nvPr/>
        </p:nvSpPr>
        <p:spPr>
          <a:xfrm>
            <a:off x="6446520" y="5440680"/>
            <a:ext cx="4846320" cy="457200"/>
          </a:xfrm>
          <a:prstGeom prst="rect">
            <a:avLst/>
          </a:prstGeom>
          <a:noFill/>
          <a:ln/>
        </p:spPr>
        <p:txBody>
          <a:bodyPr wrap="square" lIns="0" tIns="0" rIns="0" bIns="0" rtlCol="0" anchor="t"/>
          <a:lstStyle/>
          <a:p>
            <a:pPr indent="0" marL="0">
              <a:buNone/>
            </a:pPr>
            <a:r>
              <a:rPr lang="en-US" sz="1250" i="1" dirty="0">
                <a:solidFill>
                  <a:schemeClr val="accent2"/>
                </a:solidFill>
              </a:rPr>
              <a:t>Caught: 42% of OGD's margin credited to learning, and a Hedge that broke its own guarantee 50-fold.</a:t>
            </a:r>
            <a:endParaRPr lang="en-US" sz="12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The theoretical step is wrong, in both directions</a:t>
            </a:r>
            <a:endParaRPr lang="en-US" sz="3000" dirty="0"/>
          </a:p>
        </p:txBody>
      </p:sp>
      <p:graphicFrame>
        <p:nvGraphicFramePr>
          <p:cNvPr id="3" name="Chart 0" descr=""/>
          <p:cNvGraphicFramePr/>
          <p:nvPr/>
        </p:nvGraphicFramePr>
        <p:xfrm>
          <a:off x="640080" y="1463040"/>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4" name="step-note"/>
          <p:cNvSpPr/>
          <p:nvPr/>
        </p:nvSpPr>
        <p:spPr>
          <a:xfrm>
            <a:off x="7589520" y="1463040"/>
            <a:ext cx="3931920" cy="3840480"/>
          </a:xfrm>
          <a:prstGeom prst="roundRect">
            <a:avLst>
              <a:gd name="adj" fmla="val 1905"/>
            </a:avLst>
          </a:prstGeom>
          <a:solidFill>
            <a:srgbClr val="F2F5F9"/>
          </a:solidFill>
          <a:ln w="12700">
            <a:solidFill>
              <a:srgbClr val="E2E8F0"/>
            </a:solidFill>
            <a:prstDash val="solid"/>
          </a:ln>
        </p:spPr>
      </p:sp>
      <p:sp>
        <p:nvSpPr>
          <p:cNvPr id="5" name="Text 2"/>
          <p:cNvSpPr txBox="1"/>
          <p:nvPr/>
        </p:nvSpPr>
        <p:spPr>
          <a:xfrm>
            <a:off x="7909560" y="1691640"/>
            <a:ext cx="3291840" cy="411480"/>
          </a:xfrm>
          <a:prstGeom prst="rect">
            <a:avLst/>
          </a:prstGeom>
          <a:noFill/>
          <a:ln/>
        </p:spPr>
        <p:txBody>
          <a:bodyPr wrap="square" lIns="0" tIns="0" rIns="0" bIns="0" rtlCol="0" anchor="ctr"/>
          <a:lstStyle/>
          <a:p>
            <a:pPr indent="0" marL="0">
              <a:buNone/>
            </a:pPr>
            <a:r>
              <a:rPr lang="en-US" sz="1800" b="1" dirty="0">
                <a:solidFill>
                  <a:schemeClr val="accent1"/>
                </a:solidFill>
              </a:rPr>
              <a:t>OGD wants ×100</a:t>
            </a:r>
            <a:endParaRPr lang="en-US" sz="1800" dirty="0"/>
          </a:p>
        </p:txBody>
      </p:sp>
      <p:sp>
        <p:nvSpPr>
          <p:cNvPr id="6" name="Text 3"/>
          <p:cNvSpPr txBox="1"/>
          <p:nvPr/>
        </p:nvSpPr>
        <p:spPr>
          <a:xfrm>
            <a:off x="7909560" y="2148840"/>
            <a:ext cx="3291840" cy="914400"/>
          </a:xfrm>
          <a:prstGeom prst="rect">
            <a:avLst/>
          </a:prstGeom>
          <a:noFill/>
          <a:ln/>
        </p:spPr>
        <p:txBody>
          <a:bodyPr wrap="square" lIns="0" tIns="0" rIns="0" bIns="0" rtlCol="0" anchor="ctr"/>
          <a:lstStyle/>
          <a:p>
            <a:pPr indent="0" marL="0">
              <a:buNone/>
            </a:pPr>
            <a:r>
              <a:rPr lang="en-US" sz="1400" dirty="0">
                <a:solidFill>
                  <a:schemeClr val="tx1"/>
                </a:solidFill>
              </a:rPr>
              <a:t>A genuine interior optimum: a plateau from ×75 to ×110, clearly worse at ×200 and beyond.</a:t>
            </a:r>
            <a:endParaRPr lang="en-US" sz="1400" dirty="0"/>
          </a:p>
        </p:txBody>
      </p:sp>
      <p:sp>
        <p:nvSpPr>
          <p:cNvPr id="7" name="Text 4"/>
          <p:cNvSpPr txBox="1"/>
          <p:nvPr/>
        </p:nvSpPr>
        <p:spPr>
          <a:xfrm>
            <a:off x="7909560" y="3200400"/>
            <a:ext cx="3291840" cy="411480"/>
          </a:xfrm>
          <a:prstGeom prst="rect">
            <a:avLst/>
          </a:prstGeom>
          <a:noFill/>
          <a:ln/>
        </p:spPr>
        <p:txBody>
          <a:bodyPr wrap="square" lIns="0" tIns="0" rIns="0" bIns="0" rtlCol="0" anchor="ctr"/>
          <a:lstStyle/>
          <a:p>
            <a:pPr indent="0" marL="0">
              <a:buNone/>
            </a:pPr>
            <a:r>
              <a:rPr lang="en-US" sz="1600" b="1" dirty="0">
                <a:solidFill>
                  <a:schemeClr val="accent2"/>
                </a:solidFill>
              </a:rPr>
              <a:t>FTRL wants LESS, Hedge MORE</a:t>
            </a:r>
            <a:endParaRPr lang="en-US" sz="1600" dirty="0"/>
          </a:p>
        </p:txBody>
      </p:sp>
      <p:sp>
        <p:nvSpPr>
          <p:cNvPr id="8" name="Text 5"/>
          <p:cNvSpPr txBox="1"/>
          <p:nvPr/>
        </p:nvSpPr>
        <p:spPr>
          <a:xfrm>
            <a:off x="7909560" y="3639312"/>
            <a:ext cx="3291840" cy="1463040"/>
          </a:xfrm>
          <a:prstGeom prst="rect">
            <a:avLst/>
          </a:prstGeom>
          <a:noFill/>
          <a:ln/>
        </p:spPr>
        <p:txBody>
          <a:bodyPr wrap="square" lIns="0" tIns="0" rIns="0" bIns="0" rtlCol="0" anchor="ctr"/>
          <a:lstStyle/>
          <a:p>
            <a:pPr indent="0" marL="0">
              <a:buNone/>
            </a:pPr>
            <a:r>
              <a:rPr lang="en-US" sz="1400" dirty="0">
                <a:solidFill>
                  <a:schemeClr val="tx1"/>
                </a:solidFill>
              </a:rPr>
              <a:t>FTRL ×0.05; Hedge ×250, on a plateau from ×200 to ×1000. The worst-case bound assumes a loss of 13.8 that the data never produce; the largest observed is 3.76.</a:t>
            </a:r>
            <a:endParaRPr lang="en-US" sz="14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Where the mixture lands</a:t>
            </a:r>
            <a:endParaRPr lang="en-US" sz="3000" dirty="0"/>
          </a:p>
        </p:txBody>
      </p:sp>
      <p:graphicFrame>
        <p:nvGraphicFramePr>
          <p:cNvPr id="3" name="Chart 0" descr=""/>
          <p:cNvGraphicFramePr/>
          <p:nvPr/>
        </p:nvGraphicFramePr>
        <p:xfrm>
          <a:off x="640080" y="146304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4" name="rank-note"/>
          <p:cNvSpPr/>
          <p:nvPr/>
        </p:nvSpPr>
        <p:spPr>
          <a:xfrm>
            <a:off x="7863840" y="1463040"/>
            <a:ext cx="3657600" cy="4114800"/>
          </a:xfrm>
          <a:prstGeom prst="roundRect">
            <a:avLst>
              <a:gd name="adj" fmla="val 2000"/>
            </a:avLst>
          </a:prstGeom>
          <a:solidFill>
            <a:srgbClr val="F2F5F9"/>
          </a:solidFill>
          <a:ln w="12700">
            <a:solidFill>
              <a:srgbClr val="E2E8F0"/>
            </a:solidFill>
            <a:prstDash val="solid"/>
          </a:ln>
        </p:spPr>
      </p:sp>
      <p:sp>
        <p:nvSpPr>
          <p:cNvPr id="5" name="Text 2"/>
          <p:cNvSpPr txBox="1"/>
          <p:nvPr/>
        </p:nvSpPr>
        <p:spPr>
          <a:xfrm>
            <a:off x="8183880" y="1691640"/>
            <a:ext cx="3017520" cy="365760"/>
          </a:xfrm>
          <a:prstGeom prst="rect">
            <a:avLst/>
          </a:prstGeom>
          <a:noFill/>
          <a:ln/>
        </p:spPr>
        <p:txBody>
          <a:bodyPr wrap="square" lIns="0" tIns="0" rIns="0" bIns="0" rtlCol="0" anchor="ctr"/>
          <a:lstStyle/>
          <a:p>
            <a:pPr indent="0" marL="0">
              <a:buNone/>
            </a:pPr>
            <a:r>
              <a:rPr lang="en-US" sz="1800" b="1" dirty="0">
                <a:solidFill>
                  <a:schemeClr val="accent1"/>
                </a:solidFill>
              </a:rPr>
              <a:t>Hedge reaches Pinnacle</a:t>
            </a:r>
            <a:endParaRPr lang="en-US" sz="1800" dirty="0"/>
          </a:p>
        </p:txBody>
      </p:sp>
      <p:sp>
        <p:nvSpPr>
          <p:cNvPr id="6" name="Text 3"/>
          <p:cNvSpPr txBox="1"/>
          <p:nvPr/>
        </p:nvSpPr>
        <p:spPr>
          <a:xfrm>
            <a:off x="8183880" y="2148840"/>
            <a:ext cx="3017520" cy="3108960"/>
          </a:xfrm>
          <a:prstGeom prst="rect">
            <a:avLst/>
          </a:prstGeom>
          <a:noFill/>
          <a:ln/>
        </p:spPr>
        <p:txBody>
          <a:bodyPr wrap="square" rtlCol="0" anchor="ctr"/>
          <a:lstStyle/>
          <a:p>
            <a:pPr marL="342900" indent="-342900">
              <a:spcAft>
                <a:spcPts val="1000"/>
              </a:spcAft>
              <a:buSzPct val="100000"/>
              <a:buChar char="•"/>
            </a:pPr>
            <a:r>
              <a:rPr lang="en-US" sz="1350" dirty="0">
                <a:solidFill>
                  <a:schemeClr val="tx1"/>
                </a:solidFill>
              </a:rPr>
              <a:t>Hedge level with PSC over the decade (p = 0.43)</a:t>
            </a:r>
            <a:endParaRPr lang="en-US" sz="1350" dirty="0"/>
          </a:p>
          <a:p>
            <a:pPr marL="342900" indent="-342900">
              <a:spcAft>
                <a:spcPts val="1000"/>
              </a:spcAft>
              <a:buSzPct val="100000"/>
              <a:buChar char="•"/>
            </a:pPr>
            <a:r>
              <a:rPr lang="en-US" sz="1350" dirty="0">
                <a:solidFill>
                  <a:schemeClr val="tx1"/>
                </a:solidFill>
              </a:rPr>
              <a:t>Hedge beats OGD (p &lt; 0.001) and the uniform average by 0.0020</a:t>
            </a:r>
            <a:endParaRPr lang="en-US" sz="1350" dirty="0"/>
          </a:p>
          <a:p>
            <a:pPr marL="342900" indent="-342900">
              <a:spcAft>
                <a:spcPts val="1000"/>
              </a:spcAft>
              <a:buSzPct val="100000"/>
              <a:buChar char="•"/>
            </a:pPr>
            <a:r>
              <a:rPr lang="en-US" sz="1350" dirty="0">
                <a:solidFill>
                  <a:schemeClr val="tx1"/>
                </a:solidFill>
              </a:rPr>
              <a:t>OGD stays 0.00043 behind PSC</a:t>
            </a:r>
            <a:endParaRPr lang="en-US" sz="1350" dirty="0"/>
          </a:p>
          <a:p>
            <a:pPr marL="342900" indent="-342900">
              <a:spcAft>
                <a:spcPts val="1000"/>
              </a:spcAft>
              <a:buSzPct val="100000"/>
              <a:buChar char="•"/>
            </a:pPr>
            <a:r>
              <a:rPr lang="en-US" sz="1350" dirty="0">
                <a:solidFill>
                  <a:schemeClr val="tx1"/>
                </a:solidFill>
              </a:rPr>
              <a:t>all three beat every other bookmaker; calibration helps all four</a:t>
            </a:r>
            <a:endParaRPr lang="en-US" sz="1350" dirty="0"/>
          </a:p>
        </p:txBody>
      </p:sp>
      <p:sp>
        <p:nvSpPr>
          <p:cNvPr id="7" name="Text 4"/>
          <p:cNvSpPr txBox="1"/>
          <p:nvPr/>
        </p:nvSpPr>
        <p:spPr>
          <a:xfrm>
            <a:off x="640080" y="5715000"/>
            <a:ext cx="6949440" cy="320040"/>
          </a:xfrm>
          <a:prstGeom prst="rect">
            <a:avLst/>
          </a:prstGeom>
          <a:noFill/>
          <a:ln/>
        </p:spPr>
        <p:txBody>
          <a:bodyPr wrap="square" rtlCol="0" anchor="ctr"/>
          <a:lstStyle/>
          <a:p>
            <a:pPr indent="0" marL="0">
              <a:buNone/>
            </a:pPr>
            <a:r>
              <a:rPr lang="en-US" sz="1200" i="1" dirty="0">
                <a:solidFill>
                  <a:schemeClr val="accent5"/>
                </a:solidFill>
              </a:rPr>
              <a:t>lower is better · blue = algorithm · red = bookmaker · bars full-sample, tests paired on common rounds</a:t>
            </a:r>
            <a:endParaRPr lang="en-US" sz="12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Learning pays most where the experts differ</a:t>
            </a:r>
            <a:endParaRPr lang="en-US" sz="3000" dirty="0"/>
          </a:p>
        </p:txBody>
      </p:sp>
      <p:graphicFrame>
        <p:nvGraphicFramePr>
          <p:cNvPr id="3" name="Chart 0" descr=""/>
          <p:cNvGraphicFramePr/>
          <p:nvPr/>
        </p:nvGraphicFramePr>
        <p:xfrm>
          <a:off x="640080" y="1554480"/>
          <a:ext cx="6766560" cy="3657600"/>
        </p:xfrm>
        <a:graphic xmlns:a="http://schemas.openxmlformats.org/drawingml/2006/main">
          <a:graphicData uri="http://schemas.openxmlformats.org/drawingml/2006/chart">
            <c:chart xmlns:c="http://schemas.openxmlformats.org/drawingml/2006/chart" r:id="rId1"/>
          </a:graphicData>
        </a:graphic>
      </p:graphicFrame>
      <p:sp>
        <p:nvSpPr>
          <p:cNvPr id="4" name="panel-note"/>
          <p:cNvSpPr/>
          <p:nvPr/>
        </p:nvSpPr>
        <p:spPr>
          <a:xfrm>
            <a:off x="7680960" y="1554480"/>
            <a:ext cx="3840480" cy="3657600"/>
          </a:xfrm>
          <a:prstGeom prst="roundRect">
            <a:avLst>
              <a:gd name="adj" fmla="val 2000"/>
            </a:avLst>
          </a:prstGeom>
          <a:solidFill>
            <a:srgbClr val="FBF0F0"/>
          </a:solidFill>
          <a:ln w="12700">
            <a:solidFill>
              <a:srgbClr val="E2E8F0"/>
            </a:solidFill>
            <a:prstDash val="solid"/>
          </a:ln>
        </p:spPr>
      </p:sp>
      <p:sp>
        <p:nvSpPr>
          <p:cNvPr id="5" name="Text 2"/>
          <p:cNvSpPr txBox="1"/>
          <p:nvPr/>
        </p:nvSpPr>
        <p:spPr>
          <a:xfrm>
            <a:off x="8001000" y="1783080"/>
            <a:ext cx="3200400" cy="365760"/>
          </a:xfrm>
          <a:prstGeom prst="rect">
            <a:avLst/>
          </a:prstGeom>
          <a:noFill/>
          <a:ln/>
        </p:spPr>
        <p:txBody>
          <a:bodyPr wrap="square" lIns="0" tIns="0" rIns="0" bIns="0" rtlCol="0" anchor="ctr"/>
          <a:lstStyle/>
          <a:p>
            <a:pPr indent="0" marL="0">
              <a:buNone/>
            </a:pPr>
            <a:r>
              <a:rPr lang="en-US" sz="1800" b="1" dirty="0">
                <a:solidFill>
                  <a:schemeClr val="accent2"/>
                </a:solidFill>
              </a:rPr>
              <a:t>The gain shrinks</a:t>
            </a:r>
            <a:endParaRPr lang="en-US" sz="1800" dirty="0"/>
          </a:p>
        </p:txBody>
      </p:sp>
      <p:sp>
        <p:nvSpPr>
          <p:cNvPr id="6" name="Text 3"/>
          <p:cNvSpPr txBox="1"/>
          <p:nvPr/>
        </p:nvSpPr>
        <p:spPr>
          <a:xfrm>
            <a:off x="8001000" y="2194560"/>
            <a:ext cx="3200400" cy="1828800"/>
          </a:xfrm>
          <a:prstGeom prst="rect">
            <a:avLst/>
          </a:prstGeom>
          <a:noFill/>
          <a:ln/>
        </p:spPr>
        <p:txBody>
          <a:bodyPr wrap="square" lIns="0" tIns="0" rIns="0" bIns="0" rtlCol="0" anchor="ctr"/>
          <a:lstStyle/>
          <a:p>
            <a:pPr indent="0" marL="0">
              <a:buNone/>
            </a:pPr>
            <a:r>
              <a:rPr lang="en-US" sz="1400" dirty="0">
                <a:solidFill>
                  <a:schemeClr val="tx1"/>
                </a:solidFill>
              </a:rPr>
              <a:t>FULL panel: all three beat the plain average, Hedge by 0.0020 and OGD by 0.0014.</a:t>
            </a:r>
            <a:endParaRPr lang="en-US" sz="1400" dirty="0"/>
          </a:p>
          <a:p>
            <a:pPr indent="0" marL="0">
              <a:buNone/>
            </a:pPr>
            <a:endParaRPr lang="en-US" sz="1400" dirty="0"/>
          </a:p>
          <a:p>
            <a:pPr indent="0" marL="0">
              <a:buNone/>
            </a:pPr>
            <a:r>
              <a:rPr lang="en-US" sz="1400" dirty="0">
                <a:solidFill>
                  <a:schemeClr val="tx1"/>
                </a:solidFill>
              </a:rPr>
              <a:t>HOMOGENEOUS panels: OGD falls to 0.0003 on closing and a tie on opening; FTRL loses on closing. Only Hedge still wins on both, by 0.0004 to 0.0006.</a:t>
            </a:r>
            <a:endParaRPr lang="en-US" sz="1400" dirty="0"/>
          </a:p>
        </p:txBody>
      </p:sp>
      <p:sp>
        <p:nvSpPr>
          <p:cNvPr id="7" name="Text 4"/>
          <p:cNvSpPr txBox="1"/>
          <p:nvPr/>
        </p:nvSpPr>
        <p:spPr>
          <a:xfrm>
            <a:off x="8001000" y="4114800"/>
            <a:ext cx="3200400" cy="1005840"/>
          </a:xfrm>
          <a:prstGeom prst="rect">
            <a:avLst/>
          </a:prstGeom>
          <a:noFill/>
          <a:ln/>
        </p:spPr>
        <p:txBody>
          <a:bodyPr wrap="square" lIns="0" tIns="0" rIns="0" bIns="0" rtlCol="0" anchor="ctr"/>
          <a:lstStyle/>
          <a:p>
            <a:pPr indent="0" marL="0">
              <a:buNone/>
            </a:pPr>
            <a:r>
              <a:rPr lang="en-US" sz="1350" i="1" dirty="0">
                <a:solidFill>
                  <a:schemeClr val="accent5"/>
                </a:solidFill>
              </a:rPr>
              <a:t>A quality spread is what learning feeds on. Remove it and most of the gain goes.</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A prediction from theory, tested</a:t>
            </a:r>
            <a:endParaRPr lang="en-US" sz="3000" dirty="0"/>
          </a:p>
        </p:txBody>
      </p:sp>
      <p:graphicFrame>
        <p:nvGraphicFramePr>
          <p:cNvPr id="3" name="Chart 0" descr=""/>
          <p:cNvGraphicFramePr/>
          <p:nvPr/>
        </p:nvGraphicFramePr>
        <p:xfrm>
          <a:off x="640080" y="1554480"/>
          <a:ext cx="6675120" cy="3749040"/>
        </p:xfrm>
        <a:graphic xmlns:a="http://schemas.openxmlformats.org/drawingml/2006/main">
          <a:graphicData uri="http://schemas.openxmlformats.org/drawingml/2006/chart">
            <c:chart xmlns:c="http://schemas.openxmlformats.org/drawingml/2006/chart" r:id="rId1"/>
          </a:graphicData>
        </a:graphic>
      </p:graphicFrame>
      <p:sp>
        <p:nvSpPr>
          <p:cNvPr id="4" name="arr-note"/>
          <p:cNvSpPr/>
          <p:nvPr/>
        </p:nvSpPr>
        <p:spPr>
          <a:xfrm>
            <a:off x="7589520" y="1554480"/>
            <a:ext cx="3931920" cy="3749040"/>
          </a:xfrm>
          <a:prstGeom prst="roundRect">
            <a:avLst>
              <a:gd name="adj" fmla="val 1951"/>
            </a:avLst>
          </a:prstGeom>
          <a:solidFill>
            <a:srgbClr val="F2F5F9"/>
          </a:solidFill>
          <a:ln w="12700">
            <a:solidFill>
              <a:srgbClr val="E2E8F0"/>
            </a:solidFill>
            <a:prstDash val="solid"/>
          </a:ln>
        </p:spPr>
      </p:sp>
      <p:sp>
        <p:nvSpPr>
          <p:cNvPr id="5" name="Text 2"/>
          <p:cNvSpPr txBox="1"/>
          <p:nvPr/>
        </p:nvSpPr>
        <p:spPr>
          <a:xfrm>
            <a:off x="7909560" y="178308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A 42-fold gradient</a:t>
            </a:r>
            <a:endParaRPr lang="en-US" sz="1800" dirty="0"/>
          </a:p>
        </p:txBody>
      </p:sp>
      <p:sp>
        <p:nvSpPr>
          <p:cNvPr id="6" name="Text 3"/>
          <p:cNvSpPr txBox="1"/>
          <p:nvPr/>
        </p:nvSpPr>
        <p:spPr>
          <a:xfrm>
            <a:off x="7909560" y="2194560"/>
            <a:ext cx="3291840" cy="1371600"/>
          </a:xfrm>
          <a:prstGeom prst="rect">
            <a:avLst/>
          </a:prstGeom>
          <a:noFill/>
          <a:ln/>
        </p:spPr>
        <p:txBody>
          <a:bodyPr wrap="square" lIns="0" tIns="0" rIns="0" bIns="0" rtlCol="0" anchor="ctr"/>
          <a:lstStyle/>
          <a:p>
            <a:pPr indent="0" marL="0">
              <a:buNone/>
            </a:pPr>
            <a:r>
              <a:rPr lang="en-US" sz="1400" dirty="0">
                <a:solidFill>
                  <a:schemeClr val="tx1"/>
                </a:solidFill>
              </a:rPr>
              <a:t>Microstructure predicts the closing advantage should concentrate where the line moved. It does: 0.00027 in the quiet fifth, 0.01152 in the noisy one.</a:t>
            </a:r>
            <a:endParaRPr lang="en-US" sz="1400" dirty="0"/>
          </a:p>
        </p:txBody>
      </p:sp>
      <p:sp>
        <p:nvSpPr>
          <p:cNvPr id="7" name="Text 4"/>
          <p:cNvSpPr txBox="1"/>
          <p:nvPr/>
        </p:nvSpPr>
        <p:spPr>
          <a:xfrm>
            <a:off x="7909560" y="3611880"/>
            <a:ext cx="3291840" cy="548640"/>
          </a:xfrm>
          <a:prstGeom prst="rect">
            <a:avLst/>
          </a:prstGeom>
          <a:noFill/>
          <a:ln/>
        </p:spPr>
        <p:txBody>
          <a:bodyPr wrap="square" lIns="0" tIns="0" rIns="0" bIns="0" rtlCol="0" anchor="ctr"/>
          <a:lstStyle/>
          <a:p>
            <a:pPr indent="0" marL="0">
              <a:buNone/>
            </a:pPr>
            <a:r>
              <a:rPr lang="en-US" sz="1400" b="1" dirty="0">
                <a:solidFill>
                  <a:schemeClr val="accent2"/>
                </a:solidFill>
              </a:rPr>
              <a:t>In Q1 and Q2 it is not even significant (p = 0.27, 0.14).</a:t>
            </a:r>
            <a:endParaRPr lang="en-US" sz="1400" dirty="0"/>
          </a:p>
        </p:txBody>
      </p:sp>
      <p:sp>
        <p:nvSpPr>
          <p:cNvPr id="8" name="Text 5"/>
          <p:cNvSpPr txBox="1"/>
          <p:nvPr/>
        </p:nvSpPr>
        <p:spPr>
          <a:xfrm>
            <a:off x="7909560" y="4206240"/>
            <a:ext cx="3291840" cy="1005840"/>
          </a:xfrm>
          <a:prstGeom prst="rect">
            <a:avLst/>
          </a:prstGeom>
          <a:noFill/>
          <a:ln/>
        </p:spPr>
        <p:txBody>
          <a:bodyPr wrap="square" lIns="0" tIns="0" rIns="0" bIns="0" rtlCol="0" anchor="ctr"/>
          <a:lstStyle/>
          <a:p>
            <a:pPr indent="0" marL="0">
              <a:buNone/>
            </a:pPr>
            <a:r>
              <a:rPr lang="en-US" sz="1350" i="1" dirty="0">
                <a:solidFill>
                  <a:schemeClr val="accent5"/>
                </a:solidFill>
              </a:rPr>
              <a:t>"Closing prices are better" is not a property of final prices. It is a property of the top quintile.</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Deployment test: a real date cut</a:t>
            </a:r>
            <a:endParaRPr lang="en-US" sz="3000" dirty="0"/>
          </a:p>
        </p:txBody>
      </p:sp>
      <p:sp>
        <p:nvSpPr>
          <p:cNvPr id="3" name="Text 1"/>
          <p:cNvSpPr txBox="1"/>
          <p:nvPr/>
        </p:nvSpPr>
        <p:spPr>
          <a:xfrm>
            <a:off x="640080" y="1325880"/>
            <a:ext cx="7315200" cy="365760"/>
          </a:xfrm>
          <a:prstGeom prst="rect">
            <a:avLst/>
          </a:prstGeom>
          <a:noFill/>
          <a:ln/>
        </p:spPr>
        <p:txBody>
          <a:bodyPr wrap="square" rtlCol="0" anchor="ctr"/>
          <a:lstStyle/>
          <a:p>
            <a:pPr indent="0" marL="0">
              <a:buNone/>
            </a:pPr>
            <a:r>
              <a:rPr lang="en-US" sz="1600" dirty="0">
                <a:solidFill>
                  <a:schemeClr val="tx1"/>
                </a:solidFill>
              </a:rPr>
              <a:t>Fitted through 31/12/2024, measured on 2025-26: 7,861 matches every series quoted.</a:t>
            </a:r>
            <a:endParaRPr lang="en-US" sz="1600" dirty="0"/>
          </a:p>
        </p:txBody>
      </p:sp>
      <p:sp>
        <p:nvSpPr>
          <p:cNvPr id="4" name="dep-0"/>
          <p:cNvSpPr/>
          <p:nvPr/>
        </p:nvSpPr>
        <p:spPr>
          <a:xfrm>
            <a:off x="640080" y="1828800"/>
            <a:ext cx="10881360" cy="1234440"/>
          </a:xfrm>
          <a:prstGeom prst="roundRect">
            <a:avLst>
              <a:gd name="adj" fmla="val 5926"/>
            </a:avLst>
          </a:prstGeom>
          <a:solidFill>
            <a:srgbClr val="F2F5F9"/>
          </a:solidFill>
          <a:ln w="12700">
            <a:solidFill>
              <a:srgbClr val="E2E8F0"/>
            </a:solidFill>
            <a:prstDash val="solid"/>
          </a:ln>
        </p:spPr>
      </p:sp>
      <p:sp>
        <p:nvSpPr>
          <p:cNvPr id="5" name="Text 3"/>
          <p:cNvSpPr txBox="1"/>
          <p:nvPr/>
        </p:nvSpPr>
        <p:spPr>
          <a:xfrm>
            <a:off x="960120" y="199339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Every opening price</a:t>
            </a:r>
            <a:endParaRPr lang="en-US" sz="1700" dirty="0"/>
          </a:p>
        </p:txBody>
      </p:sp>
      <p:sp>
        <p:nvSpPr>
          <p:cNvPr id="6" name="Text 4"/>
          <p:cNvSpPr txBox="1"/>
          <p:nvPr/>
        </p:nvSpPr>
        <p:spPr>
          <a:xfrm>
            <a:off x="5303520" y="1993392"/>
            <a:ext cx="3108960" cy="411480"/>
          </a:xfrm>
          <a:prstGeom prst="rect">
            <a:avLst/>
          </a:prstGeom>
          <a:noFill/>
          <a:ln/>
        </p:spPr>
        <p:txBody>
          <a:bodyPr wrap="square" lIns="0" tIns="0" rIns="0" bIns="0" rtlCol="0" anchor="ctr"/>
          <a:lstStyle/>
          <a:p>
            <a:pPr indent="0" marL="0">
              <a:buNone/>
            </a:pPr>
            <a:r>
              <a:rPr lang="en-US" sz="1700" b="1" dirty="0">
                <a:solidFill>
                  <a:schemeClr val="accent3"/>
                </a:solidFill>
              </a:rPr>
              <a:t>beaten significantly</a:t>
            </a:r>
            <a:endParaRPr lang="en-US" sz="1700" dirty="0"/>
          </a:p>
        </p:txBody>
      </p:sp>
      <p:sp>
        <p:nvSpPr>
          <p:cNvPr id="7" name="Text 5"/>
          <p:cNvSpPr txBox="1"/>
          <p:nvPr/>
        </p:nvSpPr>
        <p:spPr>
          <a:xfrm>
            <a:off x="960120" y="248716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−0.0018 to −0.0030, all p ≤ 0.006</a:t>
            </a:r>
            <a:endParaRPr lang="en-US" sz="1350" dirty="0"/>
          </a:p>
        </p:txBody>
      </p:sp>
      <p:sp>
        <p:nvSpPr>
          <p:cNvPr id="8" name="dep-1"/>
          <p:cNvSpPr/>
          <p:nvPr/>
        </p:nvSpPr>
        <p:spPr>
          <a:xfrm>
            <a:off x="640080" y="3246120"/>
            <a:ext cx="10881360" cy="1234440"/>
          </a:xfrm>
          <a:prstGeom prst="roundRect">
            <a:avLst>
              <a:gd name="adj" fmla="val 5926"/>
            </a:avLst>
          </a:prstGeom>
          <a:solidFill>
            <a:srgbClr val="F2F5F9"/>
          </a:solidFill>
          <a:ln w="12700">
            <a:solidFill>
              <a:srgbClr val="E2E8F0"/>
            </a:solidFill>
            <a:prstDash val="solid"/>
          </a:ln>
        </p:spPr>
      </p:sp>
      <p:sp>
        <p:nvSpPr>
          <p:cNvPr id="9" name="Text 7"/>
          <p:cNvSpPr txBox="1"/>
          <p:nvPr/>
        </p:nvSpPr>
        <p:spPr>
          <a:xfrm>
            <a:off x="960120" y="341071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The bookmakers' closing prices</a:t>
            </a:r>
            <a:endParaRPr lang="en-US" sz="1700" dirty="0"/>
          </a:p>
        </p:txBody>
      </p:sp>
      <p:sp>
        <p:nvSpPr>
          <p:cNvPr id="10" name="Text 8"/>
          <p:cNvSpPr txBox="1"/>
          <p:nvPr/>
        </p:nvSpPr>
        <p:spPr>
          <a:xfrm>
            <a:off x="5303520" y="3410712"/>
            <a:ext cx="3108960" cy="411480"/>
          </a:xfrm>
          <a:prstGeom prst="rect">
            <a:avLst/>
          </a:prstGeom>
          <a:noFill/>
          <a:ln/>
        </p:spPr>
        <p:txBody>
          <a:bodyPr wrap="square" lIns="0" tIns="0" rIns="0" bIns="0" rtlCol="0" anchor="ctr"/>
          <a:lstStyle/>
          <a:p>
            <a:pPr indent="0" marL="0">
              <a:buNone/>
            </a:pPr>
            <a:r>
              <a:rPr lang="en-US" sz="1700" b="1" dirty="0">
                <a:solidFill>
                  <a:schemeClr val="accent5"/>
                </a:solidFill>
              </a:rPr>
              <a:t>drawn level</a:t>
            </a:r>
            <a:endParaRPr lang="en-US" sz="1700" dirty="0"/>
          </a:p>
        </p:txBody>
      </p:sp>
      <p:sp>
        <p:nvSpPr>
          <p:cNvPr id="11" name="Text 9"/>
          <p:cNvSpPr txBox="1"/>
          <p:nvPr/>
        </p:nvSpPr>
        <p:spPr>
          <a:xfrm>
            <a:off x="960120" y="390448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B365C and BWC tie with every variant, p from 0.211 to 0.730 · PSC ties too, on its own rounds</a:t>
            </a:r>
            <a:endParaRPr lang="en-US" sz="1350" dirty="0"/>
          </a:p>
        </p:txBody>
      </p:sp>
      <p:sp>
        <p:nvSpPr>
          <p:cNvPr id="12" name="dep-2"/>
          <p:cNvSpPr/>
          <p:nvPr/>
        </p:nvSpPr>
        <p:spPr>
          <a:xfrm>
            <a:off x="640080" y="4663440"/>
            <a:ext cx="10881360" cy="1234440"/>
          </a:xfrm>
          <a:prstGeom prst="roundRect">
            <a:avLst>
              <a:gd name="adj" fmla="val 5926"/>
            </a:avLst>
          </a:prstGeom>
          <a:solidFill>
            <a:srgbClr val="FBF0F0"/>
          </a:solidFill>
          <a:ln w="12700">
            <a:solidFill>
              <a:srgbClr val="E2E8F0"/>
            </a:solidFill>
            <a:prstDash val="solid"/>
          </a:ln>
        </p:spPr>
      </p:sp>
      <p:sp>
        <p:nvSpPr>
          <p:cNvPr id="13" name="Text 11"/>
          <p:cNvSpPr txBox="1"/>
          <p:nvPr/>
        </p:nvSpPr>
        <p:spPr>
          <a:xfrm>
            <a:off x="960120" y="482803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Betfair Exchange</a:t>
            </a:r>
            <a:endParaRPr lang="en-US" sz="1700" dirty="0"/>
          </a:p>
        </p:txBody>
      </p:sp>
      <p:sp>
        <p:nvSpPr>
          <p:cNvPr id="14" name="Text 12"/>
          <p:cNvSpPr txBox="1"/>
          <p:nvPr/>
        </p:nvSpPr>
        <p:spPr>
          <a:xfrm>
            <a:off x="5303520" y="4828032"/>
            <a:ext cx="3108960" cy="411480"/>
          </a:xfrm>
          <a:prstGeom prst="rect">
            <a:avLst/>
          </a:prstGeom>
          <a:noFill/>
          <a:ln/>
        </p:spPr>
        <p:txBody>
          <a:bodyPr wrap="square" lIns="0" tIns="0" rIns="0" bIns="0" rtlCol="0" anchor="ctr"/>
          <a:lstStyle/>
          <a:p>
            <a:pPr indent="0" marL="0">
              <a:buNone/>
            </a:pPr>
            <a:r>
              <a:rPr lang="en-US" sz="1700" b="1" dirty="0">
                <a:solidFill>
                  <a:schemeClr val="accent2"/>
                </a:solidFill>
              </a:rPr>
              <a:t>beats us significantly</a:t>
            </a:r>
            <a:endParaRPr lang="en-US" sz="1700" dirty="0"/>
          </a:p>
        </p:txBody>
      </p:sp>
      <p:sp>
        <p:nvSpPr>
          <p:cNvPr id="15" name="Text 13"/>
          <p:cNvSpPr txBox="1"/>
          <p:nvPr/>
        </p:nvSpPr>
        <p:spPr>
          <a:xfrm>
            <a:off x="960120" y="532180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+0.00070 to +0.00141, p ≤ 0.019 · an exchange, a market price with no operator margin, and Pinnacle has stopped quoting</a:t>
            </a:r>
            <a:endParaRPr lang="en-US" sz="1350" dirty="0"/>
          </a:p>
        </p:txBody>
      </p:sp>
      <p:sp>
        <p:nvSpPr>
          <p:cNvPr id="16" name="Text 14"/>
          <p:cNvSpPr txBox="1"/>
          <p:nvPr/>
        </p:nvSpPr>
        <p:spPr>
          <a:xfrm>
            <a:off x="640080" y="6035040"/>
            <a:ext cx="10881360" cy="548640"/>
          </a:xfrm>
          <a:prstGeom prst="rect">
            <a:avLst/>
          </a:prstGeom>
          <a:noFill/>
          <a:ln/>
        </p:spPr>
        <p:txBody>
          <a:bodyPr wrap="square" rtlCol="0" anchor="ctr"/>
          <a:lstStyle/>
          <a:p>
            <a:pPr indent="0" marL="0">
              <a:buNone/>
            </a:pPr>
            <a:r>
              <a:rPr lang="en-US" sz="1500" b="1" dirty="0">
                <a:solidFill>
                  <a:schemeClr val="tx2"/>
                </a:solidFill>
              </a:rPr>
              <a:t>The honest statement: we REACH the leading edge of the bookmaker market. The market without an intermediary is still ahead.</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Common matches: nobody asleep, same conclusions</a:t>
            </a:r>
            <a:endParaRPr lang="en-US" sz="3000" dirty="0"/>
          </a:p>
        </p:txBody>
      </p:sp>
      <p:sp>
        <p:nvSpPr>
          <p:cNvPr id="3" name="Text 1"/>
          <p:cNvSpPr txBox="1"/>
          <p:nvPr/>
        </p:nvSpPr>
        <p:spPr>
          <a:xfrm>
            <a:off x="640080" y="1325880"/>
            <a:ext cx="10881360" cy="365760"/>
          </a:xfrm>
          <a:prstGeom prst="rect">
            <a:avLst/>
          </a:prstGeom>
          <a:noFill/>
          <a:ln/>
        </p:spPr>
        <p:txBody>
          <a:bodyPr wrap="square" rtlCol="0" anchor="ctr"/>
          <a:lstStyle/>
          <a:p>
            <a:pPr indent="0" marL="0">
              <a:buNone/>
            </a:pPr>
            <a:r>
              <a:rPr lang="en-US" sz="1500" dirty="0">
                <a:solidFill>
                  <a:schemeClr val="tx1"/>
                </a:solidFill>
              </a:rPr>
              <a:t>Only the matches every chosen series quoted: the algorithms are the classical ones, and every series is scored on the same matches.</a:t>
            </a:r>
            <a:endParaRPr lang="en-US" sz="1500" dirty="0"/>
          </a:p>
        </p:txBody>
      </p:sp>
      <p:sp>
        <p:nvSpPr>
          <p:cNvPr id="4" name="cm-0"/>
          <p:cNvSpPr/>
          <p:nvPr/>
        </p:nvSpPr>
        <p:spPr>
          <a:xfrm>
            <a:off x="640080" y="1828800"/>
            <a:ext cx="10881360" cy="1143000"/>
          </a:xfrm>
          <a:prstGeom prst="roundRect">
            <a:avLst>
              <a:gd name="adj" fmla="val 6400"/>
            </a:avLst>
          </a:prstGeom>
          <a:solidFill>
            <a:srgbClr val="F2F5F9"/>
          </a:solidFill>
          <a:ln w="12700">
            <a:solidFill>
              <a:srgbClr val="E2E8F0"/>
            </a:solidFill>
            <a:prstDash val="solid"/>
          </a:ln>
        </p:spPr>
      </p:sp>
      <p:sp>
        <p:nvSpPr>
          <p:cNvPr id="5" name="Text 3"/>
          <p:cNvSpPr txBox="1"/>
          <p:nvPr/>
        </p:nvSpPr>
        <p:spPr>
          <a:xfrm>
            <a:off x="960120" y="1965960"/>
            <a:ext cx="5669280" cy="411480"/>
          </a:xfrm>
          <a:prstGeom prst="rect">
            <a:avLst/>
          </a:prstGeom>
          <a:noFill/>
          <a:ln/>
        </p:spPr>
        <p:txBody>
          <a:bodyPr wrap="square" lIns="0" tIns="0" rIns="0" bIns="0" rtlCol="0" anchor="ctr"/>
          <a:lstStyle/>
          <a:p>
            <a:pPr indent="0" marL="0">
              <a:buNone/>
            </a:pPr>
            <a:r>
              <a:rPr lang="en-US" sz="1700" b="1" dirty="0">
                <a:solidFill>
                  <a:schemeClr val="tx2"/>
                </a:solidFill>
              </a:rPr>
              <a:t>B · 12 series · 31,596 matches</a:t>
            </a:r>
            <a:endParaRPr lang="en-US" sz="1700" dirty="0"/>
          </a:p>
        </p:txBody>
      </p:sp>
      <p:sp>
        <p:nvSpPr>
          <p:cNvPr id="6" name="Text 4"/>
          <p:cNvSpPr txBox="1"/>
          <p:nvPr/>
        </p:nvSpPr>
        <p:spPr>
          <a:xfrm>
            <a:off x="6766560" y="1965960"/>
            <a:ext cx="4480560" cy="411480"/>
          </a:xfrm>
          <a:prstGeom prst="rect">
            <a:avLst/>
          </a:prstGeom>
          <a:noFill/>
          <a:ln/>
        </p:spPr>
        <p:txBody>
          <a:bodyPr wrap="square" lIns="0" tIns="0" rIns="0" bIns="0" rtlCol="0" anchor="ctr"/>
          <a:lstStyle/>
          <a:p>
            <a:pPr indent="0" marL="0">
              <a:buNone/>
            </a:pPr>
            <a:r>
              <a:rPr lang="en-US" sz="1700" b="1" dirty="0">
                <a:solidFill>
                  <a:schemeClr val="accent1"/>
                </a:solidFill>
              </a:rPr>
              <a:t>level with Pinnacle</a:t>
            </a:r>
            <a:endParaRPr lang="en-US" sz="1700" dirty="0"/>
          </a:p>
        </p:txBody>
      </p:sp>
      <p:sp>
        <p:nvSpPr>
          <p:cNvPr id="7" name="Text 5"/>
          <p:cNvSpPr txBox="1"/>
          <p:nvPr/>
        </p:nvSpPr>
        <p:spPr>
          <a:xfrm>
            <a:off x="960120" y="2450592"/>
            <a:ext cx="10241280" cy="411480"/>
          </a:xfrm>
          <a:prstGeom prst="rect">
            <a:avLst/>
          </a:prstGeom>
          <a:noFill/>
          <a:ln/>
        </p:spPr>
        <p:txBody>
          <a:bodyPr wrap="square" lIns="0" tIns="0" rIns="0" bIns="0" rtlCol="0" anchor="ctr"/>
          <a:lstStyle/>
          <a:p>
            <a:pPr indent="0" marL="0">
              <a:buNone/>
            </a:pPr>
            <a:r>
              <a:rPr lang="en-US" sz="1350" dirty="0">
                <a:solidFill>
                  <a:schemeClr val="accent5"/>
                </a:solidFill>
              </a:rPr>
              <a:t>FTRL 0.99895 · OGD 0.99910 · PSC 0.99893, every gap p ≥ 0.099 · uniform 1.00048, beaten</a:t>
            </a:r>
            <a:endParaRPr lang="en-US" sz="1350" dirty="0"/>
          </a:p>
        </p:txBody>
      </p:sp>
      <p:sp>
        <p:nvSpPr>
          <p:cNvPr id="8" name="cm-1"/>
          <p:cNvSpPr/>
          <p:nvPr/>
        </p:nvSpPr>
        <p:spPr>
          <a:xfrm>
            <a:off x="640080" y="3154680"/>
            <a:ext cx="10881360" cy="1143000"/>
          </a:xfrm>
          <a:prstGeom prst="roundRect">
            <a:avLst>
              <a:gd name="adj" fmla="val 6400"/>
            </a:avLst>
          </a:prstGeom>
          <a:solidFill>
            <a:srgbClr val="F2F5F9"/>
          </a:solidFill>
          <a:ln w="12700">
            <a:solidFill>
              <a:srgbClr val="E2E8F0"/>
            </a:solidFill>
            <a:prstDash val="solid"/>
          </a:ln>
        </p:spPr>
      </p:sp>
      <p:sp>
        <p:nvSpPr>
          <p:cNvPr id="9" name="Text 7"/>
          <p:cNvSpPr txBox="1"/>
          <p:nvPr/>
        </p:nvSpPr>
        <p:spPr>
          <a:xfrm>
            <a:off x="960120" y="3291840"/>
            <a:ext cx="5669280" cy="411480"/>
          </a:xfrm>
          <a:prstGeom prst="rect">
            <a:avLst/>
          </a:prstGeom>
          <a:noFill/>
          <a:ln/>
        </p:spPr>
        <p:txBody>
          <a:bodyPr wrap="square" lIns="0" tIns="0" rIns="0" bIns="0" rtlCol="0" anchor="ctr"/>
          <a:lstStyle/>
          <a:p>
            <a:pPr indent="0" marL="0">
              <a:buNone/>
            </a:pPr>
            <a:r>
              <a:rPr lang="en-US" sz="1700" b="1" dirty="0">
                <a:solidFill>
                  <a:schemeClr val="tx2"/>
                </a:solidFill>
              </a:rPr>
              <a:t>B′ · the same matches, no Pinnacle</a:t>
            </a:r>
            <a:endParaRPr lang="en-US" sz="1700" dirty="0"/>
          </a:p>
        </p:txBody>
      </p:sp>
      <p:sp>
        <p:nvSpPr>
          <p:cNvPr id="10" name="Text 8"/>
          <p:cNvSpPr txBox="1"/>
          <p:nvPr/>
        </p:nvSpPr>
        <p:spPr>
          <a:xfrm>
            <a:off x="6766560" y="3291840"/>
            <a:ext cx="4480560" cy="411480"/>
          </a:xfrm>
          <a:prstGeom prst="rect">
            <a:avLst/>
          </a:prstGeom>
          <a:noFill/>
          <a:ln/>
        </p:spPr>
        <p:txBody>
          <a:bodyPr wrap="square" lIns="0" tIns="0" rIns="0" bIns="0" rtlCol="0" anchor="ctr"/>
          <a:lstStyle/>
          <a:p>
            <a:pPr indent="0" marL="0">
              <a:buNone/>
            </a:pPr>
            <a:r>
              <a:rPr lang="en-US" sz="1700" b="1" dirty="0">
                <a:solidFill>
                  <a:schemeClr val="accent1"/>
                </a:solidFill>
              </a:rPr>
              <a:t>level with the best closing</a:t>
            </a:r>
            <a:endParaRPr lang="en-US" sz="1700" dirty="0"/>
          </a:p>
        </p:txBody>
      </p:sp>
      <p:sp>
        <p:nvSpPr>
          <p:cNvPr id="11" name="Text 9"/>
          <p:cNvSpPr txBox="1"/>
          <p:nvPr/>
        </p:nvSpPr>
        <p:spPr>
          <a:xfrm>
            <a:off x="960120" y="3776472"/>
            <a:ext cx="10241280" cy="411480"/>
          </a:xfrm>
          <a:prstGeom prst="rect">
            <a:avLst/>
          </a:prstGeom>
          <a:noFill/>
          <a:ln/>
        </p:spPr>
        <p:txBody>
          <a:bodyPr wrap="square" lIns="0" tIns="0" rIns="0" bIns="0" rtlCol="0" anchor="ctr"/>
          <a:lstStyle/>
          <a:p>
            <a:pPr indent="0" marL="0">
              <a:buNone/>
            </a:pPr>
            <a:r>
              <a:rPr lang="en-US" sz="1350" dirty="0">
                <a:solidFill>
                  <a:schemeClr val="accent5"/>
                </a:solidFill>
              </a:rPr>
              <a:t>FTRL 0.99940 · VC_BVC 0.99949, p 0.151 to 0.618 · the plain average loses to VC_BVC (p &lt; 0.001)</a:t>
            </a:r>
            <a:endParaRPr lang="en-US" sz="1350" dirty="0"/>
          </a:p>
        </p:txBody>
      </p:sp>
      <p:sp>
        <p:nvSpPr>
          <p:cNvPr id="12" name="cm-2"/>
          <p:cNvSpPr/>
          <p:nvPr/>
        </p:nvSpPr>
        <p:spPr>
          <a:xfrm>
            <a:off x="640080" y="4480560"/>
            <a:ext cx="10881360" cy="1143000"/>
          </a:xfrm>
          <a:prstGeom prst="roundRect">
            <a:avLst>
              <a:gd name="adj" fmla="val 6400"/>
            </a:avLst>
          </a:prstGeom>
          <a:solidFill>
            <a:srgbClr val="F2F5F9"/>
          </a:solidFill>
          <a:ln w="12700">
            <a:solidFill>
              <a:srgbClr val="E2E8F0"/>
            </a:solidFill>
            <a:prstDash val="solid"/>
          </a:ln>
        </p:spPr>
      </p:sp>
      <p:sp>
        <p:nvSpPr>
          <p:cNvPr id="13" name="Text 11"/>
          <p:cNvSpPr txBox="1"/>
          <p:nvPr/>
        </p:nvSpPr>
        <p:spPr>
          <a:xfrm>
            <a:off x="960120" y="4617720"/>
            <a:ext cx="5669280" cy="411480"/>
          </a:xfrm>
          <a:prstGeom prst="rect">
            <a:avLst/>
          </a:prstGeom>
          <a:noFill/>
          <a:ln/>
        </p:spPr>
        <p:txBody>
          <a:bodyPr wrap="square" lIns="0" tIns="0" rIns="0" bIns="0" rtlCol="0" anchor="ctr"/>
          <a:lstStyle/>
          <a:p>
            <a:pPr indent="0" marL="0">
              <a:buNone/>
            </a:pPr>
            <a:r>
              <a:rPr lang="en-US" sz="1700" b="1" dirty="0">
                <a:solidFill>
                  <a:schemeClr val="tx2"/>
                </a:solidFill>
              </a:rPr>
              <a:t>C · 10 series with Betfair · 6,941 matches</a:t>
            </a:r>
            <a:endParaRPr lang="en-US" sz="1700" dirty="0"/>
          </a:p>
        </p:txBody>
      </p:sp>
      <p:sp>
        <p:nvSpPr>
          <p:cNvPr id="14" name="Text 12"/>
          <p:cNvSpPr txBox="1"/>
          <p:nvPr/>
        </p:nvSpPr>
        <p:spPr>
          <a:xfrm>
            <a:off x="6766560" y="4617720"/>
            <a:ext cx="4480560" cy="411480"/>
          </a:xfrm>
          <a:prstGeom prst="rect">
            <a:avLst/>
          </a:prstGeom>
          <a:noFill/>
          <a:ln/>
        </p:spPr>
        <p:txBody>
          <a:bodyPr wrap="square" lIns="0" tIns="0" rIns="0" bIns="0" rtlCol="0" anchor="ctr"/>
          <a:lstStyle/>
          <a:p>
            <a:pPr indent="0" marL="0">
              <a:buNone/>
            </a:pPr>
            <a:r>
              <a:rPr lang="en-US" sz="1700" b="1" dirty="0">
                <a:solidFill>
                  <a:schemeClr val="accent3"/>
                </a:solidFill>
              </a:rPr>
              <a:t>Pinnacle ≈ Betfair</a:t>
            </a:r>
            <a:endParaRPr lang="en-US" sz="1700" dirty="0"/>
          </a:p>
        </p:txBody>
      </p:sp>
      <p:sp>
        <p:nvSpPr>
          <p:cNvPr id="15" name="Text 13"/>
          <p:cNvSpPr txBox="1"/>
          <p:nvPr/>
        </p:nvSpPr>
        <p:spPr>
          <a:xfrm>
            <a:off x="960120" y="5102352"/>
            <a:ext cx="10241280" cy="411480"/>
          </a:xfrm>
          <a:prstGeom prst="rect">
            <a:avLst/>
          </a:prstGeom>
          <a:noFill/>
          <a:ln/>
        </p:spPr>
        <p:txBody>
          <a:bodyPr wrap="square" lIns="0" tIns="0" rIns="0" bIns="0" rtlCol="0" anchor="ctr"/>
          <a:lstStyle/>
          <a:p>
            <a:pPr indent="0" marL="0">
              <a:buNone/>
            </a:pPr>
            <a:r>
              <a:rPr lang="en-US" sz="1350" dirty="0">
                <a:solidFill>
                  <a:schemeClr val="accent5"/>
                </a:solidFill>
              </a:rPr>
              <a:t>PSC 0.99775 · BFEC 0.99820, p = 0.122 · Betfair's 2025-26 lead coincides with Pinnacle's absence</a:t>
            </a:r>
            <a:endParaRPr lang="en-US" sz="1350" dirty="0"/>
          </a:p>
        </p:txBody>
      </p:sp>
      <p:sp>
        <p:nvSpPr>
          <p:cNvPr id="16" name="Text 14"/>
          <p:cNvSpPr txBox="1"/>
          <p:nvPr/>
        </p:nvSpPr>
        <p:spPr>
          <a:xfrm>
            <a:off x="640080" y="5852160"/>
            <a:ext cx="10881360" cy="640080"/>
          </a:xfrm>
          <a:prstGeom prst="rect">
            <a:avLst/>
          </a:prstGeom>
          <a:noFill/>
          <a:ln/>
        </p:spPr>
        <p:txBody>
          <a:bodyPr wrap="square" rtlCol="0" anchor="ctr"/>
          <a:lstStyle/>
          <a:p>
            <a:pPr indent="0" marL="0">
              <a:buNone/>
            </a:pPr>
            <a:r>
              <a:rPr lang="en-US" sz="1500" b="1" dirty="0">
                <a:solidFill>
                  <a:schemeClr val="tx2"/>
                </a:solidFill>
              </a:rPr>
              <a:t>The optimal step is a property of the panel: FTRL wants ×0.05 when experts come and go, and 30 to 1000 times the textbook step when nobody is asleep.</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Better prediction does not mean profit</a:t>
            </a:r>
            <a:endParaRPr lang="en-US" sz="3000" dirty="0"/>
          </a:p>
        </p:txBody>
      </p:sp>
      <p:graphicFrame>
        <p:nvGraphicFramePr>
          <p:cNvPr id="3" name="Chart 0" descr=""/>
          <p:cNvGraphicFramePr/>
          <p:nvPr/>
        </p:nvGraphicFramePr>
        <p:xfrm>
          <a:off x="640080" y="1554480"/>
          <a:ext cx="6675120" cy="3749040"/>
        </p:xfrm>
        <a:graphic xmlns:a="http://schemas.openxmlformats.org/drawingml/2006/main">
          <a:graphicData uri="http://schemas.openxmlformats.org/drawingml/2006/chart">
            <c:chart xmlns:c="http://schemas.openxmlformats.org/drawingml/2006/chart" r:id="rId1"/>
          </a:graphicData>
        </a:graphic>
      </p:graphicFrame>
      <p:sp>
        <p:nvSpPr>
          <p:cNvPr id="4" name="vb-note"/>
          <p:cNvSpPr/>
          <p:nvPr/>
        </p:nvSpPr>
        <p:spPr>
          <a:xfrm>
            <a:off x="7589520" y="1554480"/>
            <a:ext cx="3931920" cy="3749040"/>
          </a:xfrm>
          <a:prstGeom prst="roundRect">
            <a:avLst>
              <a:gd name="adj" fmla="val 1951"/>
            </a:avLst>
          </a:prstGeom>
          <a:solidFill>
            <a:srgbClr val="F2F5F9"/>
          </a:solidFill>
          <a:ln w="12700">
            <a:solidFill>
              <a:srgbClr val="E2E8F0"/>
            </a:solidFill>
            <a:prstDash val="solid"/>
          </a:ln>
        </p:spPr>
      </p:sp>
      <p:sp>
        <p:nvSpPr>
          <p:cNvPr id="5" name="Text 2"/>
          <p:cNvSpPr txBox="1"/>
          <p:nvPr/>
        </p:nvSpPr>
        <p:spPr>
          <a:xfrm>
            <a:off x="7909560" y="1783080"/>
            <a:ext cx="3291840" cy="365760"/>
          </a:xfrm>
          <a:prstGeom prst="rect">
            <a:avLst/>
          </a:prstGeom>
          <a:noFill/>
          <a:ln/>
        </p:spPr>
        <p:txBody>
          <a:bodyPr wrap="square" lIns="0" tIns="0" rIns="0" bIns="0" rtlCol="0" anchor="ctr"/>
          <a:lstStyle/>
          <a:p>
            <a:pPr indent="0" marL="0">
              <a:buNone/>
            </a:pPr>
            <a:r>
              <a:rPr lang="en-US" sz="1800" b="1" dirty="0">
                <a:solidFill>
                  <a:schemeClr val="tx2"/>
                </a:solidFill>
              </a:rPr>
              <a:t>Two profits, two losses</a:t>
            </a:r>
            <a:endParaRPr lang="en-US" sz="1800" dirty="0"/>
          </a:p>
        </p:txBody>
      </p:sp>
      <p:sp>
        <p:nvSpPr>
          <p:cNvPr id="6" name="Text 3"/>
          <p:cNvSpPr txBox="1"/>
          <p:nvPr/>
        </p:nvSpPr>
        <p:spPr>
          <a:xfrm>
            <a:off x="7909560" y="2194560"/>
            <a:ext cx="3291840" cy="1828800"/>
          </a:xfrm>
          <a:prstGeom prst="rect">
            <a:avLst/>
          </a:prstGeom>
          <a:noFill/>
          <a:ln/>
        </p:spPr>
        <p:txBody>
          <a:bodyPr wrap="square" lIns="0" tIns="0" rIns="0" bIns="0" rtlCol="0" anchor="ctr"/>
          <a:lstStyle/>
          <a:p>
            <a:pPr indent="0" marL="0">
              <a:buNone/>
            </a:pPr>
            <a:r>
              <a:rPr lang="en-US" sz="1350" dirty="0">
                <a:solidFill>
                  <a:schemeClr val="tx1"/>
                </a:solidFill>
              </a:rPr>
              <a:t>Significant gains against WHC (85.6×) and IW (23.9×), both recreational-facing houses, p &lt; 0.001; significant LOSSES against both Pinnacle prices (PS p = 0.040, PSC p = 0.001), the best forecaster in the panel.</a:t>
            </a:r>
            <a:endParaRPr lang="en-US" sz="1350" dirty="0"/>
          </a:p>
        </p:txBody>
      </p:sp>
      <p:sp>
        <p:nvSpPr>
          <p:cNvPr id="7" name="Text 4"/>
          <p:cNvSpPr txBox="1"/>
          <p:nvPr/>
        </p:nvSpPr>
        <p:spPr>
          <a:xfrm>
            <a:off x="7909560" y="4114800"/>
            <a:ext cx="3291840" cy="1005840"/>
          </a:xfrm>
          <a:prstGeom prst="rect">
            <a:avLst/>
          </a:prstGeom>
          <a:noFill/>
          <a:ln/>
        </p:spPr>
        <p:txBody>
          <a:bodyPr wrap="square" lIns="0" tIns="0" rIns="0" bIns="0" rtlCol="0" anchor="ctr"/>
          <a:lstStyle/>
          <a:p>
            <a:pPr indent="0" marL="0">
              <a:buNone/>
            </a:pPr>
            <a:r>
              <a:rPr lang="en-US" sz="1350" i="1" dirty="0">
                <a:solidFill>
                  <a:schemeClr val="accent5"/>
                </a:solidFill>
              </a:rPr>
              <a:t>Hedge bets significantly better than OGD against 4 of the 11 targets, and worse against none.</a:t>
            </a:r>
            <a:endParaRPr lang="en-US" sz="1350" dirty="0"/>
          </a:p>
        </p:txBody>
      </p:sp>
      <p:sp>
        <p:nvSpPr>
          <p:cNvPr id="8" name="Text 5"/>
          <p:cNvSpPr txBox="1"/>
          <p:nvPr/>
        </p:nvSpPr>
        <p:spPr>
          <a:xfrm>
            <a:off x="640080" y="5440680"/>
            <a:ext cx="6675120" cy="320040"/>
          </a:xfrm>
          <a:prstGeom prst="rect">
            <a:avLst/>
          </a:prstGeom>
          <a:noFill/>
          <a:ln/>
        </p:spPr>
        <p:txBody>
          <a:bodyPr wrap="square" rtlCol="0" anchor="ctr"/>
          <a:lstStyle/>
          <a:p>
            <a:pPr indent="0" marL="0">
              <a:buNone/>
            </a:pPr>
            <a:r>
              <a:rPr lang="en-US" sz="1200" i="1" dirty="0">
                <a:solidFill>
                  <a:schemeClr val="accent5"/>
                </a:solidFill>
              </a:rPr>
              <a:t>Hedge mixture · 0 = break even · +1 = a ten-fold bankroll · green = significant profit · red = significant loss</a:t>
            </a:r>
            <a:endParaRPr lang="en-US" sz="12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nchor="ctr"/>
          <a:lstStyle/>
          <a:p>
            <a:pPr algn="l" indent="0" marL="0">
              <a:buNone/>
            </a:pPr>
            <a:r>
              <a:rPr lang="en-US" sz="3400" b="1" dirty="0">
                <a:solidFill>
                  <a:schemeClr val="bg1"/>
                </a:solidFill>
              </a:rPr>
              <a:t>42% of OGD's margin over the uniform average is not learning</a:t>
            </a: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nchor="t"/>
          <a:lstStyle/>
          <a:p>
            <a:pPr algn="l" indent="0" marL="0">
              <a:buNone/>
            </a:pPr>
            <a:r>
              <a:rPr lang="en-US" sz="1700" dirty="0">
                <a:solidFill>
                  <a:srgbClr val="CBD5E1"/>
                </a:solidFill>
              </a:rPr>
              <a:t>Under the Sleeping Experts reduction OGD's weight vector moves even with a step of ZERO: the projection is re-done onto a simplex of different dimension whenever the awake set changes. A zero-step control separates the two. The number was real; the obvious reading of it was false.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A regret bound, used as a test</a:t>
            </a:r>
            <a:endParaRPr lang="en-US" sz="3000" dirty="0"/>
          </a:p>
        </p:txBody>
      </p:sp>
      <p:sp>
        <p:nvSpPr>
          <p:cNvPr id="3" name="Text 1"/>
          <p:cNvSpPr txBox="1"/>
          <p:nvPr/>
        </p:nvSpPr>
        <p:spPr>
          <a:xfrm>
            <a:off x="640080" y="1325880"/>
            <a:ext cx="10881360" cy="685800"/>
          </a:xfrm>
          <a:prstGeom prst="rect">
            <a:avLst/>
          </a:prstGeom>
          <a:noFill/>
          <a:ln/>
        </p:spPr>
        <p:txBody>
          <a:bodyPr wrap="square" rtlCol="0" anchor="ctr"/>
          <a:lstStyle/>
          <a:p>
            <a:pPr indent="0" marL="0">
              <a:buNone/>
            </a:pPr>
            <a:r>
              <a:rPr lang="en-US" sz="1500" dirty="0">
                <a:solidFill>
                  <a:schemeClr val="tx1"/>
                </a:solidFill>
              </a:rPr>
              <a:t>Hedge with step 1 is the Aggregating Algorithm. Its guarantee: on every expert's own awake rounds, the mixture trails that expert by at most ln 26 = 3.26 in total.</a:t>
            </a:r>
            <a:endParaRPr lang="en-US" sz="1500" dirty="0"/>
          </a:p>
        </p:txBody>
      </p:sp>
      <p:sp>
        <p:nvSpPr>
          <p:cNvPr id="4" name="bound-0"/>
          <p:cNvSpPr/>
          <p:nvPr/>
        </p:nvSpPr>
        <p:spPr>
          <a:xfrm>
            <a:off x="640080" y="2194560"/>
            <a:ext cx="3429000" cy="2103120"/>
          </a:xfrm>
          <a:prstGeom prst="roundRect">
            <a:avLst>
              <a:gd name="adj" fmla="val 3478"/>
            </a:avLst>
          </a:prstGeom>
          <a:solidFill>
            <a:srgbClr val="F2F5F9"/>
          </a:solidFill>
          <a:ln w="12700">
            <a:solidFill>
              <a:srgbClr val="E2E8F0"/>
            </a:solidFill>
            <a:prstDash val="solid"/>
          </a:ln>
        </p:spPr>
      </p:sp>
      <p:sp>
        <p:nvSpPr>
          <p:cNvPr id="5" name="Text 3"/>
          <p:cNvSpPr txBox="1"/>
          <p:nvPr/>
        </p:nvSpPr>
        <p:spPr>
          <a:xfrm>
            <a:off x="914400" y="2377440"/>
            <a:ext cx="2926080" cy="822960"/>
          </a:xfrm>
          <a:prstGeom prst="rect">
            <a:avLst/>
          </a:prstGeom>
          <a:noFill/>
          <a:ln/>
        </p:spPr>
        <p:txBody>
          <a:bodyPr wrap="square" lIns="0" tIns="0" rIns="0" bIns="0" rtlCol="0" anchor="b"/>
          <a:lstStyle/>
          <a:p>
            <a:pPr indent="0" marL="0">
              <a:buNone/>
            </a:pPr>
            <a:r>
              <a:rPr lang="en-US" sz="4400" b="1" dirty="0">
                <a:solidFill>
                  <a:schemeClr val="accent2"/>
                </a:solidFill>
              </a:rPr>
              <a:t>165</a:t>
            </a:r>
            <a:endParaRPr lang="en-US" sz="4400" dirty="0"/>
          </a:p>
        </p:txBody>
      </p:sp>
      <p:sp>
        <p:nvSpPr>
          <p:cNvPr id="6" name="Text 4"/>
          <p:cNvSpPr txBox="1"/>
          <p:nvPr/>
        </p:nvSpPr>
        <p:spPr>
          <a:xfrm>
            <a:off x="914400" y="3291840"/>
            <a:ext cx="2926080" cy="868680"/>
          </a:xfrm>
          <a:prstGeom prst="rect">
            <a:avLst/>
          </a:prstGeom>
          <a:noFill/>
          <a:ln/>
        </p:spPr>
        <p:txBody>
          <a:bodyPr wrap="square" lIns="0" tIns="0" rIns="0" bIns="0" rtlCol="0" anchor="t"/>
          <a:lstStyle/>
          <a:p>
            <a:pPr indent="0" marL="0">
              <a:buNone/>
            </a:pPr>
            <a:r>
              <a:rPr lang="en-US" sz="1300" dirty="0">
                <a:solidFill>
                  <a:schemeClr val="accent5"/>
                </a:solidFill>
              </a:rPr>
              <a:t>first implementation: sleepers frozen, awake group losing mass every round</a:t>
            </a:r>
            <a:endParaRPr lang="en-US" sz="1300" dirty="0"/>
          </a:p>
        </p:txBody>
      </p:sp>
      <p:sp>
        <p:nvSpPr>
          <p:cNvPr id="7" name="bound-1"/>
          <p:cNvSpPr/>
          <p:nvPr/>
        </p:nvSpPr>
        <p:spPr>
          <a:xfrm>
            <a:off x="4297680" y="2194560"/>
            <a:ext cx="3429000" cy="2103120"/>
          </a:xfrm>
          <a:prstGeom prst="roundRect">
            <a:avLst>
              <a:gd name="adj" fmla="val 3478"/>
            </a:avLst>
          </a:prstGeom>
          <a:solidFill>
            <a:srgbClr val="F2F5F9"/>
          </a:solidFill>
          <a:ln w="12700">
            <a:solidFill>
              <a:srgbClr val="E2E8F0"/>
            </a:solidFill>
            <a:prstDash val="solid"/>
          </a:ln>
        </p:spPr>
      </p:sp>
      <p:sp>
        <p:nvSpPr>
          <p:cNvPr id="8" name="Text 6"/>
          <p:cNvSpPr txBox="1"/>
          <p:nvPr/>
        </p:nvSpPr>
        <p:spPr>
          <a:xfrm>
            <a:off x="4572000" y="2377440"/>
            <a:ext cx="2926080" cy="822960"/>
          </a:xfrm>
          <a:prstGeom prst="rect">
            <a:avLst/>
          </a:prstGeom>
          <a:noFill/>
          <a:ln/>
        </p:spPr>
        <p:txBody>
          <a:bodyPr wrap="square" lIns="0" tIns="0" rIns="0" bIns="0" rtlCol="0" anchor="b"/>
          <a:lstStyle/>
          <a:p>
            <a:pPr indent="0" marL="0">
              <a:buNone/>
            </a:pPr>
            <a:r>
              <a:rPr lang="en-US" sz="4400" b="1" dirty="0">
                <a:solidFill>
                  <a:schemeClr val="accent5"/>
                </a:solidFill>
              </a:rPr>
              <a:t>3.26</a:t>
            </a:r>
            <a:endParaRPr lang="en-US" sz="4400" dirty="0"/>
          </a:p>
        </p:txBody>
      </p:sp>
      <p:sp>
        <p:nvSpPr>
          <p:cNvPr id="9" name="Text 7"/>
          <p:cNvSpPr txBox="1"/>
          <p:nvPr/>
        </p:nvSpPr>
        <p:spPr>
          <a:xfrm>
            <a:off x="4572000" y="3291840"/>
            <a:ext cx="2926080" cy="868680"/>
          </a:xfrm>
          <a:prstGeom prst="rect">
            <a:avLst/>
          </a:prstGeom>
          <a:noFill/>
          <a:ln/>
        </p:spPr>
        <p:txBody>
          <a:bodyPr wrap="square" lIns="0" tIns="0" rIns="0" bIns="0" rtlCol="0" anchor="t"/>
          <a:lstStyle/>
          <a:p>
            <a:pPr indent="0" marL="0">
              <a:buNone/>
            </a:pPr>
            <a:r>
              <a:rPr lang="en-US" sz="1300" dirty="0">
                <a:solidFill>
                  <a:schemeClr val="accent5"/>
                </a:solidFill>
              </a:rPr>
              <a:t>the bound</a:t>
            </a:r>
            <a:endParaRPr lang="en-US" sz="1300" dirty="0"/>
          </a:p>
        </p:txBody>
      </p:sp>
      <p:sp>
        <p:nvSpPr>
          <p:cNvPr id="10" name="bound-2"/>
          <p:cNvSpPr/>
          <p:nvPr/>
        </p:nvSpPr>
        <p:spPr>
          <a:xfrm>
            <a:off x="7955280" y="2194560"/>
            <a:ext cx="3429000" cy="2103120"/>
          </a:xfrm>
          <a:prstGeom prst="roundRect">
            <a:avLst>
              <a:gd name="adj" fmla="val 3478"/>
            </a:avLst>
          </a:prstGeom>
          <a:solidFill>
            <a:srgbClr val="F2F5F9"/>
          </a:solidFill>
          <a:ln w="12700">
            <a:solidFill>
              <a:srgbClr val="E2E8F0"/>
            </a:solidFill>
            <a:prstDash val="solid"/>
          </a:ln>
        </p:spPr>
      </p:sp>
      <p:sp>
        <p:nvSpPr>
          <p:cNvPr id="11" name="Text 9"/>
          <p:cNvSpPr txBox="1"/>
          <p:nvPr/>
        </p:nvSpPr>
        <p:spPr>
          <a:xfrm>
            <a:off x="8229600" y="2377440"/>
            <a:ext cx="2926080" cy="822960"/>
          </a:xfrm>
          <a:prstGeom prst="rect">
            <a:avLst/>
          </a:prstGeom>
          <a:noFill/>
          <a:ln/>
        </p:spPr>
        <p:txBody>
          <a:bodyPr wrap="square" lIns="0" tIns="0" rIns="0" bIns="0" rtlCol="0" anchor="b"/>
          <a:lstStyle/>
          <a:p>
            <a:pPr indent="0" marL="0">
              <a:buNone/>
            </a:pPr>
            <a:r>
              <a:rPr lang="en-US" sz="4400" b="1" dirty="0">
                <a:solidFill>
                  <a:schemeClr val="accent3"/>
                </a:solidFill>
              </a:rPr>
              <a:t>1.8</a:t>
            </a:r>
            <a:endParaRPr lang="en-US" sz="4400" dirty="0"/>
          </a:p>
        </p:txBody>
      </p:sp>
      <p:sp>
        <p:nvSpPr>
          <p:cNvPr id="12" name="Text 10"/>
          <p:cNvSpPr txBox="1"/>
          <p:nvPr/>
        </p:nvSpPr>
        <p:spPr>
          <a:xfrm>
            <a:off x="8229600" y="3291840"/>
            <a:ext cx="2926080" cy="868680"/>
          </a:xfrm>
          <a:prstGeom prst="rect">
            <a:avLst/>
          </a:prstGeom>
          <a:noFill/>
          <a:ln/>
        </p:spPr>
        <p:txBody>
          <a:bodyPr wrap="square" lIns="0" tIns="0" rIns="0" bIns="0" rtlCol="0" anchor="t"/>
          <a:lstStyle/>
          <a:p>
            <a:pPr indent="0" marL="0">
              <a:buNone/>
            </a:pPr>
            <a:r>
              <a:rPr lang="en-US" sz="1300" dirty="0">
                <a:solidFill>
                  <a:schemeClr val="accent5"/>
                </a:solidFill>
              </a:rPr>
              <a:t>specialists update: the awake group keeps its total mass</a:t>
            </a:r>
            <a:endParaRPr lang="en-US" sz="1300" dirty="0"/>
          </a:p>
        </p:txBody>
      </p:sp>
      <p:sp>
        <p:nvSpPr>
          <p:cNvPr id="13" name="Text 11"/>
          <p:cNvSpPr txBox="1"/>
          <p:nvPr/>
        </p:nvSpPr>
        <p:spPr>
          <a:xfrm>
            <a:off x="640080" y="4617720"/>
            <a:ext cx="10881360" cy="731520"/>
          </a:xfrm>
          <a:prstGeom prst="rect">
            <a:avLst/>
          </a:prstGeom>
          <a:noFill/>
          <a:ln/>
        </p:spPr>
        <p:txBody>
          <a:bodyPr wrap="square" rtlCol="0" anchor="ctr"/>
          <a:lstStyle/>
          <a:p>
            <a:pPr indent="0" marL="0">
              <a:buNone/>
            </a:pPr>
            <a:r>
              <a:rPr lang="en-US" sz="1500" b="1" dirty="0">
                <a:solidFill>
                  <a:schemeClr val="tx2"/>
                </a:solidFill>
              </a:rPr>
              <a:t>A one-line difference, invisible whenever nobody is asleep. Fixed, Hedge goes from third to first and draws level with Pinnacle over the whole decade.</a:t>
            </a:r>
            <a:endParaRPr lang="en-US" sz="1500" dirty="0"/>
          </a:p>
        </p:txBody>
      </p:sp>
      <p:sp>
        <p:nvSpPr>
          <p:cNvPr id="14" name="Text 12"/>
          <p:cNvSpPr txBox="1"/>
          <p:nvPr/>
        </p:nvSpPr>
        <p:spPr>
          <a:xfrm>
            <a:off x="640080" y="5440680"/>
            <a:ext cx="10881360" cy="320040"/>
          </a:xfrm>
          <a:prstGeom prst="rect">
            <a:avLst/>
          </a:prstGeom>
          <a:noFill/>
          <a:ln/>
        </p:spPr>
        <p:txBody>
          <a:bodyPr wrap="square" rtlCol="0" anchor="ctr"/>
          <a:lstStyle/>
          <a:p>
            <a:pPr indent="0" marL="0">
              <a:buNone/>
            </a:pPr>
            <a:r>
              <a:rPr lang="en-US" sz="1200" i="1" dirty="0">
                <a:solidFill>
                  <a:schemeClr val="accent5"/>
                </a:solidFill>
              </a:rPr>
              <a:t>excess over PSC on PSC's own rounds, total nats, step 1</a:t>
            </a:r>
            <a:endParaRPr lang="en-US" sz="12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Nine ideas tried and rejected</a:t>
            </a:r>
            <a:endParaRPr lang="en-US" sz="3000" dirty="0"/>
          </a:p>
        </p:txBody>
      </p:sp>
      <p:sp>
        <p:nvSpPr>
          <p:cNvPr id="3" name="neg-0"/>
          <p:cNvSpPr/>
          <p:nvPr/>
        </p:nvSpPr>
        <p:spPr>
          <a:xfrm>
            <a:off x="640080" y="1719072"/>
            <a:ext cx="237744" cy="237744"/>
          </a:xfrm>
          <a:prstGeom prst="ellipse">
            <a:avLst/>
          </a:prstGeom>
          <a:solidFill>
            <a:schemeClr val="accent4"/>
          </a:solidFill>
          <a:ln/>
        </p:spPr>
      </p:sp>
      <p:sp>
        <p:nvSpPr>
          <p:cNvPr id="4" name="Text 2"/>
          <p:cNvSpPr txBox="1"/>
          <p:nvPr/>
        </p:nvSpPr>
        <p:spPr>
          <a:xfrm>
            <a:off x="1024128" y="16459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Fixed-Share</a:t>
            </a:r>
            <a:endParaRPr lang="en-US" sz="1500" dirty="0"/>
          </a:p>
        </p:txBody>
      </p:sp>
      <p:sp>
        <p:nvSpPr>
          <p:cNvPr id="5" name="Text 3"/>
          <p:cNvSpPr txBox="1"/>
          <p:nvPr/>
        </p:nvSpPr>
        <p:spPr>
          <a:xfrm>
            <a:off x="1024128" y="22128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every α &gt; 0 loses</a:t>
            </a:r>
            <a:endParaRPr lang="en-US" sz="1250" dirty="0"/>
          </a:p>
        </p:txBody>
      </p:sp>
      <p:sp>
        <p:nvSpPr>
          <p:cNvPr id="6" name="neg-1"/>
          <p:cNvSpPr/>
          <p:nvPr/>
        </p:nvSpPr>
        <p:spPr>
          <a:xfrm>
            <a:off x="4297680" y="1719072"/>
            <a:ext cx="237744" cy="237744"/>
          </a:xfrm>
          <a:prstGeom prst="ellipse">
            <a:avLst/>
          </a:prstGeom>
          <a:solidFill>
            <a:schemeClr val="accent4"/>
          </a:solidFill>
          <a:ln/>
        </p:spPr>
      </p:sp>
      <p:sp>
        <p:nvSpPr>
          <p:cNvPr id="7" name="Text 5"/>
          <p:cNvSpPr txBox="1"/>
          <p:nvPr/>
        </p:nvSpPr>
        <p:spPr>
          <a:xfrm>
            <a:off x="4681728" y="16459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Per-expert step clock</a:t>
            </a:r>
            <a:endParaRPr lang="en-US" sz="1500" dirty="0"/>
          </a:p>
        </p:txBody>
      </p:sp>
      <p:sp>
        <p:nvSpPr>
          <p:cNvPr id="8" name="Text 6"/>
          <p:cNvSpPr txBox="1"/>
          <p:nvPr/>
        </p:nvSpPr>
        <p:spPr>
          <a:xfrm>
            <a:off x="4681728" y="22128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−0.00073 on the tail: overfitting</a:t>
            </a:r>
            <a:endParaRPr lang="en-US" sz="1250" dirty="0"/>
          </a:p>
        </p:txBody>
      </p:sp>
      <p:sp>
        <p:nvSpPr>
          <p:cNvPr id="9" name="neg-2"/>
          <p:cNvSpPr/>
          <p:nvPr/>
        </p:nvSpPr>
        <p:spPr>
          <a:xfrm>
            <a:off x="7955280" y="1719072"/>
            <a:ext cx="237744" cy="237744"/>
          </a:xfrm>
          <a:prstGeom prst="ellipse">
            <a:avLst/>
          </a:prstGeom>
          <a:solidFill>
            <a:schemeClr val="accent4"/>
          </a:solidFill>
          <a:ln/>
        </p:spPr>
      </p:sp>
      <p:sp>
        <p:nvSpPr>
          <p:cNvPr id="10" name="Text 8"/>
          <p:cNvSpPr txBox="1"/>
          <p:nvPr/>
        </p:nvSpPr>
        <p:spPr>
          <a:xfrm>
            <a:off x="8339328" y="16459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Markov kernels on the weights</a:t>
            </a:r>
            <a:endParaRPr lang="en-US" sz="1500" dirty="0"/>
          </a:p>
        </p:txBody>
      </p:sp>
      <p:sp>
        <p:nvSpPr>
          <p:cNvPr id="11" name="Text 9"/>
          <p:cNvSpPr txBox="1"/>
          <p:nvPr/>
        </p:nvSpPr>
        <p:spPr>
          <a:xfrm>
            <a:off x="8339328" y="22128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every kernel selects α = 0</a:t>
            </a:r>
            <a:endParaRPr lang="en-US" sz="1250" dirty="0"/>
          </a:p>
        </p:txBody>
      </p:sp>
      <p:sp>
        <p:nvSpPr>
          <p:cNvPr id="12" name="neg-3"/>
          <p:cNvSpPr/>
          <p:nvPr/>
        </p:nvSpPr>
        <p:spPr>
          <a:xfrm>
            <a:off x="640080" y="3090672"/>
            <a:ext cx="237744" cy="237744"/>
          </a:xfrm>
          <a:prstGeom prst="ellipse">
            <a:avLst/>
          </a:prstGeom>
          <a:solidFill>
            <a:schemeClr val="accent4"/>
          </a:solidFill>
          <a:ln/>
        </p:spPr>
      </p:sp>
      <p:sp>
        <p:nvSpPr>
          <p:cNvPr id="13" name="Text 11"/>
          <p:cNvSpPr txBox="1"/>
          <p:nvPr/>
        </p:nvSpPr>
        <p:spPr>
          <a:xfrm>
            <a:off x="1024128" y="30175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Latent market regimes</a:t>
            </a:r>
            <a:endParaRPr lang="en-US" sz="1500" dirty="0"/>
          </a:p>
        </p:txBody>
      </p:sp>
      <p:sp>
        <p:nvSpPr>
          <p:cNvPr id="14" name="Text 12"/>
          <p:cNvSpPr txBox="1"/>
          <p:nvPr/>
        </p:nvSpPr>
        <p:spPr>
          <a:xfrm>
            <a:off x="1024128" y="35844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belief sd 0.0000: it does nothing</a:t>
            </a:r>
            <a:endParaRPr lang="en-US" sz="1250" dirty="0"/>
          </a:p>
        </p:txBody>
      </p:sp>
      <p:sp>
        <p:nvSpPr>
          <p:cNvPr id="15" name="neg-4"/>
          <p:cNvSpPr/>
          <p:nvPr/>
        </p:nvSpPr>
        <p:spPr>
          <a:xfrm>
            <a:off x="4297680" y="3090672"/>
            <a:ext cx="237744" cy="237744"/>
          </a:xfrm>
          <a:prstGeom prst="ellipse">
            <a:avLst/>
          </a:prstGeom>
          <a:solidFill>
            <a:schemeClr val="accent4"/>
          </a:solidFill>
          <a:ln/>
        </p:spPr>
      </p:sp>
      <p:sp>
        <p:nvSpPr>
          <p:cNvPr id="16" name="Text 14"/>
          <p:cNvSpPr txBox="1"/>
          <p:nvPr/>
        </p:nvSpPr>
        <p:spPr>
          <a:xfrm>
            <a:off x="4681728" y="30175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Bandit, one-point estimator</a:t>
            </a:r>
            <a:endParaRPr lang="en-US" sz="1500" dirty="0"/>
          </a:p>
        </p:txBody>
      </p:sp>
      <p:sp>
        <p:nvSpPr>
          <p:cNvPr id="17" name="Text 15"/>
          <p:cNvSpPr txBox="1"/>
          <p:nvPr/>
        </p:nvSpPr>
        <p:spPr>
          <a:xfrm>
            <a:off x="4681728" y="35844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the horizon is too short</a:t>
            </a:r>
            <a:endParaRPr lang="en-US" sz="1250" dirty="0"/>
          </a:p>
        </p:txBody>
      </p:sp>
      <p:sp>
        <p:nvSpPr>
          <p:cNvPr id="18" name="neg-5"/>
          <p:cNvSpPr/>
          <p:nvPr/>
        </p:nvSpPr>
        <p:spPr>
          <a:xfrm>
            <a:off x="7955280" y="3090672"/>
            <a:ext cx="237744" cy="237744"/>
          </a:xfrm>
          <a:prstGeom prst="ellipse">
            <a:avLst/>
          </a:prstGeom>
          <a:solidFill>
            <a:schemeClr val="accent4"/>
          </a:solidFill>
          <a:ln/>
        </p:spPr>
      </p:sp>
      <p:sp>
        <p:nvSpPr>
          <p:cNvPr id="19" name="Text 17"/>
          <p:cNvSpPr txBox="1"/>
          <p:nvPr/>
        </p:nvSpPr>
        <p:spPr>
          <a:xfrm>
            <a:off x="8339328" y="30175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Bayesian / MCMC Kelly</a:t>
            </a:r>
            <a:endParaRPr lang="en-US" sz="1500" dirty="0"/>
          </a:p>
        </p:txBody>
      </p:sp>
      <p:sp>
        <p:nvSpPr>
          <p:cNvPr id="20" name="Text 18"/>
          <p:cNvSpPr txBox="1"/>
          <p:nvPr/>
        </p:nvSpPr>
        <p:spPr>
          <a:xfrm>
            <a:off x="8339328" y="35844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6 ties, 2 losses, zero wins</a:t>
            </a:r>
            <a:endParaRPr lang="en-US" sz="1250" dirty="0"/>
          </a:p>
        </p:txBody>
      </p:sp>
      <p:sp>
        <p:nvSpPr>
          <p:cNvPr id="21" name="neg-6"/>
          <p:cNvSpPr/>
          <p:nvPr/>
        </p:nvSpPr>
        <p:spPr>
          <a:xfrm>
            <a:off x="640080" y="4462272"/>
            <a:ext cx="237744" cy="237744"/>
          </a:xfrm>
          <a:prstGeom prst="ellipse">
            <a:avLst/>
          </a:prstGeom>
          <a:solidFill>
            <a:schemeClr val="accent4"/>
          </a:solidFill>
          <a:ln/>
        </p:spPr>
      </p:sp>
      <p:sp>
        <p:nvSpPr>
          <p:cNvPr id="22" name="Text 20"/>
          <p:cNvSpPr txBox="1"/>
          <p:nvPr/>
        </p:nvSpPr>
        <p:spPr>
          <a:xfrm>
            <a:off x="1024128" y="43891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Per-league specialisation</a:t>
            </a:r>
            <a:endParaRPr lang="en-US" sz="1500" dirty="0"/>
          </a:p>
        </p:txBody>
      </p:sp>
      <p:sp>
        <p:nvSpPr>
          <p:cNvPr id="23" name="Text 21"/>
          <p:cNvSpPr txBox="1"/>
          <p:nvPr/>
        </p:nvSpPr>
        <p:spPr>
          <a:xfrm>
            <a:off x="1024128" y="49560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loses in all six leagues</a:t>
            </a:r>
            <a:endParaRPr lang="en-US" sz="1250" dirty="0"/>
          </a:p>
        </p:txBody>
      </p:sp>
      <p:sp>
        <p:nvSpPr>
          <p:cNvPr id="24" name="neg-7"/>
          <p:cNvSpPr/>
          <p:nvPr/>
        </p:nvSpPr>
        <p:spPr>
          <a:xfrm>
            <a:off x="4297680" y="4462272"/>
            <a:ext cx="237744" cy="237744"/>
          </a:xfrm>
          <a:prstGeom prst="ellipse">
            <a:avLst/>
          </a:prstGeom>
          <a:solidFill>
            <a:schemeClr val="accent4"/>
          </a:solidFill>
          <a:ln/>
        </p:spPr>
      </p:sp>
      <p:sp>
        <p:nvSpPr>
          <p:cNvPr id="25" name="Text 23"/>
          <p:cNvSpPr txBox="1"/>
          <p:nvPr/>
        </p:nvSpPr>
        <p:spPr>
          <a:xfrm>
            <a:off x="4681728" y="43891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AdaGrad</a:t>
            </a:r>
            <a:endParaRPr lang="en-US" sz="1500" dirty="0"/>
          </a:p>
        </p:txBody>
      </p:sp>
      <p:sp>
        <p:nvSpPr>
          <p:cNvPr id="26" name="Text 24"/>
          <p:cNvSpPr txBox="1"/>
          <p:nvPr/>
        </p:nvSpPr>
        <p:spPr>
          <a:xfrm>
            <a:off x="4681728" y="49560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recovers 20% at best</a:t>
            </a:r>
            <a:endParaRPr lang="en-US" sz="1250" dirty="0"/>
          </a:p>
        </p:txBody>
      </p:sp>
      <p:sp>
        <p:nvSpPr>
          <p:cNvPr id="27" name="neg-8"/>
          <p:cNvSpPr/>
          <p:nvPr/>
        </p:nvSpPr>
        <p:spPr>
          <a:xfrm>
            <a:off x="7955280" y="4462272"/>
            <a:ext cx="237744" cy="237744"/>
          </a:xfrm>
          <a:prstGeom prst="ellipse">
            <a:avLst/>
          </a:prstGeom>
          <a:solidFill>
            <a:schemeClr val="accent4"/>
          </a:solidFill>
          <a:ln/>
        </p:spPr>
      </p:sp>
      <p:sp>
        <p:nvSpPr>
          <p:cNvPr id="28" name="Text 26"/>
          <p:cNvSpPr txBox="1"/>
          <p:nvPr/>
        </p:nvSpPr>
        <p:spPr>
          <a:xfrm>
            <a:off x="8339328" y="43891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Joint step + calibration sweep</a:t>
            </a:r>
            <a:endParaRPr lang="en-US" sz="1500" dirty="0"/>
          </a:p>
        </p:txBody>
      </p:sp>
      <p:sp>
        <p:nvSpPr>
          <p:cNvPr id="29" name="Text 27"/>
          <p:cNvSpPr txBox="1"/>
          <p:nvPr/>
        </p:nvSpPr>
        <p:spPr>
          <a:xfrm>
            <a:off x="8339328" y="49560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no interaction at all</a:t>
            </a:r>
            <a:endParaRPr lang="en-US" sz="1250" dirty="0"/>
          </a:p>
        </p:txBody>
      </p:sp>
      <p:sp>
        <p:nvSpPr>
          <p:cNvPr id="30" name="Text 28"/>
          <p:cNvSpPr txBox="1"/>
          <p:nvPr/>
        </p:nvSpPr>
        <p:spPr>
          <a:xfrm>
            <a:off x="640080" y="5852160"/>
            <a:ext cx="10881360" cy="640080"/>
          </a:xfrm>
          <a:prstGeom prst="rect">
            <a:avLst/>
          </a:prstGeom>
          <a:noFill/>
          <a:ln/>
        </p:spPr>
        <p:txBody>
          <a:bodyPr wrap="square" rtlCol="0" anchor="ctr"/>
          <a:lstStyle/>
          <a:p>
            <a:pPr indent="0" marL="0">
              <a:buNone/>
            </a:pPr>
            <a:r>
              <a:rPr lang="en-US" sz="1500" dirty="0">
                <a:solidFill>
                  <a:schemeClr val="tx1"/>
                </a:solidFill>
              </a:rPr>
              <a:t>One pattern unites them: once the step size is tuned, no further movement of mass over the experts buys anything. The step and the leak control the same quantity.</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Conclusions</a:t>
            </a:r>
            <a:endParaRPr lang="en-US" sz="3000" dirty="0"/>
          </a:p>
        </p:txBody>
      </p:sp>
      <p:sp>
        <p:nvSpPr>
          <p:cNvPr id="3" name="cc-0"/>
          <p:cNvSpPr/>
          <p:nvPr/>
        </p:nvSpPr>
        <p:spPr>
          <a:xfrm>
            <a:off x="640080" y="1554480"/>
            <a:ext cx="256032" cy="256032"/>
          </a:xfrm>
          <a:prstGeom prst="ellipse">
            <a:avLst/>
          </a:prstGeom>
          <a:solidFill>
            <a:schemeClr val="accent3"/>
          </a:solidFill>
          <a:ln/>
        </p:spPr>
      </p:sp>
      <p:sp>
        <p:nvSpPr>
          <p:cNvPr id="4" name="Text 2"/>
          <p:cNvSpPr txBox="1"/>
          <p:nvPr/>
        </p:nvSpPr>
        <p:spPr>
          <a:xfrm>
            <a:off x="1078992" y="1463040"/>
            <a:ext cx="3931920" cy="411480"/>
          </a:xfrm>
          <a:prstGeom prst="rect">
            <a:avLst/>
          </a:prstGeom>
          <a:noFill/>
          <a:ln/>
        </p:spPr>
        <p:txBody>
          <a:bodyPr wrap="square" lIns="0" tIns="0" rIns="0" bIns="0" rtlCol="0" anchor="t"/>
          <a:lstStyle/>
          <a:p>
            <a:pPr indent="0" marL="0">
              <a:buNone/>
            </a:pPr>
            <a:r>
              <a:rPr lang="en-US" sz="1600" b="1" dirty="0">
                <a:solidFill>
                  <a:schemeClr val="tx2"/>
                </a:solidFill>
              </a:rPr>
              <a:t>The framework applies</a:t>
            </a:r>
            <a:endParaRPr lang="en-US" sz="1600" dirty="0"/>
          </a:p>
        </p:txBody>
      </p:sp>
      <p:sp>
        <p:nvSpPr>
          <p:cNvPr id="5" name="Text 3"/>
          <p:cNvSpPr txBox="1"/>
          <p:nvPr/>
        </p:nvSpPr>
        <p:spPr>
          <a:xfrm>
            <a:off x="5166360" y="1463040"/>
            <a:ext cx="6355080" cy="777240"/>
          </a:xfrm>
          <a:prstGeom prst="rect">
            <a:avLst/>
          </a:prstGeom>
          <a:noFill/>
          <a:ln/>
        </p:spPr>
        <p:txBody>
          <a:bodyPr wrap="square" lIns="0" tIns="0" rIns="0" bIns="0" rtlCol="0" anchor="t"/>
          <a:lstStyle/>
          <a:p>
            <a:pPr indent="0" marL="0">
              <a:buNone/>
            </a:pPr>
            <a:r>
              <a:rPr lang="en-US" sz="1350" dirty="0">
                <a:solidFill>
                  <a:schemeClr val="accent5"/>
                </a:solidFill>
              </a:rPr>
              <a:t>An online mixture of published odds beats the uniform average and almost every individual bookmaker, with no distributional assumption.</a:t>
            </a:r>
            <a:endParaRPr lang="en-US" sz="1350" dirty="0"/>
          </a:p>
        </p:txBody>
      </p:sp>
      <p:sp>
        <p:nvSpPr>
          <p:cNvPr id="6" name="cc-1"/>
          <p:cNvSpPr/>
          <p:nvPr/>
        </p:nvSpPr>
        <p:spPr>
          <a:xfrm>
            <a:off x="640080" y="2496312"/>
            <a:ext cx="256032" cy="256032"/>
          </a:xfrm>
          <a:prstGeom prst="ellipse">
            <a:avLst/>
          </a:prstGeom>
          <a:solidFill>
            <a:schemeClr val="accent1"/>
          </a:solidFill>
          <a:ln/>
        </p:spPr>
      </p:sp>
      <p:sp>
        <p:nvSpPr>
          <p:cNvPr id="7" name="Text 5"/>
          <p:cNvSpPr txBox="1"/>
          <p:nvPr/>
        </p:nvSpPr>
        <p:spPr>
          <a:xfrm>
            <a:off x="1078992" y="2404872"/>
            <a:ext cx="3931920" cy="411480"/>
          </a:xfrm>
          <a:prstGeom prst="rect">
            <a:avLst/>
          </a:prstGeom>
          <a:noFill/>
          <a:ln/>
        </p:spPr>
        <p:txBody>
          <a:bodyPr wrap="square" lIns="0" tIns="0" rIns="0" bIns="0" rtlCol="0" anchor="t"/>
          <a:lstStyle/>
          <a:p>
            <a:pPr indent="0" marL="0">
              <a:buNone/>
            </a:pPr>
            <a:r>
              <a:rPr lang="en-US" sz="1600" b="1" dirty="0">
                <a:solidFill>
                  <a:schemeClr val="tx2"/>
                </a:solidFill>
              </a:rPr>
              <a:t>It reaches the market's edge</a:t>
            </a:r>
            <a:endParaRPr lang="en-US" sz="1600" dirty="0"/>
          </a:p>
        </p:txBody>
      </p:sp>
      <p:sp>
        <p:nvSpPr>
          <p:cNvPr id="8" name="Text 6"/>
          <p:cNvSpPr txBox="1"/>
          <p:nvPr/>
        </p:nvSpPr>
        <p:spPr>
          <a:xfrm>
            <a:off x="5166360" y="2404872"/>
            <a:ext cx="6355080" cy="777240"/>
          </a:xfrm>
          <a:prstGeom prst="rect">
            <a:avLst/>
          </a:prstGeom>
          <a:noFill/>
          <a:ln/>
        </p:spPr>
        <p:txBody>
          <a:bodyPr wrap="square" lIns="0" tIns="0" rIns="0" bIns="0" rtlCol="0" anchor="t"/>
          <a:lstStyle/>
          <a:p>
            <a:pPr indent="0" marL="0">
              <a:buNone/>
            </a:pPr>
            <a:r>
              <a:rPr lang="en-US" sz="1350" dirty="0">
                <a:solidFill>
                  <a:schemeClr val="accent5"/>
                </a:solidFill>
              </a:rPr>
              <a:t>Hedge is level with the sharpest bookmaker over the whole decade; an exchange with no operator margin is still ahead.</a:t>
            </a:r>
            <a:endParaRPr lang="en-US" sz="1350" dirty="0"/>
          </a:p>
        </p:txBody>
      </p:sp>
      <p:sp>
        <p:nvSpPr>
          <p:cNvPr id="9" name="cc-2"/>
          <p:cNvSpPr/>
          <p:nvPr/>
        </p:nvSpPr>
        <p:spPr>
          <a:xfrm>
            <a:off x="640080" y="3438144"/>
            <a:ext cx="256032" cy="256032"/>
          </a:xfrm>
          <a:prstGeom prst="ellipse">
            <a:avLst/>
          </a:prstGeom>
          <a:solidFill>
            <a:schemeClr val="accent4"/>
          </a:solidFill>
          <a:ln/>
        </p:spPr>
      </p:sp>
      <p:sp>
        <p:nvSpPr>
          <p:cNvPr id="10" name="Text 8"/>
          <p:cNvSpPr txBox="1"/>
          <p:nvPr/>
        </p:nvSpPr>
        <p:spPr>
          <a:xfrm>
            <a:off x="1078992" y="3346704"/>
            <a:ext cx="3931920" cy="411480"/>
          </a:xfrm>
          <a:prstGeom prst="rect">
            <a:avLst/>
          </a:prstGeom>
          <a:noFill/>
          <a:ln/>
        </p:spPr>
        <p:txBody>
          <a:bodyPr wrap="square" lIns="0" tIns="0" rIns="0" bIns="0" rtlCol="0" anchor="t"/>
          <a:lstStyle/>
          <a:p>
            <a:pPr indent="0" marL="0">
              <a:buNone/>
            </a:pPr>
            <a:r>
              <a:rPr lang="en-US" sz="1600" b="1" dirty="0">
                <a:solidFill>
                  <a:schemeClr val="tx2"/>
                </a:solidFill>
              </a:rPr>
              <a:t>Check the theory against the data</a:t>
            </a:r>
            <a:endParaRPr lang="en-US" sz="1600" dirty="0"/>
          </a:p>
        </p:txBody>
      </p:sp>
      <p:sp>
        <p:nvSpPr>
          <p:cNvPr id="11" name="Text 9"/>
          <p:cNvSpPr txBox="1"/>
          <p:nvPr/>
        </p:nvSpPr>
        <p:spPr>
          <a:xfrm>
            <a:off x="5166360" y="3346704"/>
            <a:ext cx="6355080" cy="777240"/>
          </a:xfrm>
          <a:prstGeom prst="rect">
            <a:avLst/>
          </a:prstGeom>
          <a:noFill/>
          <a:ln/>
        </p:spPr>
        <p:txBody>
          <a:bodyPr wrap="square" lIns="0" tIns="0" rIns="0" bIns="0" rtlCol="0" anchor="t"/>
          <a:lstStyle/>
          <a:p>
            <a:pPr indent="0" marL="0">
              <a:buNone/>
            </a:pPr>
            <a:r>
              <a:rPr lang="en-US" sz="1350" dirty="0">
                <a:solidFill>
                  <a:schemeClr val="accent5"/>
                </a:solidFill>
              </a:rPr>
              <a:t>42% of OGD's margin is geometry, and a regret bound exposed a broken Hedge.</a:t>
            </a:r>
            <a:endParaRPr lang="en-US" sz="1350" dirty="0"/>
          </a:p>
        </p:txBody>
      </p:sp>
      <p:sp>
        <p:nvSpPr>
          <p:cNvPr id="12" name="cc-3"/>
          <p:cNvSpPr/>
          <p:nvPr/>
        </p:nvSpPr>
        <p:spPr>
          <a:xfrm>
            <a:off x="640080" y="4379976"/>
            <a:ext cx="256032" cy="256032"/>
          </a:xfrm>
          <a:prstGeom prst="ellipse">
            <a:avLst/>
          </a:prstGeom>
          <a:solidFill>
            <a:schemeClr val="accent1"/>
          </a:solidFill>
          <a:ln/>
        </p:spPr>
      </p:sp>
      <p:sp>
        <p:nvSpPr>
          <p:cNvPr id="13" name="Text 11"/>
          <p:cNvSpPr txBox="1"/>
          <p:nvPr/>
        </p:nvSpPr>
        <p:spPr>
          <a:xfrm>
            <a:off x="1078992" y="4288536"/>
            <a:ext cx="3931920" cy="411480"/>
          </a:xfrm>
          <a:prstGeom prst="rect">
            <a:avLst/>
          </a:prstGeom>
          <a:noFill/>
          <a:ln/>
        </p:spPr>
        <p:txBody>
          <a:bodyPr wrap="square" lIns="0" tIns="0" rIns="0" bIns="0" rtlCol="0" anchor="t"/>
          <a:lstStyle/>
          <a:p>
            <a:pPr indent="0" marL="0">
              <a:buNone/>
            </a:pPr>
            <a:r>
              <a:rPr lang="en-US" sz="1600" b="1" dirty="0">
                <a:solidFill>
                  <a:schemeClr val="tx2"/>
                </a:solidFill>
              </a:rPr>
              <a:t>Heterogeneity is where learning pays</a:t>
            </a:r>
            <a:endParaRPr lang="en-US" sz="1600" dirty="0"/>
          </a:p>
        </p:txBody>
      </p:sp>
      <p:sp>
        <p:nvSpPr>
          <p:cNvPr id="14" name="Text 12"/>
          <p:cNvSpPr txBox="1"/>
          <p:nvPr/>
        </p:nvSpPr>
        <p:spPr>
          <a:xfrm>
            <a:off x="5166360" y="4288536"/>
            <a:ext cx="6355080" cy="777240"/>
          </a:xfrm>
          <a:prstGeom prst="rect">
            <a:avLst/>
          </a:prstGeom>
          <a:noFill/>
          <a:ln/>
        </p:spPr>
        <p:txBody>
          <a:bodyPr wrap="square" lIns="0" tIns="0" rIns="0" bIns="0" rtlCol="0" anchor="t"/>
          <a:lstStyle/>
          <a:p>
            <a:pPr indent="0" marL="0">
              <a:buNone/>
            </a:pPr>
            <a:r>
              <a:rPr lang="en-US" sz="1350" dirty="0">
                <a:solidFill>
                  <a:schemeClr val="accent5"/>
                </a:solidFill>
              </a:rPr>
              <a:t>The gain is largest when the experts come from different processes, and mostly goes when they do not.</a:t>
            </a:r>
            <a:endParaRPr lang="en-US" sz="1350" dirty="0"/>
          </a:p>
        </p:txBody>
      </p:sp>
      <p:sp>
        <p:nvSpPr>
          <p:cNvPr id="15" name="cc-4"/>
          <p:cNvSpPr/>
          <p:nvPr/>
        </p:nvSpPr>
        <p:spPr>
          <a:xfrm>
            <a:off x="640080" y="5321808"/>
            <a:ext cx="256032" cy="256032"/>
          </a:xfrm>
          <a:prstGeom prst="ellipse">
            <a:avLst/>
          </a:prstGeom>
          <a:solidFill>
            <a:schemeClr val="accent2"/>
          </a:solidFill>
          <a:ln/>
        </p:spPr>
      </p:sp>
      <p:sp>
        <p:nvSpPr>
          <p:cNvPr id="16" name="Text 14"/>
          <p:cNvSpPr txBox="1"/>
          <p:nvPr/>
        </p:nvSpPr>
        <p:spPr>
          <a:xfrm>
            <a:off x="1078992" y="5230368"/>
            <a:ext cx="3931920" cy="411480"/>
          </a:xfrm>
          <a:prstGeom prst="rect">
            <a:avLst/>
          </a:prstGeom>
          <a:noFill/>
          <a:ln/>
        </p:spPr>
        <p:txBody>
          <a:bodyPr wrap="square" lIns="0" tIns="0" rIns="0" bIns="0" rtlCol="0" anchor="t"/>
          <a:lstStyle/>
          <a:p>
            <a:pPr indent="0" marL="0">
              <a:buNone/>
            </a:pPr>
            <a:r>
              <a:rPr lang="en-US" sz="1600" b="1" dirty="0">
                <a:solidFill>
                  <a:schemeClr val="tx2"/>
                </a:solidFill>
              </a:rPr>
              <a:t>Better prediction is not profit</a:t>
            </a:r>
            <a:endParaRPr lang="en-US" sz="1600" dirty="0"/>
          </a:p>
        </p:txBody>
      </p:sp>
      <p:sp>
        <p:nvSpPr>
          <p:cNvPr id="17" name="Text 15"/>
          <p:cNvSpPr txBox="1"/>
          <p:nvPr/>
        </p:nvSpPr>
        <p:spPr>
          <a:xfrm>
            <a:off x="5166360" y="5230368"/>
            <a:ext cx="6355080" cy="777240"/>
          </a:xfrm>
          <a:prstGeom prst="rect">
            <a:avLst/>
          </a:prstGeom>
          <a:noFill/>
          <a:ln/>
        </p:spPr>
        <p:txBody>
          <a:bodyPr wrap="square" lIns="0" tIns="0" rIns="0" bIns="0" rtlCol="0" anchor="t"/>
          <a:lstStyle/>
          <a:p>
            <a:pPr indent="0" marL="0">
              <a:buNone/>
            </a:pPr>
            <a:r>
              <a:rPr lang="en-US" sz="1350" dirty="0">
                <a:solidFill>
                  <a:schemeClr val="accent5"/>
                </a:solidFill>
              </a:rPr>
              <a:t>The quality gained falls short of the margin, and the edge sits where access is controlled.</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Future work</a:t>
            </a:r>
            <a:endParaRPr lang="en-US" sz="3000" dirty="0"/>
          </a:p>
        </p:txBody>
      </p:sp>
      <p:sp>
        <p:nvSpPr>
          <p:cNvPr id="3" name="circle-1"/>
          <p:cNvSpPr/>
          <p:nvPr/>
        </p:nvSpPr>
        <p:spPr>
          <a:xfrm>
            <a:off x="640080" y="1691640"/>
            <a:ext cx="566928" cy="566928"/>
          </a:xfrm>
          <a:prstGeom prst="ellipse">
            <a:avLst/>
          </a:prstGeom>
          <a:solidFill>
            <a:schemeClr val="accent1"/>
          </a:solidFill>
          <a:ln/>
        </p:spPr>
      </p:sp>
      <p:sp>
        <p:nvSpPr>
          <p:cNvPr id="4" name="Text 2"/>
          <p:cNvSpPr txBox="1"/>
          <p:nvPr/>
        </p:nvSpPr>
        <p:spPr>
          <a:xfrm>
            <a:off x="640080" y="1691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ext 3"/>
          <p:cNvSpPr txBox="1"/>
          <p:nvPr/>
        </p:nvSpPr>
        <p:spPr>
          <a:xfrm>
            <a:off x="1508760" y="1645920"/>
            <a:ext cx="10058400" cy="411480"/>
          </a:xfrm>
          <a:prstGeom prst="rect">
            <a:avLst/>
          </a:prstGeom>
          <a:noFill/>
          <a:ln/>
        </p:spPr>
        <p:txBody>
          <a:bodyPr wrap="square" lIns="0" tIns="0" rIns="0" bIns="0" rtlCol="0" anchor="t"/>
          <a:lstStyle/>
          <a:p>
            <a:pPr indent="0" marL="0">
              <a:buNone/>
            </a:pPr>
            <a:r>
              <a:rPr lang="en-US" sz="1800" b="1" dirty="0">
                <a:solidFill>
                  <a:schemeClr val="tx2"/>
                </a:solidFill>
              </a:rPr>
              <a:t>A live odds feed</a:t>
            </a:r>
            <a:endParaRPr lang="en-US" sz="1800" dirty="0"/>
          </a:p>
        </p:txBody>
      </p:sp>
      <p:sp>
        <p:nvSpPr>
          <p:cNvPr id="6" name="Text 4"/>
          <p:cNvSpPr txBox="1"/>
          <p:nvPr/>
        </p:nvSpPr>
        <p:spPr>
          <a:xfrm>
            <a:off x="1508760" y="2066544"/>
            <a:ext cx="10058400" cy="960120"/>
          </a:xfrm>
          <a:prstGeom prst="rect">
            <a:avLst/>
          </a:prstGeom>
          <a:noFill/>
          <a:ln/>
        </p:spPr>
        <p:txBody>
          <a:bodyPr wrap="square" lIns="0" tIns="0" rIns="0" bIns="0" rtlCol="0" anchor="t"/>
          <a:lstStyle/>
          <a:p>
            <a:pPr indent="0" marL="0">
              <a:buNone/>
            </a:pPr>
            <a:r>
              <a:rPr lang="en-US" sz="1350" dirty="0">
                <a:solidFill>
                  <a:schemeClr val="accent5"/>
                </a:solidFill>
              </a:rPr>
              <a:t>Every result here says what the method WOULD have done. The three stages are online and causal and the state is one weight vector plus two scalars, so it runs in real time against a streaming API. That turns a statistical edge into an exploitable one.</a:t>
            </a:r>
            <a:endParaRPr lang="en-US" sz="1350" dirty="0"/>
          </a:p>
        </p:txBody>
      </p:sp>
      <p:sp>
        <p:nvSpPr>
          <p:cNvPr id="7" name="circle-2"/>
          <p:cNvSpPr/>
          <p:nvPr/>
        </p:nvSpPr>
        <p:spPr>
          <a:xfrm>
            <a:off x="640080" y="3200400"/>
            <a:ext cx="566928" cy="566928"/>
          </a:xfrm>
          <a:prstGeom prst="ellipse">
            <a:avLst/>
          </a:prstGeom>
          <a:solidFill>
            <a:schemeClr val="accent1"/>
          </a:solidFill>
          <a:ln/>
        </p:spPr>
      </p:sp>
      <p:sp>
        <p:nvSpPr>
          <p:cNvPr id="8" name="Text 6"/>
          <p:cNvSpPr txBox="1"/>
          <p:nvPr/>
        </p:nvSpPr>
        <p:spPr>
          <a:xfrm>
            <a:off x="640080" y="32004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txBox="1"/>
          <p:nvPr/>
        </p:nvSpPr>
        <p:spPr>
          <a:xfrm>
            <a:off x="1508760" y="3154680"/>
            <a:ext cx="10058400" cy="411480"/>
          </a:xfrm>
          <a:prstGeom prst="rect">
            <a:avLst/>
          </a:prstGeom>
          <a:noFill/>
          <a:ln/>
        </p:spPr>
        <p:txBody>
          <a:bodyPr wrap="square" lIns="0" tIns="0" rIns="0" bIns="0" rtlCol="0" anchor="t"/>
          <a:lstStyle/>
          <a:p>
            <a:pPr indent="0" marL="0">
              <a:buNone/>
            </a:pPr>
            <a:r>
              <a:rPr lang="en-US" sz="1800" b="1" dirty="0">
                <a:solidFill>
                  <a:schemeClr val="tx2"/>
                </a:solidFill>
              </a:rPr>
              <a:t>A second sport</a:t>
            </a:r>
            <a:endParaRPr lang="en-US" sz="1800" dirty="0"/>
          </a:p>
        </p:txBody>
      </p:sp>
      <p:sp>
        <p:nvSpPr>
          <p:cNvPr id="10" name="Text 8"/>
          <p:cNvSpPr txBox="1"/>
          <p:nvPr/>
        </p:nvSpPr>
        <p:spPr>
          <a:xfrm>
            <a:off x="1508760" y="3575304"/>
            <a:ext cx="10058400" cy="960120"/>
          </a:xfrm>
          <a:prstGeom prst="rect">
            <a:avLst/>
          </a:prstGeom>
          <a:noFill/>
          <a:ln/>
        </p:spPr>
        <p:txBody>
          <a:bodyPr wrap="square" lIns="0" tIns="0" rIns="0" bIns="0" rtlCol="0" anchor="t"/>
          <a:lstStyle/>
          <a:p>
            <a:pPr indent="0" marL="0">
              <a:buNone/>
            </a:pPr>
            <a:r>
              <a:rPr lang="en-US" sz="1350" dirty="0">
                <a:solidFill>
                  <a:schemeClr val="accent5"/>
                </a:solidFill>
              </a:rPr>
              <a:t>Basketball or tennis would show whether the framework generalises. The cost is a data pipeline; the algorithms do not change.</a:t>
            </a:r>
            <a:endParaRPr lang="en-US" sz="1350" dirty="0"/>
          </a:p>
        </p:txBody>
      </p:sp>
      <p:sp>
        <p:nvSpPr>
          <p:cNvPr id="11" name="circle-3"/>
          <p:cNvSpPr/>
          <p:nvPr/>
        </p:nvSpPr>
        <p:spPr>
          <a:xfrm>
            <a:off x="640080" y="4709160"/>
            <a:ext cx="566928" cy="566928"/>
          </a:xfrm>
          <a:prstGeom prst="ellipse">
            <a:avLst/>
          </a:prstGeom>
          <a:solidFill>
            <a:schemeClr val="accent1"/>
          </a:solidFill>
          <a:ln/>
        </p:spPr>
      </p:sp>
      <p:sp>
        <p:nvSpPr>
          <p:cNvPr id="12" name="Text 10"/>
          <p:cNvSpPr txBox="1"/>
          <p:nvPr/>
        </p:nvSpPr>
        <p:spPr>
          <a:xfrm>
            <a:off x="640080" y="47091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3" name="Text 11"/>
          <p:cNvSpPr txBox="1"/>
          <p:nvPr/>
        </p:nvSpPr>
        <p:spPr>
          <a:xfrm>
            <a:off x="1508760" y="4663440"/>
            <a:ext cx="10058400" cy="411480"/>
          </a:xfrm>
          <a:prstGeom prst="rect">
            <a:avLst/>
          </a:prstGeom>
          <a:noFill/>
          <a:ln/>
        </p:spPr>
        <p:txBody>
          <a:bodyPr wrap="square" lIns="0" tIns="0" rIns="0" bIns="0" rtlCol="0" anchor="t"/>
          <a:lstStyle/>
          <a:p>
            <a:pPr indent="0" marL="0">
              <a:buNone/>
            </a:pPr>
            <a:r>
              <a:rPr lang="en-US" sz="1800" b="1" dirty="0">
                <a:solidFill>
                  <a:schemeClr val="tx2"/>
                </a:solidFill>
              </a:rPr>
              <a:t>Bayesian Model Averaging as a baseline</a:t>
            </a:r>
            <a:endParaRPr lang="en-US" sz="1800" dirty="0"/>
          </a:p>
        </p:txBody>
      </p:sp>
      <p:sp>
        <p:nvSpPr>
          <p:cNvPr id="14" name="Text 12"/>
          <p:cNvSpPr txBox="1"/>
          <p:nvPr/>
        </p:nvSpPr>
        <p:spPr>
          <a:xfrm>
            <a:off x="1508760" y="5084064"/>
            <a:ext cx="10058400" cy="960120"/>
          </a:xfrm>
          <a:prstGeom prst="rect">
            <a:avLst/>
          </a:prstGeom>
          <a:noFill/>
          <a:ln/>
        </p:spPr>
        <p:txBody>
          <a:bodyPr wrap="square" lIns="0" tIns="0" rIns="0" bIns="0" rtlCol="0" anchor="t"/>
          <a:lstStyle/>
          <a:p>
            <a:pPr indent="0" marL="0">
              <a:buNone/>
            </a:pPr>
            <a:r>
              <a:rPr lang="en-US" sz="1350" dirty="0">
                <a:solidFill>
                  <a:schemeClr val="accent5"/>
                </a:solidFill>
              </a:rPr>
              <a:t>An empirical comparison for the online algorithms, side by side with the Aggregating Algorithm, its online Bayesian counterpart.</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nchor="b"/>
          <a:lstStyle/>
          <a:p>
            <a:pPr algn="ctr"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nchor="t"/>
          <a:lstStyle/>
          <a:p>
            <a:pPr algn="ctr" indent="0" marL="0">
              <a:buNone/>
            </a:pPr>
            <a:r>
              <a:rPr lang="en-US" sz="1700" dirty="0">
                <a:solidFill>
                  <a:srgbClr val="CBD5E1"/>
                </a:solidFill>
              </a:rPr>
              <a:t>Questions</a:t>
            </a:r>
            <a:endParaRPr lang="en-US" sz="1700" dirty="0"/>
          </a:p>
        </p:txBody>
      </p:sp>
    </p:spTree>
  </p:cSld>
  <p:clrMapOvr>
    <a:masterClrMapping/>
  </p:clrMapOvr>
</p:sld>
</file>

<file path=ppt/theme/theme1.xml><?xml version="1.0" encoding="utf-8"?>
<a:theme xmlns:a="http://schemas.openxmlformats.org/drawingml/2006/main" name="OCO Defence">
  <a:themeElements>
    <a:clrScheme name="OCO Defence">
      <a:dk1>
        <a:srgbClr val="111827"/>
      </a:dk1>
      <a:lt1>
        <a:srgbClr val="FFFFFF"/>
      </a:lt1>
      <a:dk2>
        <a:srgbClr val="16213E"/>
      </a:dk2>
      <a:lt2>
        <a:srgbClr val="F2F5F9"/>
      </a:lt2>
      <a:accent1>
        <a:srgbClr val="0F4C81"/>
      </a:accent1>
      <a:accent2>
        <a:srgbClr val="C1121F"/>
      </a:accent2>
      <a:accent3>
        <a:srgbClr val="2F7D5C"/>
      </a:accent3>
      <a:accent4>
        <a:srgbClr val="D98324"/>
      </a:accent4>
      <a:accent5>
        <a:srgbClr val="5C6B8A"/>
      </a:accent5>
      <a:accent6>
        <a:srgbClr val="94A3B8"/>
      </a:accent6>
      <a:hlink>
        <a:srgbClr val="0F4C81"/>
      </a:hlink>
      <a:folHlink>
        <a:srgbClr val="5C6B8A"/>
      </a:folHlink>
    </a:clrScheme>
    <a:fontScheme name="OCO Def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Convex Optimization based tuning of Mixture of Experts</dc:title>
  <dc:subject>PptxGenJS Presentation</dc:subject>
  <dc:creator>Stefanos Mousadis</dc:creator>
  <cp:lastModifiedBy>Stefanos Mousadis</cp:lastModifiedBy>
  <cp:revision>1</cp:revision>
  <dcterms:created xsi:type="dcterms:W3CDTF">2026-10-15T17:19:35Z</dcterms:created>
  <dcterms:modified xsi:type="dcterms:W3CDTF">2026-10-15T17:19:35Z</dcterms:modified>
</cp:coreProperties>
</file>