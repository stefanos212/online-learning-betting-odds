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6.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a318a64-cfe5-852b-fa42-ca28a578c300}">
          <p14:sldIdLst>
            <p14:sldId id="256"/>
            <p14:sldId id="257"/>
            <p14:sldId id="258"/>
            <p14:sldId id="259"/>
            <p14:sldId id="260"/>
          </p14:sldIdLst>
        </p14:section>
        <p14:section name="Framework" id="{1816760a-2dd6-b71a-8d5e-bd9847b29a44}">
          <p14:sldIdLst>
            <p14:sldId id="261"/>
            <p14:sldId id="262"/>
            <p14:sldId id="263"/>
            <p14:sldId id="264"/>
            <p14:sldId id="265"/>
            <p14:sldId id="266"/>
          </p14:sldIdLst>
        </p14:section>
        <p14:section name="Stages" id="{d0ee1f7d-1b3f-e0cd-aeab-58974bb3d1be}">
          <p14:sldIdLst>
            <p14:sldId id="267"/>
            <p14:sldId id="268"/>
            <p14:sldId id="269"/>
          </p14:sldIdLst>
        </p14:section>
        <p14:section name="Protocol" id="{7ff007cf-3489-df1d-2c22-c1ad78ea8b3a}">
          <p14:sldIdLst>
            <p14:sldId id="270"/>
            <p14:sldId id="271"/>
          </p14:sldIdLst>
        </p14:section>
        <p14:section name="Results" id="{8ae84e90-da7a-6319-c121-4f9c4033d80c}">
          <p14:sldIdLst>
            <p14:sldId id="272"/>
            <p14:sldId id="273"/>
            <p14:sldId id="274"/>
            <p14:sldId id="275"/>
            <p14:sldId id="276"/>
            <p14:sldId id="277"/>
            <p14:sldId id="278"/>
            <p14:sldId id="279"/>
            <p14:sldId id="280"/>
            <p14:sldId id="281"/>
            <p14:sldId id="282"/>
          </p14:sldIdLst>
        </p14:section>
        <p14:section name="Meaning" id="{58da729c-1736-8dda-4a86-f27615479276}">
          <p14:sldIdLst>
            <p14:sldId id="283"/>
            <p14:sldId id="284"/>
            <p14:sldId id="285"/>
          </p14:sldIdLst>
        </p14:section>
        <p14:section name="Close" id="{047e23ec-f08a-2599-bbdf-b449f97e959d}">
          <p14:sldIdLst>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OGD</c:v>
                </c:pt>
              </c:strCache>
            </c:strRef>
          </c:tx>
          <c:spPr>
            <a:solidFill>
              <a:srgbClr val="0F4C81"/>
            </a:solidFill>
            <a:ln w="38100" cap="flat">
              <a:solidFill>
                <a:srgbClr val="0F4C81"/>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0F4C81"/>
              </a:solidFill>
              <a:ln w="9525" cap="flat">
                <a:solidFill>
                  <a:srgbClr val="0F4C81"/>
                </a:solidFill>
                <a:prstDash val="solid"/>
                <a:round/>
              </a:ln>
              <a:effectLst/>
            </c:spPr>
          </c:marker>
          <c:cat>
            <c:multiLvlStrRef>
              <c:f>Sheet1!$A$2:$A$16</c:f>
              <c:multiLvlStrCache>
                <c:ptCount val="15"/>
                <c:lvl>
                  <c:pt idx="0">
                    <c:v>1</c:v>
                  </c:pt>
                  <c:pt idx="1">
                    <c:v>2</c:v>
                  </c:pt>
                  <c:pt idx="2">
                    <c:v>5</c:v>
                  </c:pt>
                  <c:pt idx="3">
                    <c:v>10</c:v>
                  </c:pt>
                  <c:pt idx="4">
                    <c:v>25</c:v>
                  </c:pt>
                  <c:pt idx="5">
                    <c:v>50</c:v>
                  </c:pt>
                  <c:pt idx="6">
                    <c:v>75</c:v>
                  </c:pt>
                  <c:pt idx="7">
                    <c:v>90</c:v>
                  </c:pt>
                  <c:pt idx="8">
                    <c:v>100</c:v>
                  </c:pt>
                  <c:pt idx="9">
                    <c:v>110</c:v>
                  </c:pt>
                  <c:pt idx="10">
                    <c:v>125</c:v>
                  </c:pt>
                  <c:pt idx="11">
                    <c:v>150</c:v>
                  </c:pt>
                  <c:pt idx="12">
                    <c:v>200</c:v>
                  </c:pt>
                  <c:pt idx="13">
                    <c:v>500</c:v>
                  </c:pt>
                  <c:pt idx="14">
                    <c:v>1000</c:v>
                  </c:pt>
                </c:lvl>
              </c:multiLvlStrCache>
            </c:multiLvlStrRef>
          </c:cat>
          <c:val>
            <c:numRef>
              <c:f>Sheet1!$B$2:$B$16</c:f>
              <c:numCache>
                <c:formatCode>General</c:formatCode>
                <c:ptCount val="15"/>
                <c:pt idx="0">
                  <c:v>0.99803</c:v>
                </c:pt>
                <c:pt idx="1">
                  <c:v>0.998</c:v>
                </c:pt>
                <c:pt idx="2">
                  <c:v>0.99795</c:v>
                </c:pt>
                <c:pt idx="3">
                  <c:v>0.99791</c:v>
                </c:pt>
                <c:pt idx="4">
                  <c:v>0.99781</c:v>
                </c:pt>
                <c:pt idx="5">
                  <c:v>0.99772</c:v>
                </c:pt>
                <c:pt idx="6">
                  <c:v>0.99767</c:v>
                </c:pt>
                <c:pt idx="7">
                  <c:v>0.99766</c:v>
                </c:pt>
                <c:pt idx="8">
                  <c:v>0.99766</c:v>
                </c:pt>
                <c:pt idx="9">
                  <c:v>0.99766</c:v>
                </c:pt>
                <c:pt idx="10">
                  <c:v>0.99767</c:v>
                </c:pt>
                <c:pt idx="11">
                  <c:v>0.99769</c:v>
                </c:pt>
                <c:pt idx="12">
                  <c:v>0.99778</c:v>
                </c:pt>
                <c:pt idx="13">
                  <c:v>0.99857</c:v>
                </c:pt>
                <c:pt idx="14">
                  <c:v>0.99886</c:v>
                </c:pt>
              </c:numCache>
            </c:numRef>
          </c:val>
          <c:smooth val="0"/>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C6B8A"/>
                    </a:solidFill>
                    <a:latin typeface="+mn-lt"/>
                  </a:defRPr>
                </a:pPr>
                <a:r>
                  <a:rPr sz="1200" b="0" i="0" u="none" strike="noStrike">
                    <a:solidFill>
                      <a:srgbClr val="5C6B8A"/>
                    </a:solidFill>
                    <a:latin typeface="+mn-lt"/>
                  </a:rPr>
                  <a:t>step multiplier (1 = textbook schedule)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max val="0.9995"/>
          <c:min val="0.9975"/>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decaying</c:v>
                </c:pt>
              </c:strCache>
            </c:strRef>
          </c:tx>
          <c:spPr>
            <a:solidFill>
              <a:srgbClr val="0F4C81"/>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Sheet1!$A$2:$A$4</c:f>
              <c:multiLvlStrCache>
                <c:ptCount val="3"/>
                <c:lvl>
                  <c:pt idx="0">
                    <c:v>Hedge</c:v>
                  </c:pt>
                  <c:pt idx="1">
                    <c:v>OGD</c:v>
                  </c:pt>
                  <c:pt idx="2">
                    <c:v>FTRL</c:v>
                  </c:pt>
                </c:lvl>
              </c:multiLvlStrCache>
            </c:multiLvlStrRef>
          </c:cat>
          <c:val>
            <c:numRef>
              <c:f>Sheet1!$B$2:$B$4</c:f>
              <c:numCache>
                <c:formatCode>General</c:formatCode>
                <c:ptCount val="3"/>
                <c:pt idx="0">
                  <c:v>0.99873</c:v>
                </c:pt>
                <c:pt idx="1">
                  <c:v>0.99766</c:v>
                </c:pt>
                <c:pt idx="2">
                  <c:v>0.9988</c:v>
                </c:pt>
              </c:numCache>
            </c:numRef>
          </c:val>
        </c:ser>
        <c:ser>
          <c:idx val="1"/>
          <c:order val="1"/>
          <c:tx>
            <c:strRef>
              <c:f>Sheet1!$C$1</c:f>
              <c:strCache>
                <c:ptCount val="1"/>
                <c:pt idx="0">
                  <c:v>constant</c:v>
                </c:pt>
              </c:strCache>
            </c:strRef>
          </c:tx>
          <c:spPr>
            <a:solidFill>
              <a:srgbClr val="C1121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Sheet1!$A$2:$A$4</c:f>
              <c:multiLvlStrCache>
                <c:ptCount val="3"/>
                <c:lvl>
                  <c:pt idx="0">
                    <c:v>Hedge</c:v>
                  </c:pt>
                  <c:pt idx="1">
                    <c:v>OGD</c:v>
                  </c:pt>
                  <c:pt idx="2">
                    <c:v>FTRL</c:v>
                  </c:pt>
                </c:lvl>
              </c:multiLvlStrCache>
            </c:multiLvlStrRef>
          </c:cat>
          <c:val>
            <c:numRef>
              <c:f>Sheet1!$C$2:$C$4</c:f>
              <c:numCache>
                <c:formatCode>General</c:formatCode>
                <c:ptCount val="3"/>
                <c:pt idx="0">
                  <c:v>0.99882</c:v>
                </c:pt>
                <c:pt idx="1">
                  <c:v>0.99794</c:v>
                </c:pt>
                <c:pt idx="2">
                  <c:v>0.9987</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max val="0.9992"/>
          <c:min val="0.997"/>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C6B8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calibrated log-loss</c:v>
                </c:pt>
              </c:strCache>
            </c:strRef>
          </c:tx>
          <c:spPr>
            <a:solidFill>
              <a:srgbClr val="C1121F"/>
            </a:solidFill>
            <a:effectLst/>
          </c:spPr>
          <c:invertIfNegative val="0"/>
          <c:dLbls>
            <c:numFmt formatCode="0.00000" sourceLinked="0"/>
            <c:txPr>
              <a:bodyPr/>
              <a:lstStyle/>
              <a:p>
                <a:pPr>
                  <a:defRPr b="0" i="0" strike="noStrike" sz="1100" u="none">
                    <a:solidFill>
                      <a:srgbClr val="5C6B8A"/>
                    </a:solidFill>
                    <a:latin typeface="+mn-lt"/>
                  </a:defRPr>
                </a:pPr>
              </a:p>
            </c:txPr>
            <c:showLegendKey val="0"/>
            <c:showVal val="1"/>
            <c:showCatName val="0"/>
            <c:showSerName val="0"/>
            <c:showPercent val="0"/>
            <c:showBubbleSize val="0"/>
            <c:showLeaderLines val="0"/>
          </c:dLbls>
          <c:dPt>
            <c:idx val="0"/>
            <c:invertIfNegative val="0"/>
            <c:bubble3D val="0"/>
            <c:spPr>
              <a:solidFill>
                <a:srgbClr val="C1121F"/>
              </a:solidFill>
              <a:effectLst/>
            </c:spPr>
          </c:dPt>
          <c:dPt>
            <c:idx val="1"/>
            <c:invertIfNegative val="0"/>
            <c:bubble3D val="0"/>
            <c:spPr>
              <a:solidFill>
                <a:srgbClr val="0F4C81"/>
              </a:solidFill>
              <a:effectLst/>
            </c:spPr>
          </c:dPt>
          <c:dPt>
            <c:idx val="2"/>
            <c:invertIfNegative val="0"/>
            <c:bubble3D val="0"/>
            <c:spPr>
              <a:solidFill>
                <a:srgbClr val="0F4C81"/>
              </a:solidFill>
              <a:effectLst/>
            </c:spPr>
          </c:dPt>
          <c:dPt>
            <c:idx val="3"/>
            <c:invertIfNegative val="0"/>
            <c:bubble3D val="0"/>
            <c:spPr>
              <a:solidFill>
                <a:srgbClr val="0F4C81"/>
              </a:solidFill>
              <a:effectLst/>
            </c:spPr>
          </c:dPt>
          <c:dPt>
            <c:idx val="4"/>
            <c:invertIfNegative val="0"/>
            <c:bubble3D val="0"/>
            <c:spPr>
              <a:solidFill>
                <a:srgbClr val="0F4C81"/>
              </a:solidFill>
              <a:effectLst/>
            </c:spPr>
          </c:dPt>
          <c:dPt>
            <c:idx val="5"/>
            <c:invertIfNegative val="0"/>
            <c:bubble3D val="0"/>
            <c:spPr>
              <a:solidFill>
                <a:srgbClr val="C1121F"/>
              </a:solidFill>
              <a:effectLst/>
            </c:spPr>
          </c:dPt>
          <c:dPt>
            <c:idx val="6"/>
            <c:invertIfNegative val="0"/>
            <c:bubble3D val="0"/>
            <c:spPr>
              <a:solidFill>
                <a:srgbClr val="C1121F"/>
              </a:solidFill>
              <a:effectLst/>
            </c:spPr>
          </c:dPt>
          <c:dPt>
            <c:idx val="7"/>
            <c:invertIfNegative val="0"/>
            <c:bubble3D val="0"/>
            <c:spPr>
              <a:solidFill>
                <a:srgbClr val="C1121F"/>
              </a:solidFill>
              <a:effectLst/>
            </c:spPr>
          </c:dPt>
          <c:dPt>
            <c:idx val="8"/>
            <c:invertIfNegative val="0"/>
            <c:bubble3D val="0"/>
            <c:spPr>
              <a:solidFill>
                <a:srgbClr val="C1121F"/>
              </a:solidFill>
              <a:effectLst/>
            </c:spPr>
          </c:dPt>
          <c:cat>
            <c:multiLvlStrRef>
              <c:f>Sheet1!$A$2:$A$10</c:f>
              <c:multiLvlStrCache>
                <c:ptCount val="9"/>
                <c:lvl>
                  <c:pt idx="0">
                    <c:v>PSC</c:v>
                  </c:pt>
                  <c:pt idx="1">
                    <c:v>OGD</c:v>
                  </c:pt>
                  <c:pt idx="2">
                    <c:v>Hedge</c:v>
                  </c:pt>
                  <c:pt idx="3">
                    <c:v>FTRL</c:v>
                  </c:pt>
                  <c:pt idx="4">
                    <c:v>Uniform average</c:v>
                  </c:pt>
                  <c:pt idx="5">
                    <c:v>B365C</c:v>
                  </c:pt>
                  <c:pt idx="6">
                    <c:v>BWC</c:v>
                  </c:pt>
                  <c:pt idx="7">
                    <c:v>VC_BV</c:v>
                  </c:pt>
                  <c:pt idx="8">
                    <c:v>WH</c:v>
                  </c:pt>
                </c:lvl>
              </c:multiLvlStrCache>
            </c:multiLvlStrRef>
          </c:cat>
          <c:val>
            <c:numRef>
              <c:f>Sheet1!$B$2:$B$10</c:f>
              <c:numCache>
                <c:formatCode>General</c:formatCode>
                <c:ptCount val="9"/>
                <c:pt idx="0">
                  <c:v>0.99685</c:v>
                </c:pt>
                <c:pt idx="1">
                  <c:v>0.99693</c:v>
                </c:pt>
                <c:pt idx="2">
                  <c:v>0.99772</c:v>
                </c:pt>
                <c:pt idx="3">
                  <c:v>0.99773</c:v>
                </c:pt>
                <c:pt idx="4">
                  <c:v>0.99814</c:v>
                </c:pt>
                <c:pt idx="5">
                  <c:v>0.9991</c:v>
                </c:pt>
                <c:pt idx="6">
                  <c:v>0.99917</c:v>
                </c:pt>
                <c:pt idx="7">
                  <c:v>1.00026</c:v>
                </c:pt>
                <c:pt idx="8">
                  <c:v>1.00048</c:v>
                </c:pt>
              </c:numCache>
            </c:numRef>
          </c:val>
        </c:ser>
        <c:dLbls>
          <c:numFmt formatCode="0.00000" sourceLinked="0"/>
          <c:txPr>
            <a:bodyPr/>
            <a:lstStyle/>
            <a:p>
              <a:pPr>
                <a:defRPr b="0" i="0" strike="noStrike" sz="1100" u="none">
                  <a:solidFill>
                    <a:srgbClr val="5C6B8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max val="1.0012"/>
          <c:min val="0.9965"/>
        </c:scaling>
        <c:delete val="0"/>
        <c:axPos val="b"/>
        <c:majorGridlines>
          <c:spPr>
            <a:ln w="1270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opening (13)</c:v>
                </c:pt>
              </c:strCache>
            </c:strRef>
          </c:tx>
          <c:spPr>
            <a:solidFill>
              <a:srgbClr val="C1121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Sheet1!$A$2:$A$5</c:f>
              <c:multiLvlStrCache>
                <c:ptCount val="4"/>
                <c:lvl>
                  <c:pt idx="0">
                    <c:v>OGD</c:v>
                  </c:pt>
                  <c:pt idx="1">
                    <c:v>Hedge</c:v>
                  </c:pt>
                  <c:pt idx="2">
                    <c:v>FTRL</c:v>
                  </c:pt>
                  <c:pt idx="3">
                    <c:v>Uniform</c:v>
                  </c:pt>
                </c:lvl>
              </c:multiLvlStrCache>
            </c:multiLvlStrRef>
          </c:cat>
          <c:val>
            <c:numRef>
              <c:f>Sheet1!$B$2:$B$5</c:f>
              <c:numCache>
                <c:formatCode>General</c:formatCode>
                <c:ptCount val="4"/>
                <c:pt idx="0">
                  <c:v>1.00076</c:v>
                </c:pt>
                <c:pt idx="1">
                  <c:v>1.00078</c:v>
                </c:pt>
                <c:pt idx="2">
                  <c:v>1.00078</c:v>
                </c:pt>
                <c:pt idx="3">
                  <c:v>1.00077</c:v>
                </c:pt>
              </c:numCache>
            </c:numRef>
          </c:val>
        </c:ser>
        <c:ser>
          <c:idx val="1"/>
          <c:order val="1"/>
          <c:tx>
            <c:strRef>
              <c:f>Sheet1!$C$1</c:f>
              <c:strCache>
                <c:ptCount val="1"/>
                <c:pt idx="0">
                  <c:v>all (26)</c:v>
                </c:pt>
              </c:strCache>
            </c:strRef>
          </c:tx>
          <c:spPr>
            <a:solidFill>
              <a:srgbClr val="5C6B8A"/>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Sheet1!$A$2:$A$5</c:f>
              <c:multiLvlStrCache>
                <c:ptCount val="4"/>
                <c:lvl>
                  <c:pt idx="0">
                    <c:v>OGD</c:v>
                  </c:pt>
                  <c:pt idx="1">
                    <c:v>Hedge</c:v>
                  </c:pt>
                  <c:pt idx="2">
                    <c:v>FTRL</c:v>
                  </c:pt>
                  <c:pt idx="3">
                    <c:v>Uniform</c:v>
                  </c:pt>
                </c:lvl>
              </c:multiLvlStrCache>
            </c:multiLvlStrRef>
          </c:cat>
          <c:val>
            <c:numRef>
              <c:f>Sheet1!$C$2:$C$5</c:f>
              <c:numCache>
                <c:formatCode>General</c:formatCode>
                <c:ptCount val="4"/>
                <c:pt idx="0">
                  <c:v>0.99746</c:v>
                </c:pt>
                <c:pt idx="1">
                  <c:v>0.99839</c:v>
                </c:pt>
                <c:pt idx="2">
                  <c:v>0.99841</c:v>
                </c:pt>
                <c:pt idx="3">
                  <c:v>0.99886</c:v>
                </c:pt>
              </c:numCache>
            </c:numRef>
          </c:val>
        </c:ser>
        <c:ser>
          <c:idx val="2"/>
          <c:order val="2"/>
          <c:tx>
            <c:strRef>
              <c:f>Sheet1!$D$1</c:f>
              <c:strCache>
                <c:ptCount val="1"/>
                <c:pt idx="0">
                  <c:v>closing (13)</c:v>
                </c:pt>
              </c:strCache>
            </c:strRef>
          </c:tx>
          <c:spPr>
            <a:solidFill>
              <a:srgbClr val="0F4C81"/>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Sheet1!$A$2:$A$5</c:f>
              <c:multiLvlStrCache>
                <c:ptCount val="4"/>
                <c:lvl>
                  <c:pt idx="0">
                    <c:v>OGD</c:v>
                  </c:pt>
                  <c:pt idx="1">
                    <c:v>Hedge</c:v>
                  </c:pt>
                  <c:pt idx="2">
                    <c:v>FTRL</c:v>
                  </c:pt>
                  <c:pt idx="3">
                    <c:v>Uniform</c:v>
                  </c:pt>
                </c:lvl>
              </c:multiLvlStrCache>
            </c:multiLvlStrRef>
          </c:cat>
          <c:val>
            <c:numRef>
              <c:f>Sheet1!$D$2:$D$5</c:f>
              <c:numCache>
                <c:formatCode>General</c:formatCode>
                <c:ptCount val="4"/>
                <c:pt idx="0">
                  <c:v>0.99723</c:v>
                </c:pt>
                <c:pt idx="1">
                  <c:v>0.99762</c:v>
                </c:pt>
                <c:pt idx="2">
                  <c:v>0.99761</c:v>
                </c:pt>
                <c:pt idx="3">
                  <c:v>0.99748</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max val="1.002"/>
          <c:min val="0.996"/>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C6B8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closing advantage</c:v>
                </c:pt>
              </c:strCache>
            </c:strRef>
          </c:tx>
          <c:spPr>
            <a:solidFill>
              <a:srgbClr val="C7D2DE"/>
            </a:solidFill>
            <a:effectLst/>
          </c:spPr>
          <c:invertIfNegative val="0"/>
          <c:dLbls>
            <c:numFmt formatCode="0.0000" sourceLinked="0"/>
            <c:txPr>
              <a:bodyPr/>
              <a:lstStyle/>
              <a:p>
                <a:pPr>
                  <a:defRPr b="0" i="0" strike="noStrike" sz="1100" u="none">
                    <a:solidFill>
                      <a:srgbClr val="5C6B8A"/>
                    </a:solidFill>
                    <a:latin typeface="+mn-lt"/>
                  </a:defRPr>
                </a:pPr>
              </a:p>
            </c:txPr>
            <c:showLegendKey val="0"/>
            <c:showVal val="1"/>
            <c:showCatName val="0"/>
            <c:showSerName val="0"/>
            <c:showPercent val="0"/>
            <c:showBubbleSize val="0"/>
            <c:showLeaderLines val="0"/>
          </c:dLbls>
          <c:dPt>
            <c:idx val="0"/>
            <c:invertIfNegative val="0"/>
            <c:bubble3D val="0"/>
            <c:spPr>
              <a:solidFill>
                <a:srgbClr val="C7D2DE"/>
              </a:solidFill>
              <a:effectLst/>
            </c:spPr>
          </c:dPt>
          <c:dPt>
            <c:idx val="1"/>
            <c:invertIfNegative val="0"/>
            <c:bubble3D val="0"/>
            <c:spPr>
              <a:solidFill>
                <a:srgbClr val="9FB3C8"/>
              </a:solidFill>
              <a:effectLst/>
            </c:spPr>
          </c:dPt>
          <c:dPt>
            <c:idx val="2"/>
            <c:invertIfNegative val="0"/>
            <c:bubble3D val="0"/>
            <c:spPr>
              <a:solidFill>
                <a:srgbClr val="6E8CA8"/>
              </a:solidFill>
              <a:effectLst/>
            </c:spPr>
          </c:dPt>
          <c:dPt>
            <c:idx val="3"/>
            <c:invertIfNegative val="0"/>
            <c:bubble3D val="0"/>
            <c:spPr>
              <a:solidFill>
                <a:srgbClr val="3D6B8E"/>
              </a:solidFill>
              <a:effectLst/>
            </c:spPr>
          </c:dPt>
          <c:dPt>
            <c:idx val="4"/>
            <c:invertIfNegative val="0"/>
            <c:bubble3D val="0"/>
            <c:spPr>
              <a:solidFill>
                <a:srgbClr val="0F4C81"/>
              </a:solidFill>
              <a:effectLst/>
            </c:spPr>
          </c:dPt>
          <c:cat>
            <c:multiLvlStrRef>
              <c:f>Sheet1!$A$2:$A$6</c:f>
              <c:multiLvlStrCache>
                <c:ptCount val="5"/>
                <c:lvl>
                  <c:pt idx="0">
                    <c:v>Q1
quiet</c:v>
                  </c:pt>
                  <c:pt idx="1">
                    <c:v>Q2</c:v>
                  </c:pt>
                  <c:pt idx="2">
                    <c:v>Q3</c:v>
                  </c:pt>
                  <c:pt idx="3">
                    <c:v>Q4</c:v>
                  </c:pt>
                  <c:pt idx="4">
                    <c:v>Q5
noisy</c:v>
                  </c:pt>
                </c:lvl>
              </c:multiLvlStrCache>
            </c:multiLvlStrRef>
          </c:cat>
          <c:val>
            <c:numRef>
              <c:f>Sheet1!$B$2:$B$6</c:f>
              <c:numCache>
                <c:formatCode>General</c:formatCode>
                <c:ptCount val="5"/>
                <c:pt idx="0">
                  <c:v>0.0004455286072115</c:v>
                </c:pt>
                <c:pt idx="1">
                  <c:v>0.0006720359451092</c:v>
                </c:pt>
                <c:pt idx="2">
                  <c:v>0.0020182809653802</c:v>
                </c:pt>
                <c:pt idx="3">
                  <c:v>0.0042176873941862</c:v>
                </c:pt>
                <c:pt idx="4">
                  <c:v>0.0117989748500138</c:v>
                </c:pt>
              </c:numCache>
            </c:numRef>
          </c:val>
        </c:ser>
        <c:dLbls>
          <c:numFmt formatCode="0.0000" sourceLinked="0"/>
          <c:txPr>
            <a:bodyPr/>
            <a:lstStyle/>
            <a:p>
              <a:pPr>
                <a:defRPr b="0" i="0" strike="noStrike" sz="1100" u="none">
                  <a:solidFill>
                    <a:srgbClr val="5C6B8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log10 growth</c:v>
                </c:pt>
              </c:strCache>
            </c:strRef>
          </c:tx>
          <c:spPr>
            <a:solidFill>
              <a:srgbClr val="2F7D5C"/>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dPt>
            <c:idx val="0"/>
            <c:invertIfNegative val="0"/>
            <c:bubble3D val="0"/>
            <c:spPr>
              <a:solidFill>
                <a:srgbClr val="2F7D5C"/>
              </a:solidFill>
              <a:effectLst/>
            </c:spPr>
          </c:dPt>
          <c:dPt>
            <c:idx val="1"/>
            <c:invertIfNegative val="0"/>
            <c:bubble3D val="0"/>
            <c:spPr>
              <a:solidFill>
                <a:srgbClr val="2F7D5C"/>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Pt>
            <c:idx val="6"/>
            <c:invertIfNegative val="0"/>
            <c:bubble3D val="0"/>
            <c:spPr>
              <a:solidFill>
                <a:srgbClr val="94A3B8"/>
              </a:solidFill>
              <a:effectLst/>
            </c:spPr>
          </c:dPt>
          <c:dPt>
            <c:idx val="7"/>
            <c:invertIfNegative val="0"/>
            <c:bubble3D val="0"/>
            <c:spPr>
              <a:solidFill>
                <a:srgbClr val="C1121F"/>
              </a:solidFill>
              <a:effectLst/>
            </c:spPr>
          </c:dPt>
          <c:dPt>
            <c:idx val="8"/>
            <c:invertIfNegative val="0"/>
            <c:bubble3D val="0"/>
            <c:spPr>
              <a:solidFill>
                <a:srgbClr val="C1121F"/>
              </a:solidFill>
              <a:effectLst/>
            </c:spPr>
          </c:dPt>
          <c:cat>
            <c:multiLvlStrRef>
              <c:f>Sheet1!$A$2:$A$10</c:f>
              <c:multiLvlStrCache>
                <c:ptCount val="9"/>
                <c:lvl>
                  <c:pt idx="0">
                    <c:v>WHC</c:v>
                  </c:pt>
                  <c:pt idx="1">
                    <c:v>IW</c:v>
                  </c:pt>
                  <c:pt idx="2">
                    <c:v>BWC</c:v>
                  </c:pt>
                  <c:pt idx="3">
                    <c:v>WH</c:v>
                  </c:pt>
                  <c:pt idx="4">
                    <c:v>BW</c:v>
                  </c:pt>
                  <c:pt idx="5">
                    <c:v>VC_BVC</c:v>
                  </c:pt>
                  <c:pt idx="6">
                    <c:v>B365C</c:v>
                  </c:pt>
                  <c:pt idx="7">
                    <c:v>PS</c:v>
                  </c:pt>
                  <c:pt idx="8">
                    <c:v>PSC</c:v>
                  </c:pt>
                </c:lvl>
              </c:multiLvlStrCache>
            </c:multiLvlStrRef>
          </c:cat>
          <c:val>
            <c:numRef>
              <c:f>Sheet1!$B$2:$B$10</c:f>
              <c:numCache>
                <c:formatCode>General</c:formatCode>
                <c:ptCount val="9"/>
                <c:pt idx="0">
                  <c:v>1.596</c:v>
                </c:pt>
                <c:pt idx="1">
                  <c:v>0.897</c:v>
                </c:pt>
                <c:pt idx="2">
                  <c:v>0.204</c:v>
                </c:pt>
                <c:pt idx="3">
                  <c:v>0.146</c:v>
                </c:pt>
                <c:pt idx="4">
                  <c:v>0.1</c:v>
                </c:pt>
                <c:pt idx="5">
                  <c:v>-0.155</c:v>
                </c:pt>
                <c:pt idx="6">
                  <c:v>-0.292</c:v>
                </c:pt>
                <c:pt idx="7">
                  <c:v>-0.602</c:v>
                </c:pt>
                <c:pt idx="8">
                  <c:v>-3.699</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max val="2"/>
          <c:min val="-4"/>
        </c:scaling>
        <c:delete val="0"/>
        <c:axPos val="l"/>
        <c:majorGridlines>
          <c:spPr>
            <a:ln w="12700" cap="flat">
              <a:solidFill>
                <a:srgbClr val="E2E8F0"/>
              </a:solidFill>
              <a:prstDash val="solid"/>
              <a:round/>
            </a:ln>
          </c:spPr>
        </c:majorGridlines>
        <c:title>
          <c:tx>
            <c:rich>
              <a:bodyPr/>
              <a:lstStyle/>
              <a:p>
                <a:pPr>
                  <a:defRPr sz="1200" b="0" i="0" u="none" strike="noStrike">
                    <a:solidFill>
                      <a:srgbClr val="5C6B8A"/>
                    </a:solidFill>
                    <a:latin typeface="+mn-lt"/>
                  </a:defRPr>
                </a:pPr>
                <a:r>
                  <a:rPr sz="1200" b="0" i="0" u="none" strike="noStrike">
                    <a:solidFill>
                      <a:srgbClr val="5C6B8A"/>
                    </a:solidFill>
                    <a:latin typeface="+mn-lt"/>
                  </a:rPr>
                  <a:t>log10 (final bankroll / stake)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Greeting; name the problem in one sentence before the first slide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thesis in one question. Stress what is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a 0.001 improvement in log-loss against this baseline is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recur all the way through: they explain Sleeping Experts, de-vigging and the Kelly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fourth one now; it is the part examiners usually find most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the static-comparator idea here. It pays off in the negative results and in the closing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blue cells are quotes. Point at a gap: that expert's weight does not move while it sleeps.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derive the bounds. The committee knows them; the point is the structural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for later: z being a social quantity is the hinge of the closing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methodological spine: theory is kept where it predicts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uniformity: this is what makes the thesis one piece of work rather than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clearest single lesson of the thesis: a regret bound is only as useful as its comparator.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rule exists because breaking it produced a wrong conclusion at some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lesson worth saying aloud: the first sweep stopped at ×1 and called it optimal. ×1 was the grid's edge, not a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is better on this chart. Hedge and OGD lose significantly; FTRL wins significantly.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is better. Note the caveat: at the 60% coverage floor only three closing prices qualify (PSC, B365C, BWC), so this is not the whole closing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 view the most generally useful finding: it tells anyone applying this elsewhere what to check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for the obvious objection: match difficulty is NOT monotone across the quintiles, so this is not 'harder matches, bigger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 Betfair line is the one an examiner will press on, so state it first. The next slide shows that, when Pinnacle also quotes, the two cannot be told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answered at once: the findings do not depend on the sleeping-experts reduction, and Betfair is not shown to be better than Pinnacle. Calibrated log-loss, lower is better; step re-selected on each dataset's 75% prefix.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Bankrolls across rows are not comparable: the bet counts differ by an order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methodological high point. Any comparison against a uniform baseline should now carry this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The negative results are a real part of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measured and evidential. Every line is one of our own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limit of the evidence explicitly; it is the honest version and it is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points, roughly fifteen seconds each. Do not add anything new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feed is the one that answers the thesis's own main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talking. Let them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103120"/>
            <a:ext cx="10332720" cy="1737360"/>
          </a:xfrm>
          <a:prstGeom prst="rect">
            <a:avLst/>
          </a:prstGeom>
          <a:noFill/>
          <a:ln/>
        </p:spPr>
        <p:txBody>
          <a:bodyPr wrap="square" rtlCol="0"/>
          <a:lstStyle>
            <a:lvl1pPr algn="ctr" indent="0" marL="0">
              <a:buNone/>
              <a:defRPr lang="en-US" sz="4000" b="1" dirty="0">
                <a:solidFill>
                  <a:schemeClr val="bg1"/>
                </a:solidFill>
              </a:defRPr>
            </a:lvl1pPr>
          </a:lstStyle>
          <a:p>
            <a:pPr algn="ctr" indent="0" marL="0">
              <a:buNone/>
            </a:pPr>
            <a:endParaRPr lang="en-US" sz="4000" dirty="0"/>
          </a:p>
        </p:txBody>
      </p:sp>
      <p:sp>
        <p:nvSpPr>
          <p:cNvPr id="3" name="Text 0"/>
          <p:cNvSpPr/>
          <p:nvPr>
            <p:ph idx="101" type="body" hasCustomPrompt="1"/>
          </p:nvPr>
        </p:nvSpPr>
        <p:spPr>
          <a:xfrm>
            <a:off x="914400" y="3977640"/>
            <a:ext cx="10332720" cy="1463040"/>
          </a:xfrm>
          <a:prstGeom prst="rect">
            <a:avLst/>
          </a:prstGeom>
          <a:noFill/>
          <a:ln/>
        </p:spPr>
        <p:txBody>
          <a:bodyPr wrap="square" rtlCol="0"/>
          <a:lstStyle>
            <a:lvl1pPr algn="ctr" indent="0" marL="0">
              <a:buNone/>
              <a:defRPr lang="en-US" sz="1700" dirty="0">
                <a:solidFill>
                  <a:srgbClr val="CBD5E1"/>
                </a:solidFill>
              </a:defRPr>
            </a:lvl1pPr>
          </a:lstStyle>
          <a:p>
            <a:pPr algn="ctr"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914400" y="2286000"/>
            <a:ext cx="1828800" cy="1097280"/>
          </a:xfrm>
          <a:prstGeom prst="rect">
            <a:avLst/>
          </a:prstGeom>
          <a:noFill/>
          <a:ln/>
        </p:spPr>
        <p:txBody>
          <a:bodyPr wrap="square" rtlCol="0"/>
          <a:lstStyle>
            <a:lvl1pPr algn="l" indent="0" marL="0">
              <a:buNone/>
              <a:defRPr lang="en-US" sz="6800" b="1" dirty="0">
                <a:solidFill>
                  <a:srgbClr val="6FA3D6"/>
                </a:solidFill>
              </a:defRPr>
            </a:lvl1pPr>
          </a:lstStyle>
          <a:p>
            <a:pPr algn="l" indent="0" marL="0">
              <a:buNone/>
            </a:pPr>
            <a:endParaRPr lang="en-US" sz="6800" dirty="0"/>
          </a:p>
        </p:txBody>
      </p:sp>
      <p:sp>
        <p:nvSpPr>
          <p:cNvPr id="3" name="Text 0"/>
          <p:cNvSpPr/>
          <p:nvPr>
            <p:ph idx="101" type="title" hasCustomPrompt="1"/>
          </p:nvPr>
        </p:nvSpPr>
        <p:spPr>
          <a:xfrm>
            <a:off x="2834640" y="2286000"/>
            <a:ext cx="8412480" cy="10972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2834640" y="3474720"/>
            <a:ext cx="8412480" cy="1097280"/>
          </a:xfrm>
          <a:prstGeom prst="rect">
            <a:avLst/>
          </a:prstGeom>
          <a:noFill/>
          <a:ln/>
        </p:spPr>
        <p:txBody>
          <a:bodyPr wrap="square" rtlCol="0"/>
          <a:lstStyle>
            <a:lvl1pPr algn="l" indent="0" marL="0">
              <a:buNone/>
              <a:defRPr lang="en-US" sz="1600" dirty="0">
                <a:solidFill>
                  <a:srgbClr val="CBD5E1"/>
                </a:solidFill>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ph idx="101" type="body" hasCustomPrompt="1"/>
          </p:nvPr>
        </p:nvSpPr>
        <p:spPr>
          <a:xfrm>
            <a:off x="640080" y="1371600"/>
            <a:ext cx="10881360" cy="4754880"/>
          </a:xfrm>
          <a:prstGeom prst="rect">
            <a:avLst/>
          </a:prstGeom>
          <a:noFill/>
          <a:ln/>
        </p:spPr>
        <p:txBody>
          <a:bodyPr wrap="square" rtlCol="0"/>
          <a:lstStyle>
            <a:lvl1pPr algn="l" indent="0" marL="0">
              <a:buNone/>
              <a:defRPr lang="en-US" sz="1600" dirty="0">
                <a:solidFill>
                  <a:schemeClr val="tx1"/>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ANVAS">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1737360"/>
            <a:ext cx="10332720" cy="21945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914400" y="4114800"/>
            <a:ext cx="10332720" cy="1645920"/>
          </a:xfrm>
          <a:prstGeom prst="rect">
            <a:avLst/>
          </a:prstGeom>
          <a:noFill/>
          <a:ln/>
        </p:spPr>
        <p:txBody>
          <a:bodyPr wrap="square" rtlCol="0"/>
          <a:lstStyle>
            <a:lvl1pPr algn="l" indent="0" marL="0">
              <a:buNone/>
              <a:defRPr lang="en-US" sz="1700" dirty="0">
                <a:solidFill>
                  <a:srgbClr val="CBD5E1"/>
                </a:solidFill>
              </a:defRPr>
            </a:lvl1pPr>
          </a:lstStyle>
          <a:p>
            <a:pPr algn="l" indent="0" marL="0">
              <a:buNone/>
            </a:pPr>
            <a:endParaRPr lang="en-US" sz="1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914400" y="2103120"/>
            <a:ext cx="10332720" cy="1737360"/>
          </a:xfrm>
          <a:prstGeom prst="rect">
            <a:avLst/>
          </a:prstGeom>
          <a:noFill/>
          <a:ln/>
        </p:spPr>
        <p:txBody>
          <a:bodyPr wrap="square" rtlCol="0" anchor="b"/>
          <a:lstStyle/>
          <a:p>
            <a:pPr algn="ctr" indent="0" marL="0">
              <a:buNone/>
            </a:pPr>
            <a:r>
              <a:rPr lang="en-US" sz="4000" b="1" dirty="0">
                <a:solidFill>
                  <a:schemeClr val="bg1"/>
                </a:solidFill>
              </a:rPr>
              <a:t>Online Convex Optimization based tuning</a:t>
            </a:r>
            <a:endParaRPr lang="en-US" sz="4000" dirty="0"/>
          </a:p>
          <a:p>
            <a:pPr algn="ctr" indent="0" marL="0">
              <a:buNone/>
            </a:pPr>
            <a:r>
              <a:rPr lang="en-US" sz="4000" b="1" dirty="0">
                <a:solidFill>
                  <a:schemeClr val="bg1"/>
                </a:solidFill>
              </a:rPr>
              <a:t>of Mixture of Experts</a:t>
            </a:r>
            <a:endParaRPr lang="en-US" sz="4000" dirty="0"/>
          </a:p>
          <a:p>
            <a:pPr algn="ctr" indent="0" marL="0">
              <a:buNone/>
            </a:pPr>
            <a:r>
              <a:rPr lang="en-US" sz="4000" b="1" dirty="0">
                <a:solidFill>
                  <a:schemeClr val="bg1"/>
                </a:solidFill>
              </a:rPr>
              <a:t>for Sports Outcome Prediction</a:t>
            </a:r>
            <a:endParaRPr lang="en-US" sz="4000" dirty="0"/>
          </a:p>
        </p:txBody>
      </p:sp>
      <p:sp>
        <p:nvSpPr>
          <p:cNvPr id="3" name="Text 0"/>
          <p:cNvSpPr/>
          <p:nvPr>
            <p:ph idx="101" type="body" hasCustomPrompt="1"/>
          </p:nvPr>
        </p:nvSpPr>
        <p:spPr>
          <a:xfrm>
            <a:off x="914400" y="3977640"/>
            <a:ext cx="10332720" cy="1463040"/>
          </a:xfrm>
          <a:prstGeom prst="rect">
            <a:avLst/>
          </a:prstGeom>
          <a:noFill/>
          <a:ln/>
        </p:spPr>
        <p:txBody>
          <a:bodyPr wrap="square" rtlCol="0" anchor="t"/>
          <a:lstStyle/>
          <a:p>
            <a:pPr algn="ctr" indent="0" marL="0">
              <a:buNone/>
            </a:pPr>
            <a:r>
              <a:rPr lang="en-US" sz="1900" b="1" dirty="0">
                <a:solidFill>
                  <a:srgbClr val="FFFFFF"/>
                </a:solidFill>
              </a:rPr>
              <a:t>Stefanos Mousadis</a:t>
            </a:r>
            <a:endParaRPr lang="en-US" sz="1700" dirty="0"/>
          </a:p>
          <a:p>
            <a:pPr algn="ctr" indent="0" marL="0">
              <a:buNone/>
            </a:pPr>
            <a:r>
              <a:rPr lang="en-US" sz="1700" dirty="0">
                <a:solidFill>
                  <a:srgbClr val="CBD5E1"/>
                </a:solidFill>
              </a:rPr>
              <a:t>Supervisor: Prof. Thrasyvoulos Spyropoulos</a:t>
            </a:r>
            <a:endParaRPr lang="en-US" sz="1700" dirty="0"/>
          </a:p>
          <a:p>
            <a:pPr algn="ctr" indent="0" marL="0">
              <a:buNone/>
            </a:pPr>
            <a:r>
              <a:rPr lang="en-US" sz="1700" dirty="0">
                <a:solidFill>
                  <a:srgbClr val="CBD5E1"/>
                </a:solidFill>
              </a:rPr>
              <a:t>School of Electrical and Computer Engineering · Technical University of Crete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914400" y="1737360"/>
            <a:ext cx="10332720" cy="2194560"/>
          </a:xfrm>
          <a:prstGeom prst="rect">
            <a:avLst/>
          </a:prstGeom>
          <a:noFill/>
          <a:ln/>
        </p:spPr>
        <p:txBody>
          <a:bodyPr wrap="square" rtlCol="0" anchor="ctr"/>
          <a:lstStyle/>
          <a:p>
            <a:pPr algn="l" indent="0" marL="0">
              <a:buNone/>
            </a:pPr>
            <a:r>
              <a:rPr lang="en-US" sz="3400" b="1" dirty="0">
                <a:solidFill>
                  <a:schemeClr val="bg1"/>
                </a:solidFill>
              </a:rPr>
              <a:t>Can a mixture of bookmakers beat</a:t>
            </a:r>
            <a:endParaRPr lang="en-US" sz="3400" dirty="0"/>
          </a:p>
          <a:p>
            <a:pPr algn="l" indent="0" marL="0">
              <a:buNone/>
            </a:pPr>
            <a:r>
              <a:rPr lang="en-US" sz="3400" b="1" dirty="0">
                <a:solidFill>
                  <a:schemeClr val="bg1"/>
                </a:solidFill>
              </a:rPr>
              <a:t>the bookmakers themselves?</a:t>
            </a:r>
            <a:endParaRPr lang="en-US" sz="3400" dirty="0"/>
          </a:p>
        </p:txBody>
      </p:sp>
      <p:sp>
        <p:nvSpPr>
          <p:cNvPr id="3" name="Text 0"/>
          <p:cNvSpPr/>
          <p:nvPr>
            <p:ph idx="101" type="body" hasCustomPrompt="1"/>
          </p:nvPr>
        </p:nvSpPr>
        <p:spPr>
          <a:xfrm>
            <a:off x="914400" y="4114800"/>
            <a:ext cx="10332720" cy="1645920"/>
          </a:xfrm>
          <a:prstGeom prst="rect">
            <a:avLst/>
          </a:prstGeom>
          <a:noFill/>
          <a:ln/>
        </p:spPr>
        <p:txBody>
          <a:bodyPr wrap="square" rtlCol="0" anchor="t"/>
          <a:lstStyle/>
          <a:p>
            <a:pPr algn="l" indent="0" marL="0">
              <a:buNone/>
            </a:pPr>
            <a:r>
              <a:rPr lang="en-US" sz="1700" dirty="0">
                <a:solidFill>
                  <a:srgbClr val="CBD5E1"/>
                </a:solidFill>
              </a:rPr>
              <a:t>No model of football. No team form, no injuries, no home advantage. Only the prices the market publishes, combined online, match by match.</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The baseline is unusually strong</a:t>
            </a:r>
            <a:endParaRPr lang="en-US" sz="3000" dirty="0"/>
          </a:p>
        </p:txBody>
      </p:sp>
      <p:sp>
        <p:nvSpPr>
          <p:cNvPr id="3" name="Text 1"/>
          <p:cNvSpPr txBox="1"/>
          <p:nvPr/>
        </p:nvSpPr>
        <p:spPr>
          <a:xfrm>
            <a:off x="640080" y="1554480"/>
            <a:ext cx="3291840" cy="914400"/>
          </a:xfrm>
          <a:prstGeom prst="rect">
            <a:avLst/>
          </a:prstGeom>
          <a:noFill/>
          <a:ln/>
        </p:spPr>
        <p:txBody>
          <a:bodyPr wrap="square" lIns="0" tIns="0" rIns="0" bIns="0" rtlCol="0" anchor="b"/>
          <a:lstStyle/>
          <a:p>
            <a:pPr algn="l" indent="0" marL="0">
              <a:buNone/>
            </a:pPr>
            <a:r>
              <a:rPr lang="en-US" sz="4800" b="1" dirty="0">
                <a:solidFill>
                  <a:schemeClr val="accent1"/>
                </a:solidFill>
              </a:rPr>
              <a:t>26</a:t>
            </a:r>
            <a:endParaRPr lang="en-US" sz="4800" dirty="0"/>
          </a:p>
        </p:txBody>
      </p:sp>
      <p:sp>
        <p:nvSpPr>
          <p:cNvPr id="4" name="Text 2"/>
          <p:cNvSpPr txBox="1"/>
          <p:nvPr/>
        </p:nvSpPr>
        <p:spPr>
          <a:xfrm>
            <a:off x="640080" y="2468880"/>
            <a:ext cx="3291840" cy="822960"/>
          </a:xfrm>
          <a:prstGeom prst="rect">
            <a:avLst/>
          </a:prstGeom>
          <a:noFill/>
          <a:ln/>
        </p:spPr>
        <p:txBody>
          <a:bodyPr wrap="square" lIns="0" tIns="0" rIns="0" bIns="0" rtlCol="0" anchor="t"/>
          <a:lstStyle/>
          <a:p>
            <a:pPr algn="l" indent="0" marL="0">
              <a:buNone/>
            </a:pPr>
            <a:r>
              <a:rPr lang="en-US" sz="1300" dirty="0">
                <a:solidFill>
                  <a:schemeClr val="accent5"/>
                </a:solidFill>
              </a:rPr>
              <a:t>bookmakers, each already a</a:t>
            </a:r>
            <a:endParaRPr lang="en-US" sz="1300" dirty="0"/>
          </a:p>
          <a:p>
            <a:pPr algn="l" indent="0" marL="0">
              <a:buNone/>
            </a:pPr>
            <a:r>
              <a:rPr lang="en-US" sz="1300" dirty="0">
                <a:solidFill>
                  <a:schemeClr val="accent5"/>
                </a:solidFill>
              </a:rPr>
              <a:t>professional forecaster</a:t>
            </a:r>
            <a:endParaRPr lang="en-US" sz="1300" dirty="0"/>
          </a:p>
        </p:txBody>
      </p:sp>
      <p:sp>
        <p:nvSpPr>
          <p:cNvPr id="5" name="Text 3"/>
          <p:cNvSpPr txBox="1"/>
          <p:nvPr/>
        </p:nvSpPr>
        <p:spPr>
          <a:xfrm>
            <a:off x="4297680" y="1554480"/>
            <a:ext cx="3291840" cy="914400"/>
          </a:xfrm>
          <a:prstGeom prst="rect">
            <a:avLst/>
          </a:prstGeom>
          <a:noFill/>
          <a:ln/>
        </p:spPr>
        <p:txBody>
          <a:bodyPr wrap="square" lIns="0" tIns="0" rIns="0" bIns="0" rtlCol="0" anchor="b"/>
          <a:lstStyle/>
          <a:p>
            <a:pPr algn="l" indent="0" marL="0">
              <a:buNone/>
            </a:pPr>
            <a:r>
              <a:rPr lang="en-US" sz="4800" b="1" dirty="0">
                <a:solidFill>
                  <a:schemeClr val="accent1"/>
                </a:solidFill>
              </a:rPr>
              <a:t>76,584</a:t>
            </a:r>
            <a:endParaRPr lang="en-US" sz="4800" dirty="0"/>
          </a:p>
        </p:txBody>
      </p:sp>
      <p:sp>
        <p:nvSpPr>
          <p:cNvPr id="6" name="Text 4"/>
          <p:cNvSpPr txBox="1"/>
          <p:nvPr/>
        </p:nvSpPr>
        <p:spPr>
          <a:xfrm>
            <a:off x="4297680" y="2468880"/>
            <a:ext cx="3291840" cy="822960"/>
          </a:xfrm>
          <a:prstGeom prst="rect">
            <a:avLst/>
          </a:prstGeom>
          <a:noFill/>
          <a:ln/>
        </p:spPr>
        <p:txBody>
          <a:bodyPr wrap="square" lIns="0" tIns="0" rIns="0" bIns="0" rtlCol="0" anchor="t"/>
          <a:lstStyle/>
          <a:p>
            <a:pPr algn="l" indent="0" marL="0">
              <a:buNone/>
            </a:pPr>
            <a:r>
              <a:rPr lang="en-US" sz="1300" dirty="0">
                <a:solidFill>
                  <a:schemeClr val="accent5"/>
                </a:solidFill>
              </a:rPr>
              <a:t>matches, 22 leagues,</a:t>
            </a:r>
            <a:endParaRPr lang="en-US" sz="1300" dirty="0"/>
          </a:p>
          <a:p>
            <a:pPr algn="l" indent="0" marL="0">
              <a:buNone/>
            </a:pPr>
            <a:r>
              <a:rPr lang="en-US" sz="1300" dirty="0">
                <a:solidFill>
                  <a:schemeClr val="accent5"/>
                </a:solidFill>
              </a:rPr>
              <a:t>10 seasons</a:t>
            </a:r>
            <a:endParaRPr lang="en-US" sz="1300" dirty="0"/>
          </a:p>
        </p:txBody>
      </p:sp>
      <p:sp>
        <p:nvSpPr>
          <p:cNvPr id="7" name="Text 5"/>
          <p:cNvSpPr txBox="1"/>
          <p:nvPr/>
        </p:nvSpPr>
        <p:spPr>
          <a:xfrm>
            <a:off x="8046720" y="1554480"/>
            <a:ext cx="3474720" cy="914400"/>
          </a:xfrm>
          <a:prstGeom prst="rect">
            <a:avLst/>
          </a:prstGeom>
          <a:noFill/>
          <a:ln/>
        </p:spPr>
        <p:txBody>
          <a:bodyPr wrap="square" lIns="0" tIns="0" rIns="0" bIns="0" rtlCol="0" anchor="b"/>
          <a:lstStyle/>
          <a:p>
            <a:pPr algn="l" indent="0" marL="0">
              <a:buNone/>
            </a:pPr>
            <a:r>
              <a:rPr lang="en-US" sz="4800" b="1" dirty="0">
                <a:solidFill>
                  <a:schemeClr val="accent2"/>
                </a:solidFill>
              </a:rPr>
              <a:t>4.4 → 6.0%</a:t>
            </a:r>
            <a:endParaRPr lang="en-US" sz="4800" dirty="0"/>
          </a:p>
        </p:txBody>
      </p:sp>
      <p:sp>
        <p:nvSpPr>
          <p:cNvPr id="8" name="Text 6"/>
          <p:cNvSpPr txBox="1"/>
          <p:nvPr/>
        </p:nvSpPr>
        <p:spPr>
          <a:xfrm>
            <a:off x="8046720" y="2468880"/>
            <a:ext cx="3474720" cy="822960"/>
          </a:xfrm>
          <a:prstGeom prst="rect">
            <a:avLst/>
          </a:prstGeom>
          <a:noFill/>
          <a:ln/>
        </p:spPr>
        <p:txBody>
          <a:bodyPr wrap="square" lIns="0" tIns="0" rIns="0" bIns="0" rtlCol="0" anchor="t"/>
          <a:lstStyle/>
          <a:p>
            <a:pPr algn="l" indent="0" marL="0">
              <a:buNone/>
            </a:pPr>
            <a:r>
              <a:rPr lang="en-US" sz="1300" dirty="0">
                <a:solidFill>
                  <a:schemeClr val="accent5"/>
                </a:solidFill>
              </a:rPr>
              <a:t>the margin they charge,</a:t>
            </a:r>
            <a:endParaRPr lang="en-US" sz="1300" dirty="0"/>
          </a:p>
          <a:p>
            <a:pPr algn="l" indent="0" marL="0">
              <a:buNone/>
            </a:pPr>
            <a:r>
              <a:rPr lang="en-US" sz="1300" dirty="0">
                <a:solidFill>
                  <a:schemeClr val="accent5"/>
                </a:solidFill>
              </a:rPr>
              <a:t>and it rose over the decade</a:t>
            </a:r>
            <a:endParaRPr lang="en-US" sz="1300" dirty="0"/>
          </a:p>
        </p:txBody>
      </p:sp>
      <p:sp>
        <p:nvSpPr>
          <p:cNvPr id="9" name="note"/>
          <p:cNvSpPr/>
          <p:nvPr/>
        </p:nvSpPr>
        <p:spPr>
          <a:xfrm>
            <a:off x="640080" y="3931920"/>
            <a:ext cx="10881360" cy="1737360"/>
          </a:xfrm>
          <a:prstGeom prst="roundRect">
            <a:avLst>
              <a:gd name="adj" fmla="val 4211"/>
            </a:avLst>
          </a:prstGeom>
          <a:solidFill>
            <a:srgbClr val="F2F5F9"/>
          </a:solidFill>
          <a:ln w="12700">
            <a:solidFill>
              <a:srgbClr val="E2E8F0"/>
            </a:solidFill>
            <a:prstDash val="solid"/>
          </a:ln>
        </p:spPr>
      </p:sp>
      <p:sp>
        <p:nvSpPr>
          <p:cNvPr id="10" name="Text 8"/>
          <p:cNvSpPr txBox="1"/>
          <p:nvPr/>
        </p:nvSpPr>
        <p:spPr>
          <a:xfrm>
            <a:off x="960120" y="4160520"/>
            <a:ext cx="10241280" cy="1280160"/>
          </a:xfrm>
          <a:prstGeom prst="rect">
            <a:avLst/>
          </a:prstGeom>
          <a:noFill/>
          <a:ln/>
        </p:spPr>
        <p:txBody>
          <a:bodyPr wrap="square" rtlCol="0" anchor="ctr"/>
          <a:lstStyle/>
          <a:p>
            <a:pPr indent="0" marL="0">
              <a:buNone/>
            </a:pPr>
            <a:r>
              <a:rPr lang="en-US" sz="1500" b="1" dirty="0">
                <a:solidFill>
                  <a:schemeClr val="tx1"/>
                </a:solidFill>
              </a:rPr>
              <a:t>Beating a bookmaker is not beating a naive baseline. </a:t>
            </a:r>
            <a:pPr indent="0" marL="0">
              <a:buNone/>
            </a:pPr>
            <a:r>
              <a:rPr lang="en-US" sz="1500" dirty="0">
                <a:solidFill>
                  <a:schemeClr val="tx1"/>
                </a:solidFill>
              </a:rPr>
              <a:t>Each expert is a firm with analysts, a risk desk and a live order flow correcting its prices. The published odds already aggregate everything the market knows.</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Three obstacles that shape every design choice</a:t>
            </a:r>
            <a:endParaRPr lang="en-US" sz="3000" dirty="0"/>
          </a:p>
        </p:txBody>
      </p:sp>
      <p:sp>
        <p:nvSpPr>
          <p:cNvPr id="3" name="circle-1"/>
          <p:cNvSpPr/>
          <p:nvPr/>
        </p:nvSpPr>
        <p:spPr>
          <a:xfrm>
            <a:off x="640080" y="1600200"/>
            <a:ext cx="566928" cy="566928"/>
          </a:xfrm>
          <a:prstGeom prst="ellipse">
            <a:avLst/>
          </a:prstGeom>
          <a:solidFill>
            <a:schemeClr val="accent1"/>
          </a:solidFill>
          <a:ln/>
        </p:spPr>
      </p:sp>
      <p:sp>
        <p:nvSpPr>
          <p:cNvPr id="4" name="Text 2"/>
          <p:cNvSpPr txBox="1"/>
          <p:nvPr/>
        </p:nvSpPr>
        <p:spPr>
          <a:xfrm>
            <a:off x="640080" y="1600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5" name="Text 3"/>
          <p:cNvSpPr txBox="1"/>
          <p:nvPr/>
        </p:nvSpPr>
        <p:spPr>
          <a:xfrm>
            <a:off x="1508760" y="1508760"/>
            <a:ext cx="10058400" cy="411480"/>
          </a:xfrm>
          <a:prstGeom prst="rect">
            <a:avLst/>
          </a:prstGeom>
          <a:noFill/>
          <a:ln/>
        </p:spPr>
        <p:txBody>
          <a:bodyPr wrap="square" lIns="0" tIns="0" rIns="0" bIns="0" rtlCol="0" anchor="ctr"/>
          <a:lstStyle/>
          <a:p>
            <a:pPr indent="0" marL="0">
              <a:buNone/>
            </a:pPr>
            <a:r>
              <a:rPr lang="en-US" sz="1900" b="1" dirty="0">
                <a:solidFill>
                  <a:schemeClr val="tx2"/>
                </a:solidFill>
              </a:rPr>
              <a:t>Partial coverage</a:t>
            </a:r>
            <a:endParaRPr lang="en-US" sz="1900" dirty="0"/>
          </a:p>
        </p:txBody>
      </p:sp>
      <p:sp>
        <p:nvSpPr>
          <p:cNvPr id="6" name="Text 4"/>
          <p:cNvSpPr txBox="1"/>
          <p:nvPr/>
        </p:nvSpPr>
        <p:spPr>
          <a:xfrm>
            <a:off x="1508760" y="1947672"/>
            <a:ext cx="10058400" cy="868680"/>
          </a:xfrm>
          <a:prstGeom prst="rect">
            <a:avLst/>
          </a:prstGeom>
          <a:noFill/>
          <a:ln/>
        </p:spPr>
        <p:txBody>
          <a:bodyPr wrap="square" lIns="0" tIns="0" rIns="0" bIns="0" rtlCol="0" anchor="ctr"/>
          <a:lstStyle/>
          <a:p>
            <a:pPr indent="0" marL="0">
              <a:buNone/>
            </a:pPr>
            <a:r>
              <a:rPr lang="en-US" sz="1500" dirty="0">
                <a:solidFill>
                  <a:schemeClr val="accent5"/>
                </a:solidFill>
              </a:rPr>
              <a:t>No bookmaker quotes every match. Coverage runs from 6.9% to 99.8%, so the standard expert-advice algorithms do not apply as written.</a:t>
            </a:r>
            <a:endParaRPr lang="en-US" sz="1500" dirty="0"/>
          </a:p>
        </p:txBody>
      </p:sp>
      <p:sp>
        <p:nvSpPr>
          <p:cNvPr id="7" name="circle-2"/>
          <p:cNvSpPr/>
          <p:nvPr/>
        </p:nvSpPr>
        <p:spPr>
          <a:xfrm>
            <a:off x="640080" y="3108960"/>
            <a:ext cx="566928" cy="566928"/>
          </a:xfrm>
          <a:prstGeom prst="ellipse">
            <a:avLst/>
          </a:prstGeom>
          <a:solidFill>
            <a:schemeClr val="accent1"/>
          </a:solidFill>
          <a:ln/>
        </p:spPr>
      </p:sp>
      <p:sp>
        <p:nvSpPr>
          <p:cNvPr id="8" name="Text 6"/>
          <p:cNvSpPr txBox="1"/>
          <p:nvPr/>
        </p:nvSpPr>
        <p:spPr>
          <a:xfrm>
            <a:off x="640080" y="3108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9" name="Text 7"/>
          <p:cNvSpPr txBox="1"/>
          <p:nvPr/>
        </p:nvSpPr>
        <p:spPr>
          <a:xfrm>
            <a:off x="1508760" y="3017520"/>
            <a:ext cx="10058400" cy="411480"/>
          </a:xfrm>
          <a:prstGeom prst="rect">
            <a:avLst/>
          </a:prstGeom>
          <a:noFill/>
          <a:ln/>
        </p:spPr>
        <p:txBody>
          <a:bodyPr wrap="square" lIns="0" tIns="0" rIns="0" bIns="0" rtlCol="0" anchor="ctr"/>
          <a:lstStyle/>
          <a:p>
            <a:pPr indent="0" marL="0">
              <a:buNone/>
            </a:pPr>
            <a:r>
              <a:rPr lang="en-US" sz="1900" b="1" dirty="0">
                <a:solidFill>
                  <a:schemeClr val="tx2"/>
                </a:solidFill>
              </a:rPr>
              <a:t>Odds are not probabilities</a:t>
            </a:r>
            <a:endParaRPr lang="en-US" sz="1900" dirty="0"/>
          </a:p>
        </p:txBody>
      </p:sp>
      <p:sp>
        <p:nvSpPr>
          <p:cNvPr id="10" name="Text 8"/>
          <p:cNvSpPr txBox="1"/>
          <p:nvPr/>
        </p:nvSpPr>
        <p:spPr>
          <a:xfrm>
            <a:off x="1508760" y="3456432"/>
            <a:ext cx="10058400" cy="868680"/>
          </a:xfrm>
          <a:prstGeom prst="rect">
            <a:avLst/>
          </a:prstGeom>
          <a:noFill/>
          <a:ln/>
        </p:spPr>
        <p:txBody>
          <a:bodyPr wrap="square" lIns="0" tIns="0" rIns="0" bIns="0" rtlCol="0" anchor="ctr"/>
          <a:lstStyle/>
          <a:p>
            <a:pPr indent="0" marL="0">
              <a:buNone/>
            </a:pPr>
            <a:r>
              <a:rPr lang="en-US" sz="1500" dirty="0">
                <a:solidFill>
                  <a:schemeClr val="accent5"/>
                </a:solidFill>
              </a:rPr>
              <a:t>They carry a margin, so they sum to more than one. Removing it is a modelling decision, not arithmetic.</a:t>
            </a:r>
            <a:endParaRPr lang="en-US" sz="1500" dirty="0"/>
          </a:p>
        </p:txBody>
      </p:sp>
      <p:sp>
        <p:nvSpPr>
          <p:cNvPr id="11" name="circle-3"/>
          <p:cNvSpPr/>
          <p:nvPr/>
        </p:nvSpPr>
        <p:spPr>
          <a:xfrm>
            <a:off x="640080" y="4617720"/>
            <a:ext cx="566928" cy="566928"/>
          </a:xfrm>
          <a:prstGeom prst="ellipse">
            <a:avLst/>
          </a:prstGeom>
          <a:solidFill>
            <a:schemeClr val="accent1"/>
          </a:solidFill>
          <a:ln/>
        </p:spPr>
      </p:sp>
      <p:sp>
        <p:nvSpPr>
          <p:cNvPr id="12" name="Text 10"/>
          <p:cNvSpPr txBox="1"/>
          <p:nvPr/>
        </p:nvSpPr>
        <p:spPr>
          <a:xfrm>
            <a:off x="640080" y="46177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3" name="Text 11"/>
          <p:cNvSpPr txBox="1"/>
          <p:nvPr/>
        </p:nvSpPr>
        <p:spPr>
          <a:xfrm>
            <a:off x="1508760" y="4526280"/>
            <a:ext cx="10058400" cy="411480"/>
          </a:xfrm>
          <a:prstGeom prst="rect">
            <a:avLst/>
          </a:prstGeom>
          <a:noFill/>
          <a:ln/>
        </p:spPr>
        <p:txBody>
          <a:bodyPr wrap="square" lIns="0" tIns="0" rIns="0" bIns="0" rtlCol="0" anchor="ctr"/>
          <a:lstStyle/>
          <a:p>
            <a:pPr indent="0" marL="0">
              <a:buNone/>
            </a:pPr>
            <a:r>
              <a:rPr lang="en-US" sz="1900" b="1" dirty="0">
                <a:solidFill>
                  <a:schemeClr val="tx2"/>
                </a:solidFill>
              </a:rPr>
              <a:t>The best log-loss is not the objective</a:t>
            </a:r>
            <a:endParaRPr lang="en-US" sz="1900" dirty="0"/>
          </a:p>
        </p:txBody>
      </p:sp>
      <p:sp>
        <p:nvSpPr>
          <p:cNvPr id="14" name="Text 12"/>
          <p:cNvSpPr txBox="1"/>
          <p:nvPr/>
        </p:nvSpPr>
        <p:spPr>
          <a:xfrm>
            <a:off x="1508760" y="4965192"/>
            <a:ext cx="10058400" cy="868680"/>
          </a:xfrm>
          <a:prstGeom prst="rect">
            <a:avLst/>
          </a:prstGeom>
          <a:noFill/>
          <a:ln/>
        </p:spPr>
        <p:txBody>
          <a:bodyPr wrap="square" lIns="0" tIns="0" rIns="0" bIns="0" rtlCol="0" anchor="ctr"/>
          <a:lstStyle/>
          <a:p>
            <a:pPr indent="0" marL="0">
              <a:buNone/>
            </a:pPr>
            <a:r>
              <a:rPr lang="en-US" sz="1500" dirty="0">
                <a:solidFill>
                  <a:schemeClr val="accent5"/>
                </a:solidFill>
              </a:rPr>
              <a:t>A better forecast only pays if the gain exceeds the margin. Accuracy and profit are different questions.</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What this thesis contributes</a:t>
            </a:r>
            <a:endParaRPr lang="en-US" sz="3000" dirty="0"/>
          </a:p>
        </p:txBody>
      </p:sp>
      <p:sp>
        <p:nvSpPr>
          <p:cNvPr id="3" name="contrib-0"/>
          <p:cNvSpPr/>
          <p:nvPr/>
        </p:nvSpPr>
        <p:spPr>
          <a:xfrm>
            <a:off x="640080" y="1554480"/>
            <a:ext cx="5212080" cy="1828800"/>
          </a:xfrm>
          <a:prstGeom prst="roundRect">
            <a:avLst>
              <a:gd name="adj" fmla="val 4000"/>
            </a:avLst>
          </a:prstGeom>
          <a:solidFill>
            <a:srgbClr val="F2F5F9"/>
          </a:solidFill>
          <a:ln w="12700">
            <a:solidFill>
              <a:srgbClr val="E2E8F0"/>
            </a:solidFill>
            <a:prstDash val="solid"/>
          </a:ln>
        </p:spPr>
      </p:sp>
      <p:sp>
        <p:nvSpPr>
          <p:cNvPr id="4" name="dot-0"/>
          <p:cNvSpPr/>
          <p:nvPr/>
        </p:nvSpPr>
        <p:spPr>
          <a:xfrm>
            <a:off x="960120" y="1874520"/>
            <a:ext cx="457200" cy="457200"/>
          </a:xfrm>
          <a:prstGeom prst="ellipse">
            <a:avLst/>
          </a:prstGeom>
          <a:solidFill>
            <a:schemeClr val="accent1"/>
          </a:solidFill>
          <a:ln/>
        </p:spPr>
      </p:sp>
      <p:sp>
        <p:nvSpPr>
          <p:cNvPr id="5" name="Text 3"/>
          <p:cNvSpPr txBox="1"/>
          <p:nvPr/>
        </p:nvSpPr>
        <p:spPr>
          <a:xfrm>
            <a:off x="1600200" y="1828800"/>
            <a:ext cx="3931920" cy="548640"/>
          </a:xfrm>
          <a:prstGeom prst="rect">
            <a:avLst/>
          </a:prstGeom>
          <a:noFill/>
          <a:ln/>
        </p:spPr>
        <p:txBody>
          <a:bodyPr wrap="square" lIns="0" tIns="0" rIns="0" bIns="0" rtlCol="0" anchor="ctr"/>
          <a:lstStyle/>
          <a:p>
            <a:pPr indent="0" marL="0">
              <a:buNone/>
            </a:pPr>
            <a:r>
              <a:rPr lang="en-US" sz="1700" b="1" dirty="0">
                <a:solidFill>
                  <a:schemeClr val="tx2"/>
                </a:solidFill>
              </a:rPr>
              <a:t>Three OCO stages, end to end</a:t>
            </a:r>
            <a:endParaRPr lang="en-US" sz="1700" dirty="0"/>
          </a:p>
        </p:txBody>
      </p:sp>
      <p:sp>
        <p:nvSpPr>
          <p:cNvPr id="6" name="Text 4"/>
          <p:cNvSpPr txBox="1"/>
          <p:nvPr/>
        </p:nvSpPr>
        <p:spPr>
          <a:xfrm>
            <a:off x="960120" y="2468880"/>
            <a:ext cx="4572000" cy="777240"/>
          </a:xfrm>
          <a:prstGeom prst="rect">
            <a:avLst/>
          </a:prstGeom>
          <a:noFill/>
          <a:ln/>
        </p:spPr>
        <p:txBody>
          <a:bodyPr wrap="square" lIns="0" tIns="0" rIns="0" bIns="0" rtlCol="0" anchor="ctr"/>
          <a:lstStyle/>
          <a:p>
            <a:pPr indent="0" marL="0">
              <a:buNone/>
            </a:pPr>
            <a:r>
              <a:rPr lang="en-US" sz="1400" dirty="0">
                <a:solidFill>
                  <a:schemeClr val="accent5"/>
                </a:solidFill>
              </a:rPr>
              <a:t>Weighting, calibration and stake size, each a convex online problem, each causal.</a:t>
            </a:r>
            <a:endParaRPr lang="en-US" sz="1400" dirty="0"/>
          </a:p>
        </p:txBody>
      </p:sp>
      <p:sp>
        <p:nvSpPr>
          <p:cNvPr id="7" name="contrib-1"/>
          <p:cNvSpPr/>
          <p:nvPr/>
        </p:nvSpPr>
        <p:spPr>
          <a:xfrm>
            <a:off x="6217920" y="1554480"/>
            <a:ext cx="5212080" cy="1828800"/>
          </a:xfrm>
          <a:prstGeom prst="roundRect">
            <a:avLst>
              <a:gd name="adj" fmla="val 4000"/>
            </a:avLst>
          </a:prstGeom>
          <a:solidFill>
            <a:srgbClr val="F2F5F9"/>
          </a:solidFill>
          <a:ln w="12700">
            <a:solidFill>
              <a:srgbClr val="E2E8F0"/>
            </a:solidFill>
            <a:prstDash val="solid"/>
          </a:ln>
        </p:spPr>
      </p:sp>
      <p:sp>
        <p:nvSpPr>
          <p:cNvPr id="8" name="dot-1"/>
          <p:cNvSpPr/>
          <p:nvPr/>
        </p:nvSpPr>
        <p:spPr>
          <a:xfrm>
            <a:off x="6537960" y="1874520"/>
            <a:ext cx="457200" cy="457200"/>
          </a:xfrm>
          <a:prstGeom prst="ellipse">
            <a:avLst/>
          </a:prstGeom>
          <a:solidFill>
            <a:schemeClr val="accent1"/>
          </a:solidFill>
          <a:ln/>
        </p:spPr>
      </p:sp>
      <p:sp>
        <p:nvSpPr>
          <p:cNvPr id="9" name="Text 7"/>
          <p:cNvSpPr txBox="1"/>
          <p:nvPr/>
        </p:nvSpPr>
        <p:spPr>
          <a:xfrm>
            <a:off x="7178040" y="1828800"/>
            <a:ext cx="3931920" cy="548640"/>
          </a:xfrm>
          <a:prstGeom prst="rect">
            <a:avLst/>
          </a:prstGeom>
          <a:noFill/>
          <a:ln/>
        </p:spPr>
        <p:txBody>
          <a:bodyPr wrap="square" lIns="0" tIns="0" rIns="0" bIns="0" rtlCol="0" anchor="ctr"/>
          <a:lstStyle/>
          <a:p>
            <a:pPr indent="0" marL="0">
              <a:buNone/>
            </a:pPr>
            <a:r>
              <a:rPr lang="en-US" sz="1700" b="1" dirty="0">
                <a:solidFill>
                  <a:schemeClr val="tx2"/>
                </a:solidFill>
              </a:rPr>
              <a:t>Every comparison tested</a:t>
            </a:r>
            <a:endParaRPr lang="en-US" sz="1700" dirty="0"/>
          </a:p>
        </p:txBody>
      </p:sp>
      <p:sp>
        <p:nvSpPr>
          <p:cNvPr id="10" name="Text 8"/>
          <p:cNvSpPr txBox="1"/>
          <p:nvPr/>
        </p:nvSpPr>
        <p:spPr>
          <a:xfrm>
            <a:off x="6537960" y="2468880"/>
            <a:ext cx="4572000" cy="777240"/>
          </a:xfrm>
          <a:prstGeom prst="rect">
            <a:avLst/>
          </a:prstGeom>
          <a:noFill/>
          <a:ln/>
        </p:spPr>
        <p:txBody>
          <a:bodyPr wrap="square" lIns="0" tIns="0" rIns="0" bIns="0" rtlCol="0" anchor="ctr"/>
          <a:lstStyle/>
          <a:p>
            <a:pPr indent="0" marL="0">
              <a:buNone/>
            </a:pPr>
            <a:r>
              <a:rPr lang="en-US" sz="1400" dirty="0">
                <a:solidFill>
                  <a:schemeClr val="accent5"/>
                </a:solidFill>
              </a:rPr>
              <a:t>Moving block bootstrap on every claim, because consecutive matches are not independent.</a:t>
            </a:r>
            <a:endParaRPr lang="en-US" sz="1400" dirty="0"/>
          </a:p>
        </p:txBody>
      </p:sp>
      <p:sp>
        <p:nvSpPr>
          <p:cNvPr id="11" name="contrib-2"/>
          <p:cNvSpPr/>
          <p:nvPr/>
        </p:nvSpPr>
        <p:spPr>
          <a:xfrm>
            <a:off x="640080" y="3703320"/>
            <a:ext cx="5212080" cy="1828800"/>
          </a:xfrm>
          <a:prstGeom prst="roundRect">
            <a:avLst>
              <a:gd name="adj" fmla="val 4000"/>
            </a:avLst>
          </a:prstGeom>
          <a:solidFill>
            <a:srgbClr val="F2F5F9"/>
          </a:solidFill>
          <a:ln w="12700">
            <a:solidFill>
              <a:srgbClr val="E2E8F0"/>
            </a:solidFill>
            <a:prstDash val="solid"/>
          </a:ln>
        </p:spPr>
      </p:sp>
      <p:sp>
        <p:nvSpPr>
          <p:cNvPr id="12" name="dot-2"/>
          <p:cNvSpPr/>
          <p:nvPr/>
        </p:nvSpPr>
        <p:spPr>
          <a:xfrm>
            <a:off x="960120" y="4023360"/>
            <a:ext cx="457200" cy="457200"/>
          </a:xfrm>
          <a:prstGeom prst="ellipse">
            <a:avLst/>
          </a:prstGeom>
          <a:solidFill>
            <a:schemeClr val="accent1"/>
          </a:solidFill>
          <a:ln/>
        </p:spPr>
      </p:sp>
      <p:sp>
        <p:nvSpPr>
          <p:cNvPr id="13" name="Text 11"/>
          <p:cNvSpPr txBox="1"/>
          <p:nvPr/>
        </p:nvSpPr>
        <p:spPr>
          <a:xfrm>
            <a:off x="1600200" y="3977640"/>
            <a:ext cx="3931920" cy="548640"/>
          </a:xfrm>
          <a:prstGeom prst="rect">
            <a:avLst/>
          </a:prstGeom>
          <a:noFill/>
          <a:ln/>
        </p:spPr>
        <p:txBody>
          <a:bodyPr wrap="square" lIns="0" tIns="0" rIns="0" bIns="0" rtlCol="0" anchor="ctr"/>
          <a:lstStyle/>
          <a:p>
            <a:pPr indent="0" marL="0">
              <a:buNone/>
            </a:pPr>
            <a:r>
              <a:rPr lang="en-US" sz="1700" b="1" dirty="0">
                <a:solidFill>
                  <a:schemeClr val="tx2"/>
                </a:solidFill>
              </a:rPr>
              <a:t>A deployment test</a:t>
            </a:r>
            <a:endParaRPr lang="en-US" sz="1700" dirty="0"/>
          </a:p>
        </p:txBody>
      </p:sp>
      <p:sp>
        <p:nvSpPr>
          <p:cNvPr id="14" name="Text 12"/>
          <p:cNvSpPr txBox="1"/>
          <p:nvPr/>
        </p:nvSpPr>
        <p:spPr>
          <a:xfrm>
            <a:off x="960120" y="4617720"/>
            <a:ext cx="4572000" cy="777240"/>
          </a:xfrm>
          <a:prstGeom prst="rect">
            <a:avLst/>
          </a:prstGeom>
          <a:noFill/>
          <a:ln/>
        </p:spPr>
        <p:txBody>
          <a:bodyPr wrap="square" lIns="0" tIns="0" rIns="0" bIns="0" rtlCol="0" anchor="ctr"/>
          <a:lstStyle/>
          <a:p>
            <a:pPr indent="0" marL="0">
              <a:buNone/>
            </a:pPr>
            <a:r>
              <a:rPr lang="en-US" sz="1400" dirty="0">
                <a:solidFill>
                  <a:schemeClr val="accent5"/>
                </a:solidFill>
              </a:rPr>
              <a:t>A real date cut: what a model fitted through 2024 does in 2025-26.</a:t>
            </a:r>
            <a:endParaRPr lang="en-US" sz="1400" dirty="0"/>
          </a:p>
        </p:txBody>
      </p:sp>
      <p:sp>
        <p:nvSpPr>
          <p:cNvPr id="15" name="contrib-3"/>
          <p:cNvSpPr/>
          <p:nvPr/>
        </p:nvSpPr>
        <p:spPr>
          <a:xfrm>
            <a:off x="6217920" y="3703320"/>
            <a:ext cx="5212080" cy="1828800"/>
          </a:xfrm>
          <a:prstGeom prst="roundRect">
            <a:avLst>
              <a:gd name="adj" fmla="val 4000"/>
            </a:avLst>
          </a:prstGeom>
          <a:solidFill>
            <a:srgbClr val="F2F5F9"/>
          </a:solidFill>
          <a:ln w="12700">
            <a:solidFill>
              <a:srgbClr val="E2E8F0"/>
            </a:solidFill>
            <a:prstDash val="solid"/>
          </a:ln>
        </p:spPr>
      </p:sp>
      <p:sp>
        <p:nvSpPr>
          <p:cNvPr id="16" name="dot-3"/>
          <p:cNvSpPr/>
          <p:nvPr/>
        </p:nvSpPr>
        <p:spPr>
          <a:xfrm>
            <a:off x="6537960" y="4023360"/>
            <a:ext cx="457200" cy="457200"/>
          </a:xfrm>
          <a:prstGeom prst="ellipse">
            <a:avLst/>
          </a:prstGeom>
          <a:solidFill>
            <a:schemeClr val="accent4"/>
          </a:solidFill>
          <a:ln/>
        </p:spPr>
      </p:sp>
      <p:sp>
        <p:nvSpPr>
          <p:cNvPr id="17" name="Text 15"/>
          <p:cNvSpPr txBox="1"/>
          <p:nvPr/>
        </p:nvSpPr>
        <p:spPr>
          <a:xfrm>
            <a:off x="7178040" y="3977640"/>
            <a:ext cx="3931920" cy="548640"/>
          </a:xfrm>
          <a:prstGeom prst="rect">
            <a:avLst/>
          </a:prstGeom>
          <a:noFill/>
          <a:ln/>
        </p:spPr>
        <p:txBody>
          <a:bodyPr wrap="square" lIns="0" tIns="0" rIns="0" bIns="0" rtlCol="0" anchor="ctr"/>
          <a:lstStyle/>
          <a:p>
            <a:pPr indent="0" marL="0">
              <a:buNone/>
            </a:pPr>
            <a:r>
              <a:rPr lang="en-US" sz="1700" b="1" dirty="0">
                <a:solidFill>
                  <a:schemeClr val="tx2"/>
                </a:solidFill>
              </a:rPr>
              <a:t>Negative results that bound the method</a:t>
            </a:r>
            <a:endParaRPr lang="en-US" sz="1700" dirty="0"/>
          </a:p>
        </p:txBody>
      </p:sp>
      <p:sp>
        <p:nvSpPr>
          <p:cNvPr id="18" name="Text 16"/>
          <p:cNvSpPr txBox="1"/>
          <p:nvPr/>
        </p:nvSpPr>
        <p:spPr>
          <a:xfrm>
            <a:off x="6537960" y="4617720"/>
            <a:ext cx="4572000" cy="777240"/>
          </a:xfrm>
          <a:prstGeom prst="rect">
            <a:avLst/>
          </a:prstGeom>
          <a:noFill/>
          <a:ln/>
        </p:spPr>
        <p:txBody>
          <a:bodyPr wrap="square" lIns="0" tIns="0" rIns="0" bIns="0" rtlCol="0" anchor="ctr"/>
          <a:lstStyle/>
          <a:p>
            <a:pPr indent="0" marL="0">
              <a:buNone/>
            </a:pPr>
            <a:r>
              <a:rPr lang="en-US" sz="1400" dirty="0">
                <a:solidFill>
                  <a:schemeClr val="accent5"/>
                </a:solidFill>
              </a:rPr>
              <a:t>Nine ideas tried and rejected, including one that overturns how the main result should be read.</a:t>
            </a:r>
            <a:endParaRPr lang="en-US" sz="14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914400" y="2286000"/>
            <a:ext cx="1828800" cy="1097280"/>
          </a:xfrm>
          <a:prstGeom prst="rect">
            <a:avLst/>
          </a:prstGeom>
          <a:noFill/>
          <a:ln/>
        </p:spPr>
        <p:txBody>
          <a:bodyPr wrap="square" rtlCol="0" anchor="ctr"/>
          <a:lstStyle/>
          <a:p>
            <a:pPr algn="l" indent="0" marL="0">
              <a:buNone/>
            </a:pPr>
            <a:r>
              <a:rPr lang="en-US" sz="6800" b="1" dirty="0">
                <a:solidFill>
                  <a:srgbClr val="6FA3D6"/>
                </a:solidFill>
              </a:rPr>
              <a:t>01</a:t>
            </a:r>
            <a:endParaRPr lang="en-US" sz="6800" dirty="0"/>
          </a:p>
        </p:txBody>
      </p:sp>
      <p:sp>
        <p:nvSpPr>
          <p:cNvPr id="3" name="Text 0"/>
          <p:cNvSpPr/>
          <p:nvPr>
            <p:ph idx="101" type="title" hasCustomPrompt="1"/>
          </p:nvPr>
        </p:nvSpPr>
        <p:spPr>
          <a:xfrm>
            <a:off x="2834640" y="2286000"/>
            <a:ext cx="8412480" cy="1097280"/>
          </a:xfrm>
          <a:prstGeom prst="rect">
            <a:avLst/>
          </a:prstGeom>
          <a:noFill/>
          <a:ln/>
        </p:spPr>
        <p:txBody>
          <a:bodyPr wrap="square" rtlCol="0" anchor="ctr"/>
          <a:lstStyle/>
          <a:p>
            <a:pPr algn="l" indent="0" marL="0">
              <a:buNone/>
            </a:pPr>
            <a:r>
              <a:rPr lang="en-US" sz="3600" b="1" dirty="0">
                <a:solidFill>
                  <a:schemeClr val="bg1"/>
                </a:solidFill>
              </a:rPr>
              <a:t>The framework</a:t>
            </a:r>
            <a:endParaRPr lang="en-US" sz="3600" dirty="0"/>
          </a:p>
        </p:txBody>
      </p:sp>
      <p:sp>
        <p:nvSpPr>
          <p:cNvPr id="4" name="Text 0"/>
          <p:cNvSpPr/>
          <p:nvPr>
            <p:ph idx="102" type="body" hasCustomPrompt="1"/>
          </p:nvPr>
        </p:nvSpPr>
        <p:spPr>
          <a:xfrm>
            <a:off x="2834640" y="3474720"/>
            <a:ext cx="8412480" cy="1097280"/>
          </a:xfrm>
          <a:prstGeom prst="rect">
            <a:avLst/>
          </a:prstGeom>
          <a:noFill/>
          <a:ln/>
        </p:spPr>
        <p:txBody>
          <a:bodyPr wrap="square" rtlCol="0" anchor="t"/>
          <a:lstStyle/>
          <a:p>
            <a:pPr algn="l" indent="0" marL="0">
              <a:buNone/>
            </a:pPr>
            <a:r>
              <a:rPr lang="en-US" sz="1600" dirty="0">
                <a:solidFill>
                  <a:srgbClr val="CBD5E1"/>
                </a:solidFill>
              </a:rPr>
              <a:t>Online learning, regret, and the reduction that makes partial coverage tractable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Online learning: no training phase</a:t>
            </a:r>
            <a:endParaRPr lang="en-US" sz="3000" dirty="0"/>
          </a:p>
        </p:txBody>
      </p:sp>
      <p:sp>
        <p:nvSpPr>
          <p:cNvPr id="3" name="loop"/>
          <p:cNvSpPr/>
          <p:nvPr/>
        </p:nvSpPr>
        <p:spPr>
          <a:xfrm>
            <a:off x="640080" y="1463040"/>
            <a:ext cx="5212080" cy="2194560"/>
          </a:xfrm>
          <a:prstGeom prst="roundRect">
            <a:avLst>
              <a:gd name="adj" fmla="val 3333"/>
            </a:avLst>
          </a:prstGeom>
          <a:solidFill>
            <a:srgbClr val="F2F5F9"/>
          </a:solidFill>
          <a:ln w="12700">
            <a:solidFill>
              <a:srgbClr val="E2E8F0"/>
            </a:solidFill>
            <a:prstDash val="solid"/>
          </a:ln>
        </p:spPr>
      </p:sp>
      <p:sp>
        <p:nvSpPr>
          <p:cNvPr id="4" name="Text 2"/>
          <p:cNvSpPr txBox="1"/>
          <p:nvPr/>
        </p:nvSpPr>
        <p:spPr>
          <a:xfrm>
            <a:off x="960120" y="1645920"/>
            <a:ext cx="4572000" cy="365760"/>
          </a:xfrm>
          <a:prstGeom prst="rect">
            <a:avLst/>
          </a:prstGeom>
          <a:noFill/>
          <a:ln/>
        </p:spPr>
        <p:txBody>
          <a:bodyPr wrap="square" lIns="0" tIns="0" rIns="0" bIns="0" rtlCol="0" anchor="ctr"/>
          <a:lstStyle/>
          <a:p>
            <a:pPr indent="0" marL="0">
              <a:buNone/>
            </a:pPr>
            <a:r>
              <a:rPr lang="en-US" sz="1600" b="1" dirty="0">
                <a:solidFill>
                  <a:schemeClr val="tx2"/>
                </a:solidFill>
              </a:rPr>
              <a:t>The protocol</a:t>
            </a:r>
            <a:endParaRPr lang="en-US" sz="1600" dirty="0"/>
          </a:p>
        </p:txBody>
      </p:sp>
      <p:sp>
        <p:nvSpPr>
          <p:cNvPr id="5" name="Text 3"/>
          <p:cNvSpPr txBox="1"/>
          <p:nvPr/>
        </p:nvSpPr>
        <p:spPr>
          <a:xfrm>
            <a:off x="960120" y="2057400"/>
            <a:ext cx="4572000" cy="1463040"/>
          </a:xfrm>
          <a:prstGeom prst="rect">
            <a:avLst/>
          </a:prstGeom>
          <a:noFill/>
          <a:ln/>
        </p:spPr>
        <p:txBody>
          <a:bodyPr wrap="square" rtlCol="0" anchor="ctr"/>
          <a:lstStyle/>
          <a:p>
            <a:pPr marL="342900" indent="-342900">
              <a:spcAft>
                <a:spcPts val="1000"/>
              </a:spcAft>
              <a:buSzPct val="100000"/>
              <a:buChar char="•"/>
            </a:pPr>
            <a:r>
              <a:rPr lang="en-US" sz="1400" dirty="0">
                <a:solidFill>
                  <a:schemeClr val="tx1"/>
                </a:solidFill>
              </a:rPr>
              <a:t>predict from rounds 1..t−1 only</a:t>
            </a:r>
            <a:endParaRPr lang="en-US" sz="1400" dirty="0"/>
          </a:p>
          <a:p>
            <a:pPr marL="342900" indent="-342900">
              <a:spcAft>
                <a:spcPts val="1000"/>
              </a:spcAft>
              <a:buSzPct val="100000"/>
              <a:buChar char="•"/>
            </a:pPr>
            <a:r>
              <a:rPr lang="en-US" sz="1400" dirty="0">
                <a:solidFill>
                  <a:schemeClr val="tx1"/>
                </a:solidFill>
              </a:rPr>
              <a:t>the outcome is revealed</a:t>
            </a:r>
            <a:endParaRPr lang="en-US" sz="1400" dirty="0"/>
          </a:p>
          <a:p>
            <a:pPr marL="342900" indent="-342900">
              <a:spcAft>
                <a:spcPts val="1000"/>
              </a:spcAft>
              <a:buSzPct val="100000"/>
              <a:buChar char="•"/>
            </a:pPr>
            <a:r>
              <a:rPr lang="en-US" sz="1400" dirty="0">
                <a:solidFill>
                  <a:schemeClr val="tx1"/>
                </a:solidFill>
              </a:rPr>
              <a:t>a loss is incurred</a:t>
            </a:r>
            <a:endParaRPr lang="en-US" sz="1400" dirty="0"/>
          </a:p>
          <a:p>
            <a:pPr marL="342900" indent="-342900">
              <a:spcAft>
                <a:spcPts val="1000"/>
              </a:spcAft>
              <a:buSzPct val="100000"/>
              <a:buChar char="•"/>
            </a:pPr>
            <a:r>
              <a:rPr lang="en-US" sz="1400" dirty="0">
                <a:solidFill>
                  <a:schemeClr val="tx1"/>
                </a:solidFill>
              </a:rPr>
              <a:t>the state is updated</a:t>
            </a:r>
            <a:endParaRPr lang="en-US" sz="1400" dirty="0"/>
          </a:p>
        </p:txBody>
      </p:sp>
      <p:sp>
        <p:nvSpPr>
          <p:cNvPr id="6" name="regret"/>
          <p:cNvSpPr/>
          <p:nvPr/>
        </p:nvSpPr>
        <p:spPr>
          <a:xfrm>
            <a:off x="6309360" y="1463040"/>
            <a:ext cx="5212080" cy="2194560"/>
          </a:xfrm>
          <a:prstGeom prst="roundRect">
            <a:avLst>
              <a:gd name="adj" fmla="val 3333"/>
            </a:avLst>
          </a:prstGeom>
          <a:solidFill>
            <a:srgbClr val="F2F5F9"/>
          </a:solidFill>
          <a:ln w="12700">
            <a:solidFill>
              <a:srgbClr val="E2E8F0"/>
            </a:solidFill>
            <a:prstDash val="solid"/>
          </a:ln>
        </p:spPr>
      </p:sp>
      <p:sp>
        <p:nvSpPr>
          <p:cNvPr id="7" name="Text 5"/>
          <p:cNvSpPr txBox="1"/>
          <p:nvPr/>
        </p:nvSpPr>
        <p:spPr>
          <a:xfrm>
            <a:off x="6629400" y="1645920"/>
            <a:ext cx="4572000" cy="365760"/>
          </a:xfrm>
          <a:prstGeom prst="rect">
            <a:avLst/>
          </a:prstGeom>
          <a:noFill/>
          <a:ln/>
        </p:spPr>
        <p:txBody>
          <a:bodyPr wrap="square" lIns="0" tIns="0" rIns="0" bIns="0" rtlCol="0" anchor="ctr"/>
          <a:lstStyle/>
          <a:p>
            <a:pPr indent="0" marL="0">
              <a:buNone/>
            </a:pPr>
            <a:r>
              <a:rPr lang="en-US" sz="1600" b="1" dirty="0">
                <a:solidFill>
                  <a:schemeClr val="tx2"/>
                </a:solidFill>
              </a:rPr>
              <a:t>Regret</a:t>
            </a:r>
            <a:endParaRPr lang="en-US" sz="1600" dirty="0"/>
          </a:p>
        </p:txBody>
      </p:sp>
      <p:sp>
        <p:nvSpPr>
          <p:cNvPr id="8" name="Text 6"/>
          <p:cNvSpPr txBox="1"/>
          <p:nvPr/>
        </p:nvSpPr>
        <p:spPr>
          <a:xfrm>
            <a:off x="6629400" y="2057400"/>
            <a:ext cx="4572000" cy="1371600"/>
          </a:xfrm>
          <a:prstGeom prst="rect">
            <a:avLst/>
          </a:prstGeom>
          <a:noFill/>
          <a:ln/>
        </p:spPr>
        <p:txBody>
          <a:bodyPr wrap="square" lIns="0" tIns="0" rIns="0" bIns="0" rtlCol="0" anchor="ctr"/>
          <a:lstStyle/>
          <a:p>
            <a:pPr indent="0" marL="0">
              <a:buNone/>
            </a:pPr>
            <a:r>
              <a:rPr lang="en-US" sz="1400" dirty="0">
                <a:solidFill>
                  <a:schemeClr val="tx1"/>
                </a:solidFill>
              </a:rPr>
              <a:t>How much worse we did than the best FIXED weight vector, chosen with hindsight over the whole history.</a:t>
            </a:r>
            <a:endParaRPr lang="en-US" sz="1400" dirty="0"/>
          </a:p>
        </p:txBody>
      </p:sp>
      <p:sp>
        <p:nvSpPr>
          <p:cNvPr id="9" name="Text 7"/>
          <p:cNvSpPr txBox="1"/>
          <p:nvPr/>
        </p:nvSpPr>
        <p:spPr>
          <a:xfrm>
            <a:off x="640080" y="4023360"/>
            <a:ext cx="10881360" cy="1097280"/>
          </a:xfrm>
          <a:prstGeom prst="rect">
            <a:avLst/>
          </a:prstGeom>
          <a:noFill/>
          <a:ln/>
        </p:spPr>
        <p:txBody>
          <a:bodyPr wrap="square" rtlCol="0" anchor="ctr"/>
          <a:lstStyle/>
          <a:p>
            <a:pPr indent="0" marL="0">
              <a:buNone/>
            </a:pPr>
            <a:r>
              <a:rPr lang="en-US" sz="1600" b="1" dirty="0">
                <a:solidFill>
                  <a:schemeClr val="tx1"/>
                </a:solidFill>
              </a:rPr>
              <a:t>Every prediction is out of sample by construction. </a:t>
            </a:r>
            <a:pPr indent="0" marL="0">
              <a:buNone/>
            </a:pPr>
            <a:r>
              <a:rPr lang="en-US" sz="1600" dirty="0">
                <a:solidFill>
                  <a:schemeClr val="tx1"/>
                </a:solidFill>
              </a:rPr>
              <a:t>There is no train/test split to argue about, and the bounds hold for ANY sequence, including an adversarial one. That is the methodological gain over a batch model.</a:t>
            </a:r>
            <a:endParaRPr lang="en-US" sz="1600" dirty="0"/>
          </a:p>
        </p:txBody>
      </p:sp>
      <p:sp>
        <p:nvSpPr>
          <p:cNvPr id="10" name="Text 8"/>
          <p:cNvSpPr txBox="1"/>
          <p:nvPr/>
        </p:nvSpPr>
        <p:spPr>
          <a:xfrm>
            <a:off x="640080" y="5303520"/>
            <a:ext cx="10881360" cy="548640"/>
          </a:xfrm>
          <a:prstGeom prst="rect">
            <a:avLst/>
          </a:prstGeom>
          <a:noFill/>
          <a:ln/>
        </p:spPr>
        <p:txBody>
          <a:bodyPr wrap="square" rtlCol="0" anchor="ctr"/>
          <a:lstStyle/>
          <a:p>
            <a:pPr indent="0" marL="0">
              <a:buNone/>
            </a:pPr>
            <a:r>
              <a:rPr lang="en-US" sz="1500" i="1" dirty="0">
                <a:solidFill>
                  <a:schemeClr val="accent2"/>
                </a:solidFill>
              </a:rPr>
              <a:t>Keep the word "fixed" in mind. It returns at the end, and it is where the strongest theory fails.</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Sleeping Experts: the reduction that makes it work</a:t>
            </a:r>
            <a:endParaRPr lang="en-US" sz="3000" dirty="0"/>
          </a:p>
        </p:txBody>
      </p:sp>
      <p:sp>
        <p:nvSpPr>
          <p:cNvPr id="3" name="Text 1"/>
          <p:cNvSpPr txBox="1"/>
          <p:nvPr/>
        </p:nvSpPr>
        <p:spPr>
          <a:xfrm>
            <a:off x="640080" y="1325880"/>
            <a:ext cx="10881360" cy="365760"/>
          </a:xfrm>
          <a:prstGeom prst="rect">
            <a:avLst/>
          </a:prstGeom>
          <a:noFill/>
          <a:ln/>
        </p:spPr>
        <p:txBody>
          <a:bodyPr wrap="square" rtlCol="0" anchor="ctr"/>
          <a:lstStyle/>
          <a:p>
            <a:pPr indent="0" marL="0">
              <a:buNone/>
            </a:pPr>
            <a:r>
              <a:rPr lang="en-US" sz="1600" dirty="0">
                <a:solidFill>
                  <a:schemeClr val="tx1"/>
                </a:solidFill>
              </a:rPr>
              <a:t>Not every bookmaker quotes every match, so at round t only the awake subset A(t) predicts.</a:t>
            </a:r>
            <a:endParaRPr lang="en-US" sz="1600" dirty="0"/>
          </a:p>
        </p:txBody>
      </p:sp>
      <p:sp>
        <p:nvSpPr>
          <p:cNvPr id="4" name="cell-0-0"/>
          <p:cNvSpPr/>
          <p:nvPr/>
        </p:nvSpPr>
        <p:spPr>
          <a:xfrm>
            <a:off x="640080" y="1920240"/>
            <a:ext cx="384048" cy="384048"/>
          </a:xfrm>
          <a:prstGeom prst="rect">
            <a:avLst/>
          </a:prstGeom>
          <a:solidFill>
            <a:srgbClr val="0F4C81"/>
          </a:solidFill>
          <a:ln w="12700">
            <a:solidFill>
              <a:srgbClr val="FFFFFF"/>
            </a:solidFill>
            <a:prstDash val="solid"/>
          </a:ln>
        </p:spPr>
      </p:sp>
      <p:sp>
        <p:nvSpPr>
          <p:cNvPr id="5" name="cell-0-1"/>
          <p:cNvSpPr/>
          <p:nvPr/>
        </p:nvSpPr>
        <p:spPr>
          <a:xfrm>
            <a:off x="1088136" y="1920240"/>
            <a:ext cx="384048" cy="384048"/>
          </a:xfrm>
          <a:prstGeom prst="rect">
            <a:avLst/>
          </a:prstGeom>
          <a:solidFill>
            <a:srgbClr val="0F4C81"/>
          </a:solidFill>
          <a:ln w="12700">
            <a:solidFill>
              <a:srgbClr val="FFFFFF"/>
            </a:solidFill>
            <a:prstDash val="solid"/>
          </a:ln>
        </p:spPr>
      </p:sp>
      <p:sp>
        <p:nvSpPr>
          <p:cNvPr id="6" name="cell-0-2"/>
          <p:cNvSpPr/>
          <p:nvPr/>
        </p:nvSpPr>
        <p:spPr>
          <a:xfrm>
            <a:off x="1536192" y="1920240"/>
            <a:ext cx="384048" cy="384048"/>
          </a:xfrm>
          <a:prstGeom prst="rect">
            <a:avLst/>
          </a:prstGeom>
          <a:solidFill>
            <a:srgbClr val="0F4C81"/>
          </a:solidFill>
          <a:ln w="12700">
            <a:solidFill>
              <a:srgbClr val="FFFFFF"/>
            </a:solidFill>
            <a:prstDash val="solid"/>
          </a:ln>
        </p:spPr>
      </p:sp>
      <p:sp>
        <p:nvSpPr>
          <p:cNvPr id="7" name="cell-0-3"/>
          <p:cNvSpPr/>
          <p:nvPr/>
        </p:nvSpPr>
        <p:spPr>
          <a:xfrm>
            <a:off x="1984248" y="1920240"/>
            <a:ext cx="384048" cy="384048"/>
          </a:xfrm>
          <a:prstGeom prst="rect">
            <a:avLst/>
          </a:prstGeom>
          <a:solidFill>
            <a:srgbClr val="0F4C81"/>
          </a:solidFill>
          <a:ln w="12700">
            <a:solidFill>
              <a:srgbClr val="FFFFFF"/>
            </a:solidFill>
            <a:prstDash val="solid"/>
          </a:ln>
        </p:spPr>
      </p:sp>
      <p:sp>
        <p:nvSpPr>
          <p:cNvPr id="8" name="cell-0-4"/>
          <p:cNvSpPr/>
          <p:nvPr/>
        </p:nvSpPr>
        <p:spPr>
          <a:xfrm>
            <a:off x="2432304" y="1920240"/>
            <a:ext cx="384048" cy="384048"/>
          </a:xfrm>
          <a:prstGeom prst="rect">
            <a:avLst/>
          </a:prstGeom>
          <a:solidFill>
            <a:srgbClr val="0F4C81"/>
          </a:solidFill>
          <a:ln w="12700">
            <a:solidFill>
              <a:srgbClr val="FFFFFF"/>
            </a:solidFill>
            <a:prstDash val="solid"/>
          </a:ln>
        </p:spPr>
      </p:sp>
      <p:sp>
        <p:nvSpPr>
          <p:cNvPr id="9" name="cell-0-5"/>
          <p:cNvSpPr/>
          <p:nvPr/>
        </p:nvSpPr>
        <p:spPr>
          <a:xfrm>
            <a:off x="2880360" y="1920240"/>
            <a:ext cx="384048" cy="384048"/>
          </a:xfrm>
          <a:prstGeom prst="rect">
            <a:avLst/>
          </a:prstGeom>
          <a:solidFill>
            <a:srgbClr val="0F4C81"/>
          </a:solidFill>
          <a:ln w="12700">
            <a:solidFill>
              <a:srgbClr val="FFFFFF"/>
            </a:solidFill>
            <a:prstDash val="solid"/>
          </a:ln>
        </p:spPr>
      </p:sp>
      <p:sp>
        <p:nvSpPr>
          <p:cNvPr id="10" name="cell-0-6"/>
          <p:cNvSpPr/>
          <p:nvPr/>
        </p:nvSpPr>
        <p:spPr>
          <a:xfrm>
            <a:off x="3328416" y="1920240"/>
            <a:ext cx="384048" cy="384048"/>
          </a:xfrm>
          <a:prstGeom prst="rect">
            <a:avLst/>
          </a:prstGeom>
          <a:solidFill>
            <a:srgbClr val="0F4C81"/>
          </a:solidFill>
          <a:ln w="12700">
            <a:solidFill>
              <a:srgbClr val="FFFFFF"/>
            </a:solidFill>
            <a:prstDash val="solid"/>
          </a:ln>
        </p:spPr>
      </p:sp>
      <p:sp>
        <p:nvSpPr>
          <p:cNvPr id="11" name="cell-0-7"/>
          <p:cNvSpPr/>
          <p:nvPr/>
        </p:nvSpPr>
        <p:spPr>
          <a:xfrm>
            <a:off x="3776472" y="1920240"/>
            <a:ext cx="384048" cy="384048"/>
          </a:xfrm>
          <a:prstGeom prst="rect">
            <a:avLst/>
          </a:prstGeom>
          <a:solidFill>
            <a:srgbClr val="0F4C81"/>
          </a:solidFill>
          <a:ln w="12700">
            <a:solidFill>
              <a:srgbClr val="FFFFFF"/>
            </a:solidFill>
            <a:prstDash val="solid"/>
          </a:ln>
        </p:spPr>
      </p:sp>
      <p:sp>
        <p:nvSpPr>
          <p:cNvPr id="12" name="cell-0-8"/>
          <p:cNvSpPr/>
          <p:nvPr/>
        </p:nvSpPr>
        <p:spPr>
          <a:xfrm>
            <a:off x="4224528" y="1920240"/>
            <a:ext cx="384048" cy="384048"/>
          </a:xfrm>
          <a:prstGeom prst="rect">
            <a:avLst/>
          </a:prstGeom>
          <a:solidFill>
            <a:srgbClr val="0F4C81"/>
          </a:solidFill>
          <a:ln w="12700">
            <a:solidFill>
              <a:srgbClr val="FFFFFF"/>
            </a:solidFill>
            <a:prstDash val="solid"/>
          </a:ln>
        </p:spPr>
      </p:sp>
      <p:sp>
        <p:nvSpPr>
          <p:cNvPr id="13" name="cell-0-9"/>
          <p:cNvSpPr/>
          <p:nvPr/>
        </p:nvSpPr>
        <p:spPr>
          <a:xfrm>
            <a:off x="4672584" y="1920240"/>
            <a:ext cx="384048" cy="384048"/>
          </a:xfrm>
          <a:prstGeom prst="rect">
            <a:avLst/>
          </a:prstGeom>
          <a:solidFill>
            <a:srgbClr val="0F4C81"/>
          </a:solidFill>
          <a:ln w="12700">
            <a:solidFill>
              <a:srgbClr val="FFFFFF"/>
            </a:solidFill>
            <a:prstDash val="solid"/>
          </a:ln>
        </p:spPr>
      </p:sp>
      <p:sp>
        <p:nvSpPr>
          <p:cNvPr id="14" name="cell-0-10"/>
          <p:cNvSpPr/>
          <p:nvPr/>
        </p:nvSpPr>
        <p:spPr>
          <a:xfrm>
            <a:off x="5120640" y="1920240"/>
            <a:ext cx="384048" cy="384048"/>
          </a:xfrm>
          <a:prstGeom prst="rect">
            <a:avLst/>
          </a:prstGeom>
          <a:solidFill>
            <a:srgbClr val="0F4C81"/>
          </a:solidFill>
          <a:ln w="12700">
            <a:solidFill>
              <a:srgbClr val="FFFFFF"/>
            </a:solidFill>
            <a:prstDash val="solid"/>
          </a:ln>
        </p:spPr>
      </p:sp>
      <p:sp>
        <p:nvSpPr>
          <p:cNvPr id="15" name="cell-0-11"/>
          <p:cNvSpPr/>
          <p:nvPr/>
        </p:nvSpPr>
        <p:spPr>
          <a:xfrm>
            <a:off x="5568696" y="1920240"/>
            <a:ext cx="384048" cy="384048"/>
          </a:xfrm>
          <a:prstGeom prst="rect">
            <a:avLst/>
          </a:prstGeom>
          <a:solidFill>
            <a:srgbClr val="0F4C81"/>
          </a:solidFill>
          <a:ln w="12700">
            <a:solidFill>
              <a:srgbClr val="FFFFFF"/>
            </a:solidFill>
            <a:prstDash val="solid"/>
          </a:ln>
        </p:spPr>
      </p:sp>
      <p:sp>
        <p:nvSpPr>
          <p:cNvPr id="16" name="cell-1-0"/>
          <p:cNvSpPr/>
          <p:nvPr/>
        </p:nvSpPr>
        <p:spPr>
          <a:xfrm>
            <a:off x="640080" y="2386584"/>
            <a:ext cx="384048" cy="384048"/>
          </a:xfrm>
          <a:prstGeom prst="rect">
            <a:avLst/>
          </a:prstGeom>
          <a:solidFill>
            <a:srgbClr val="E2E8F0"/>
          </a:solidFill>
          <a:ln w="12700">
            <a:solidFill>
              <a:srgbClr val="FFFFFF"/>
            </a:solidFill>
            <a:prstDash val="solid"/>
          </a:ln>
        </p:spPr>
      </p:sp>
      <p:sp>
        <p:nvSpPr>
          <p:cNvPr id="17" name="cell-1-1"/>
          <p:cNvSpPr/>
          <p:nvPr/>
        </p:nvSpPr>
        <p:spPr>
          <a:xfrm>
            <a:off x="1088136" y="2386584"/>
            <a:ext cx="384048" cy="384048"/>
          </a:xfrm>
          <a:prstGeom prst="rect">
            <a:avLst/>
          </a:prstGeom>
          <a:solidFill>
            <a:srgbClr val="E2E8F0"/>
          </a:solidFill>
          <a:ln w="12700">
            <a:solidFill>
              <a:srgbClr val="FFFFFF"/>
            </a:solidFill>
            <a:prstDash val="solid"/>
          </a:ln>
        </p:spPr>
      </p:sp>
      <p:sp>
        <p:nvSpPr>
          <p:cNvPr id="18" name="cell-1-2"/>
          <p:cNvSpPr/>
          <p:nvPr/>
        </p:nvSpPr>
        <p:spPr>
          <a:xfrm>
            <a:off x="1536192" y="2386584"/>
            <a:ext cx="384048" cy="384048"/>
          </a:xfrm>
          <a:prstGeom prst="rect">
            <a:avLst/>
          </a:prstGeom>
          <a:solidFill>
            <a:srgbClr val="0F4C81"/>
          </a:solidFill>
          <a:ln w="12700">
            <a:solidFill>
              <a:srgbClr val="FFFFFF"/>
            </a:solidFill>
            <a:prstDash val="solid"/>
          </a:ln>
        </p:spPr>
      </p:sp>
      <p:sp>
        <p:nvSpPr>
          <p:cNvPr id="19" name="cell-1-3"/>
          <p:cNvSpPr/>
          <p:nvPr/>
        </p:nvSpPr>
        <p:spPr>
          <a:xfrm>
            <a:off x="1984248" y="2386584"/>
            <a:ext cx="384048" cy="384048"/>
          </a:xfrm>
          <a:prstGeom prst="rect">
            <a:avLst/>
          </a:prstGeom>
          <a:solidFill>
            <a:srgbClr val="0F4C81"/>
          </a:solidFill>
          <a:ln w="12700">
            <a:solidFill>
              <a:srgbClr val="FFFFFF"/>
            </a:solidFill>
            <a:prstDash val="solid"/>
          </a:ln>
        </p:spPr>
      </p:sp>
      <p:sp>
        <p:nvSpPr>
          <p:cNvPr id="20" name="cell-1-4"/>
          <p:cNvSpPr/>
          <p:nvPr/>
        </p:nvSpPr>
        <p:spPr>
          <a:xfrm>
            <a:off x="2432304" y="2386584"/>
            <a:ext cx="384048" cy="384048"/>
          </a:xfrm>
          <a:prstGeom prst="rect">
            <a:avLst/>
          </a:prstGeom>
          <a:solidFill>
            <a:srgbClr val="0F4C81"/>
          </a:solidFill>
          <a:ln w="12700">
            <a:solidFill>
              <a:srgbClr val="FFFFFF"/>
            </a:solidFill>
            <a:prstDash val="solid"/>
          </a:ln>
        </p:spPr>
      </p:sp>
      <p:sp>
        <p:nvSpPr>
          <p:cNvPr id="21" name="cell-1-5"/>
          <p:cNvSpPr/>
          <p:nvPr/>
        </p:nvSpPr>
        <p:spPr>
          <a:xfrm>
            <a:off x="2880360" y="2386584"/>
            <a:ext cx="384048" cy="384048"/>
          </a:xfrm>
          <a:prstGeom prst="rect">
            <a:avLst/>
          </a:prstGeom>
          <a:solidFill>
            <a:srgbClr val="0F4C81"/>
          </a:solidFill>
          <a:ln w="12700">
            <a:solidFill>
              <a:srgbClr val="FFFFFF"/>
            </a:solidFill>
            <a:prstDash val="solid"/>
          </a:ln>
        </p:spPr>
      </p:sp>
      <p:sp>
        <p:nvSpPr>
          <p:cNvPr id="22" name="cell-1-6"/>
          <p:cNvSpPr/>
          <p:nvPr/>
        </p:nvSpPr>
        <p:spPr>
          <a:xfrm>
            <a:off x="3328416" y="2386584"/>
            <a:ext cx="384048" cy="384048"/>
          </a:xfrm>
          <a:prstGeom prst="rect">
            <a:avLst/>
          </a:prstGeom>
          <a:solidFill>
            <a:srgbClr val="0F4C81"/>
          </a:solidFill>
          <a:ln w="12700">
            <a:solidFill>
              <a:srgbClr val="FFFFFF"/>
            </a:solidFill>
            <a:prstDash val="solid"/>
          </a:ln>
        </p:spPr>
      </p:sp>
      <p:sp>
        <p:nvSpPr>
          <p:cNvPr id="23" name="cell-1-7"/>
          <p:cNvSpPr/>
          <p:nvPr/>
        </p:nvSpPr>
        <p:spPr>
          <a:xfrm>
            <a:off x="3776472" y="2386584"/>
            <a:ext cx="384048" cy="384048"/>
          </a:xfrm>
          <a:prstGeom prst="rect">
            <a:avLst/>
          </a:prstGeom>
          <a:solidFill>
            <a:srgbClr val="0F4C81"/>
          </a:solidFill>
          <a:ln w="12700">
            <a:solidFill>
              <a:srgbClr val="FFFFFF"/>
            </a:solidFill>
            <a:prstDash val="solid"/>
          </a:ln>
        </p:spPr>
      </p:sp>
      <p:sp>
        <p:nvSpPr>
          <p:cNvPr id="24" name="cell-1-8"/>
          <p:cNvSpPr/>
          <p:nvPr/>
        </p:nvSpPr>
        <p:spPr>
          <a:xfrm>
            <a:off x="4224528" y="2386584"/>
            <a:ext cx="384048" cy="384048"/>
          </a:xfrm>
          <a:prstGeom prst="rect">
            <a:avLst/>
          </a:prstGeom>
          <a:solidFill>
            <a:srgbClr val="0F4C81"/>
          </a:solidFill>
          <a:ln w="12700">
            <a:solidFill>
              <a:srgbClr val="FFFFFF"/>
            </a:solidFill>
            <a:prstDash val="solid"/>
          </a:ln>
        </p:spPr>
      </p:sp>
      <p:sp>
        <p:nvSpPr>
          <p:cNvPr id="25" name="cell-1-9"/>
          <p:cNvSpPr/>
          <p:nvPr/>
        </p:nvSpPr>
        <p:spPr>
          <a:xfrm>
            <a:off x="4672584" y="2386584"/>
            <a:ext cx="384048" cy="384048"/>
          </a:xfrm>
          <a:prstGeom prst="rect">
            <a:avLst/>
          </a:prstGeom>
          <a:solidFill>
            <a:srgbClr val="0F4C81"/>
          </a:solidFill>
          <a:ln w="12700">
            <a:solidFill>
              <a:srgbClr val="FFFFFF"/>
            </a:solidFill>
            <a:prstDash val="solid"/>
          </a:ln>
        </p:spPr>
      </p:sp>
      <p:sp>
        <p:nvSpPr>
          <p:cNvPr id="26" name="cell-1-10"/>
          <p:cNvSpPr/>
          <p:nvPr/>
        </p:nvSpPr>
        <p:spPr>
          <a:xfrm>
            <a:off x="5120640" y="2386584"/>
            <a:ext cx="384048" cy="384048"/>
          </a:xfrm>
          <a:prstGeom prst="rect">
            <a:avLst/>
          </a:prstGeom>
          <a:solidFill>
            <a:srgbClr val="0F4C81"/>
          </a:solidFill>
          <a:ln w="12700">
            <a:solidFill>
              <a:srgbClr val="FFFFFF"/>
            </a:solidFill>
            <a:prstDash val="solid"/>
          </a:ln>
        </p:spPr>
      </p:sp>
      <p:sp>
        <p:nvSpPr>
          <p:cNvPr id="27" name="cell-1-11"/>
          <p:cNvSpPr/>
          <p:nvPr/>
        </p:nvSpPr>
        <p:spPr>
          <a:xfrm>
            <a:off x="5568696" y="2386584"/>
            <a:ext cx="384048" cy="384048"/>
          </a:xfrm>
          <a:prstGeom prst="rect">
            <a:avLst/>
          </a:prstGeom>
          <a:solidFill>
            <a:srgbClr val="0F4C81"/>
          </a:solidFill>
          <a:ln w="12700">
            <a:solidFill>
              <a:srgbClr val="FFFFFF"/>
            </a:solidFill>
            <a:prstDash val="solid"/>
          </a:ln>
        </p:spPr>
      </p:sp>
      <p:sp>
        <p:nvSpPr>
          <p:cNvPr id="28" name="cell-2-0"/>
          <p:cNvSpPr/>
          <p:nvPr/>
        </p:nvSpPr>
        <p:spPr>
          <a:xfrm>
            <a:off x="640080" y="2852928"/>
            <a:ext cx="384048" cy="384048"/>
          </a:xfrm>
          <a:prstGeom prst="rect">
            <a:avLst/>
          </a:prstGeom>
          <a:solidFill>
            <a:srgbClr val="0F4C81"/>
          </a:solidFill>
          <a:ln w="12700">
            <a:solidFill>
              <a:srgbClr val="FFFFFF"/>
            </a:solidFill>
            <a:prstDash val="solid"/>
          </a:ln>
        </p:spPr>
      </p:sp>
      <p:sp>
        <p:nvSpPr>
          <p:cNvPr id="29" name="cell-2-1"/>
          <p:cNvSpPr/>
          <p:nvPr/>
        </p:nvSpPr>
        <p:spPr>
          <a:xfrm>
            <a:off x="1088136" y="2852928"/>
            <a:ext cx="384048" cy="384048"/>
          </a:xfrm>
          <a:prstGeom prst="rect">
            <a:avLst/>
          </a:prstGeom>
          <a:solidFill>
            <a:srgbClr val="0F4C81"/>
          </a:solidFill>
          <a:ln w="12700">
            <a:solidFill>
              <a:srgbClr val="FFFFFF"/>
            </a:solidFill>
            <a:prstDash val="solid"/>
          </a:ln>
        </p:spPr>
      </p:sp>
      <p:sp>
        <p:nvSpPr>
          <p:cNvPr id="30" name="cell-2-2"/>
          <p:cNvSpPr/>
          <p:nvPr/>
        </p:nvSpPr>
        <p:spPr>
          <a:xfrm>
            <a:off x="1536192" y="2852928"/>
            <a:ext cx="384048" cy="384048"/>
          </a:xfrm>
          <a:prstGeom prst="rect">
            <a:avLst/>
          </a:prstGeom>
          <a:solidFill>
            <a:srgbClr val="0F4C81"/>
          </a:solidFill>
          <a:ln w="12700">
            <a:solidFill>
              <a:srgbClr val="FFFFFF"/>
            </a:solidFill>
            <a:prstDash val="solid"/>
          </a:ln>
        </p:spPr>
      </p:sp>
      <p:sp>
        <p:nvSpPr>
          <p:cNvPr id="31" name="cell-2-3"/>
          <p:cNvSpPr/>
          <p:nvPr/>
        </p:nvSpPr>
        <p:spPr>
          <a:xfrm>
            <a:off x="1984248" y="2852928"/>
            <a:ext cx="384048" cy="384048"/>
          </a:xfrm>
          <a:prstGeom prst="rect">
            <a:avLst/>
          </a:prstGeom>
          <a:solidFill>
            <a:srgbClr val="0F4C81"/>
          </a:solidFill>
          <a:ln w="12700">
            <a:solidFill>
              <a:srgbClr val="FFFFFF"/>
            </a:solidFill>
            <a:prstDash val="solid"/>
          </a:ln>
        </p:spPr>
      </p:sp>
      <p:sp>
        <p:nvSpPr>
          <p:cNvPr id="32" name="cell-2-4"/>
          <p:cNvSpPr/>
          <p:nvPr/>
        </p:nvSpPr>
        <p:spPr>
          <a:xfrm>
            <a:off x="2432304" y="2852928"/>
            <a:ext cx="384048" cy="384048"/>
          </a:xfrm>
          <a:prstGeom prst="rect">
            <a:avLst/>
          </a:prstGeom>
          <a:solidFill>
            <a:srgbClr val="0F4C81"/>
          </a:solidFill>
          <a:ln w="12700">
            <a:solidFill>
              <a:srgbClr val="FFFFFF"/>
            </a:solidFill>
            <a:prstDash val="solid"/>
          </a:ln>
        </p:spPr>
      </p:sp>
      <p:sp>
        <p:nvSpPr>
          <p:cNvPr id="33" name="cell-2-5"/>
          <p:cNvSpPr/>
          <p:nvPr/>
        </p:nvSpPr>
        <p:spPr>
          <a:xfrm>
            <a:off x="2880360" y="2852928"/>
            <a:ext cx="384048" cy="384048"/>
          </a:xfrm>
          <a:prstGeom prst="rect">
            <a:avLst/>
          </a:prstGeom>
          <a:solidFill>
            <a:srgbClr val="0F4C81"/>
          </a:solidFill>
          <a:ln w="12700">
            <a:solidFill>
              <a:srgbClr val="FFFFFF"/>
            </a:solidFill>
            <a:prstDash val="solid"/>
          </a:ln>
        </p:spPr>
      </p:sp>
      <p:sp>
        <p:nvSpPr>
          <p:cNvPr id="34" name="cell-2-6"/>
          <p:cNvSpPr/>
          <p:nvPr/>
        </p:nvSpPr>
        <p:spPr>
          <a:xfrm>
            <a:off x="3328416" y="2852928"/>
            <a:ext cx="384048" cy="384048"/>
          </a:xfrm>
          <a:prstGeom prst="rect">
            <a:avLst/>
          </a:prstGeom>
          <a:solidFill>
            <a:srgbClr val="E2E8F0"/>
          </a:solidFill>
          <a:ln w="12700">
            <a:solidFill>
              <a:srgbClr val="FFFFFF"/>
            </a:solidFill>
            <a:prstDash val="solid"/>
          </a:ln>
        </p:spPr>
      </p:sp>
      <p:sp>
        <p:nvSpPr>
          <p:cNvPr id="35" name="cell-2-7"/>
          <p:cNvSpPr/>
          <p:nvPr/>
        </p:nvSpPr>
        <p:spPr>
          <a:xfrm>
            <a:off x="3776472" y="2852928"/>
            <a:ext cx="384048" cy="384048"/>
          </a:xfrm>
          <a:prstGeom prst="rect">
            <a:avLst/>
          </a:prstGeom>
          <a:solidFill>
            <a:srgbClr val="E2E8F0"/>
          </a:solidFill>
          <a:ln w="12700">
            <a:solidFill>
              <a:srgbClr val="FFFFFF"/>
            </a:solidFill>
            <a:prstDash val="solid"/>
          </a:ln>
        </p:spPr>
      </p:sp>
      <p:sp>
        <p:nvSpPr>
          <p:cNvPr id="36" name="cell-2-8"/>
          <p:cNvSpPr/>
          <p:nvPr/>
        </p:nvSpPr>
        <p:spPr>
          <a:xfrm>
            <a:off x="4224528" y="2852928"/>
            <a:ext cx="384048" cy="384048"/>
          </a:xfrm>
          <a:prstGeom prst="rect">
            <a:avLst/>
          </a:prstGeom>
          <a:solidFill>
            <a:srgbClr val="E2E8F0"/>
          </a:solidFill>
          <a:ln w="12700">
            <a:solidFill>
              <a:srgbClr val="FFFFFF"/>
            </a:solidFill>
            <a:prstDash val="solid"/>
          </a:ln>
        </p:spPr>
      </p:sp>
      <p:sp>
        <p:nvSpPr>
          <p:cNvPr id="37" name="cell-2-9"/>
          <p:cNvSpPr/>
          <p:nvPr/>
        </p:nvSpPr>
        <p:spPr>
          <a:xfrm>
            <a:off x="4672584" y="2852928"/>
            <a:ext cx="384048" cy="384048"/>
          </a:xfrm>
          <a:prstGeom prst="rect">
            <a:avLst/>
          </a:prstGeom>
          <a:solidFill>
            <a:srgbClr val="E2E8F0"/>
          </a:solidFill>
          <a:ln w="12700">
            <a:solidFill>
              <a:srgbClr val="FFFFFF"/>
            </a:solidFill>
            <a:prstDash val="solid"/>
          </a:ln>
        </p:spPr>
      </p:sp>
      <p:sp>
        <p:nvSpPr>
          <p:cNvPr id="38" name="cell-2-10"/>
          <p:cNvSpPr/>
          <p:nvPr/>
        </p:nvSpPr>
        <p:spPr>
          <a:xfrm>
            <a:off x="5120640" y="2852928"/>
            <a:ext cx="384048" cy="384048"/>
          </a:xfrm>
          <a:prstGeom prst="rect">
            <a:avLst/>
          </a:prstGeom>
          <a:solidFill>
            <a:srgbClr val="E2E8F0"/>
          </a:solidFill>
          <a:ln w="12700">
            <a:solidFill>
              <a:srgbClr val="FFFFFF"/>
            </a:solidFill>
            <a:prstDash val="solid"/>
          </a:ln>
        </p:spPr>
      </p:sp>
      <p:sp>
        <p:nvSpPr>
          <p:cNvPr id="39" name="cell-2-11"/>
          <p:cNvSpPr/>
          <p:nvPr/>
        </p:nvSpPr>
        <p:spPr>
          <a:xfrm>
            <a:off x="5568696" y="2852928"/>
            <a:ext cx="384048" cy="384048"/>
          </a:xfrm>
          <a:prstGeom prst="rect">
            <a:avLst/>
          </a:prstGeom>
          <a:solidFill>
            <a:srgbClr val="E2E8F0"/>
          </a:solidFill>
          <a:ln w="12700">
            <a:solidFill>
              <a:srgbClr val="FFFFFF"/>
            </a:solidFill>
            <a:prstDash val="solid"/>
          </a:ln>
        </p:spPr>
      </p:sp>
      <p:sp>
        <p:nvSpPr>
          <p:cNvPr id="40" name="cell-3-0"/>
          <p:cNvSpPr/>
          <p:nvPr/>
        </p:nvSpPr>
        <p:spPr>
          <a:xfrm>
            <a:off x="640080" y="3319272"/>
            <a:ext cx="384048" cy="384048"/>
          </a:xfrm>
          <a:prstGeom prst="rect">
            <a:avLst/>
          </a:prstGeom>
          <a:solidFill>
            <a:srgbClr val="0F4C81"/>
          </a:solidFill>
          <a:ln w="12700">
            <a:solidFill>
              <a:srgbClr val="FFFFFF"/>
            </a:solidFill>
            <a:prstDash val="solid"/>
          </a:ln>
        </p:spPr>
      </p:sp>
      <p:sp>
        <p:nvSpPr>
          <p:cNvPr id="41" name="cell-3-1"/>
          <p:cNvSpPr/>
          <p:nvPr/>
        </p:nvSpPr>
        <p:spPr>
          <a:xfrm>
            <a:off x="1088136" y="3319272"/>
            <a:ext cx="384048" cy="384048"/>
          </a:xfrm>
          <a:prstGeom prst="rect">
            <a:avLst/>
          </a:prstGeom>
          <a:solidFill>
            <a:srgbClr val="0F4C81"/>
          </a:solidFill>
          <a:ln w="12700">
            <a:solidFill>
              <a:srgbClr val="FFFFFF"/>
            </a:solidFill>
            <a:prstDash val="solid"/>
          </a:ln>
        </p:spPr>
      </p:sp>
      <p:sp>
        <p:nvSpPr>
          <p:cNvPr id="42" name="cell-3-2"/>
          <p:cNvSpPr/>
          <p:nvPr/>
        </p:nvSpPr>
        <p:spPr>
          <a:xfrm>
            <a:off x="1536192" y="3319272"/>
            <a:ext cx="384048" cy="384048"/>
          </a:xfrm>
          <a:prstGeom prst="rect">
            <a:avLst/>
          </a:prstGeom>
          <a:solidFill>
            <a:srgbClr val="0F4C81"/>
          </a:solidFill>
          <a:ln w="12700">
            <a:solidFill>
              <a:srgbClr val="FFFFFF"/>
            </a:solidFill>
            <a:prstDash val="solid"/>
          </a:ln>
        </p:spPr>
      </p:sp>
      <p:sp>
        <p:nvSpPr>
          <p:cNvPr id="43" name="cell-3-3"/>
          <p:cNvSpPr/>
          <p:nvPr/>
        </p:nvSpPr>
        <p:spPr>
          <a:xfrm>
            <a:off x="1984248" y="3319272"/>
            <a:ext cx="384048" cy="384048"/>
          </a:xfrm>
          <a:prstGeom prst="rect">
            <a:avLst/>
          </a:prstGeom>
          <a:solidFill>
            <a:srgbClr val="0F4C81"/>
          </a:solidFill>
          <a:ln w="12700">
            <a:solidFill>
              <a:srgbClr val="FFFFFF"/>
            </a:solidFill>
            <a:prstDash val="solid"/>
          </a:ln>
        </p:spPr>
      </p:sp>
      <p:sp>
        <p:nvSpPr>
          <p:cNvPr id="44" name="cell-3-4"/>
          <p:cNvSpPr/>
          <p:nvPr/>
        </p:nvSpPr>
        <p:spPr>
          <a:xfrm>
            <a:off x="2432304" y="3319272"/>
            <a:ext cx="384048" cy="384048"/>
          </a:xfrm>
          <a:prstGeom prst="rect">
            <a:avLst/>
          </a:prstGeom>
          <a:solidFill>
            <a:srgbClr val="0F4C81"/>
          </a:solidFill>
          <a:ln w="12700">
            <a:solidFill>
              <a:srgbClr val="FFFFFF"/>
            </a:solidFill>
            <a:prstDash val="solid"/>
          </a:ln>
        </p:spPr>
      </p:sp>
      <p:sp>
        <p:nvSpPr>
          <p:cNvPr id="45" name="cell-3-5"/>
          <p:cNvSpPr/>
          <p:nvPr/>
        </p:nvSpPr>
        <p:spPr>
          <a:xfrm>
            <a:off x="2880360" y="3319272"/>
            <a:ext cx="384048" cy="384048"/>
          </a:xfrm>
          <a:prstGeom prst="rect">
            <a:avLst/>
          </a:prstGeom>
          <a:solidFill>
            <a:srgbClr val="0F4C81"/>
          </a:solidFill>
          <a:ln w="12700">
            <a:solidFill>
              <a:srgbClr val="FFFFFF"/>
            </a:solidFill>
            <a:prstDash val="solid"/>
          </a:ln>
        </p:spPr>
      </p:sp>
      <p:sp>
        <p:nvSpPr>
          <p:cNvPr id="46" name="cell-3-6"/>
          <p:cNvSpPr/>
          <p:nvPr/>
        </p:nvSpPr>
        <p:spPr>
          <a:xfrm>
            <a:off x="3328416" y="3319272"/>
            <a:ext cx="384048" cy="384048"/>
          </a:xfrm>
          <a:prstGeom prst="rect">
            <a:avLst/>
          </a:prstGeom>
          <a:solidFill>
            <a:srgbClr val="0F4C81"/>
          </a:solidFill>
          <a:ln w="12700">
            <a:solidFill>
              <a:srgbClr val="FFFFFF"/>
            </a:solidFill>
            <a:prstDash val="solid"/>
          </a:ln>
        </p:spPr>
      </p:sp>
      <p:sp>
        <p:nvSpPr>
          <p:cNvPr id="47" name="cell-3-7"/>
          <p:cNvSpPr/>
          <p:nvPr/>
        </p:nvSpPr>
        <p:spPr>
          <a:xfrm>
            <a:off x="3776472" y="3319272"/>
            <a:ext cx="384048" cy="384048"/>
          </a:xfrm>
          <a:prstGeom prst="rect">
            <a:avLst/>
          </a:prstGeom>
          <a:solidFill>
            <a:srgbClr val="0F4C81"/>
          </a:solidFill>
          <a:ln w="12700">
            <a:solidFill>
              <a:srgbClr val="FFFFFF"/>
            </a:solidFill>
            <a:prstDash val="solid"/>
          </a:ln>
        </p:spPr>
      </p:sp>
      <p:sp>
        <p:nvSpPr>
          <p:cNvPr id="48" name="cell-3-8"/>
          <p:cNvSpPr/>
          <p:nvPr/>
        </p:nvSpPr>
        <p:spPr>
          <a:xfrm>
            <a:off x="4224528" y="3319272"/>
            <a:ext cx="384048" cy="384048"/>
          </a:xfrm>
          <a:prstGeom prst="rect">
            <a:avLst/>
          </a:prstGeom>
          <a:solidFill>
            <a:srgbClr val="0F4C81"/>
          </a:solidFill>
          <a:ln w="12700">
            <a:solidFill>
              <a:srgbClr val="FFFFFF"/>
            </a:solidFill>
            <a:prstDash val="solid"/>
          </a:ln>
        </p:spPr>
      </p:sp>
      <p:sp>
        <p:nvSpPr>
          <p:cNvPr id="49" name="cell-3-9"/>
          <p:cNvSpPr/>
          <p:nvPr/>
        </p:nvSpPr>
        <p:spPr>
          <a:xfrm>
            <a:off x="4672584" y="3319272"/>
            <a:ext cx="384048" cy="384048"/>
          </a:xfrm>
          <a:prstGeom prst="rect">
            <a:avLst/>
          </a:prstGeom>
          <a:solidFill>
            <a:srgbClr val="0F4C81"/>
          </a:solidFill>
          <a:ln w="12700">
            <a:solidFill>
              <a:srgbClr val="FFFFFF"/>
            </a:solidFill>
            <a:prstDash val="solid"/>
          </a:ln>
        </p:spPr>
      </p:sp>
      <p:sp>
        <p:nvSpPr>
          <p:cNvPr id="50" name="cell-3-10"/>
          <p:cNvSpPr/>
          <p:nvPr/>
        </p:nvSpPr>
        <p:spPr>
          <a:xfrm>
            <a:off x="5120640" y="3319272"/>
            <a:ext cx="384048" cy="384048"/>
          </a:xfrm>
          <a:prstGeom prst="rect">
            <a:avLst/>
          </a:prstGeom>
          <a:solidFill>
            <a:srgbClr val="0F4C81"/>
          </a:solidFill>
          <a:ln w="12700">
            <a:solidFill>
              <a:srgbClr val="FFFFFF"/>
            </a:solidFill>
            <a:prstDash val="solid"/>
          </a:ln>
        </p:spPr>
      </p:sp>
      <p:sp>
        <p:nvSpPr>
          <p:cNvPr id="51" name="cell-3-11"/>
          <p:cNvSpPr/>
          <p:nvPr/>
        </p:nvSpPr>
        <p:spPr>
          <a:xfrm>
            <a:off x="5568696" y="3319272"/>
            <a:ext cx="384048" cy="384048"/>
          </a:xfrm>
          <a:prstGeom prst="rect">
            <a:avLst/>
          </a:prstGeom>
          <a:solidFill>
            <a:srgbClr val="0F4C81"/>
          </a:solidFill>
          <a:ln w="12700">
            <a:solidFill>
              <a:srgbClr val="FFFFFF"/>
            </a:solidFill>
            <a:prstDash val="solid"/>
          </a:ln>
        </p:spPr>
      </p:sp>
      <p:sp>
        <p:nvSpPr>
          <p:cNvPr id="52" name="cell-4-0"/>
          <p:cNvSpPr/>
          <p:nvPr/>
        </p:nvSpPr>
        <p:spPr>
          <a:xfrm>
            <a:off x="640080" y="3785616"/>
            <a:ext cx="384048" cy="384048"/>
          </a:xfrm>
          <a:prstGeom prst="rect">
            <a:avLst/>
          </a:prstGeom>
          <a:solidFill>
            <a:srgbClr val="E2E8F0"/>
          </a:solidFill>
          <a:ln w="12700">
            <a:solidFill>
              <a:srgbClr val="FFFFFF"/>
            </a:solidFill>
            <a:prstDash val="solid"/>
          </a:ln>
        </p:spPr>
      </p:sp>
      <p:sp>
        <p:nvSpPr>
          <p:cNvPr id="53" name="cell-4-1"/>
          <p:cNvSpPr/>
          <p:nvPr/>
        </p:nvSpPr>
        <p:spPr>
          <a:xfrm>
            <a:off x="1088136" y="3785616"/>
            <a:ext cx="384048" cy="384048"/>
          </a:xfrm>
          <a:prstGeom prst="rect">
            <a:avLst/>
          </a:prstGeom>
          <a:solidFill>
            <a:srgbClr val="E2E8F0"/>
          </a:solidFill>
          <a:ln w="12700">
            <a:solidFill>
              <a:srgbClr val="FFFFFF"/>
            </a:solidFill>
            <a:prstDash val="solid"/>
          </a:ln>
        </p:spPr>
      </p:sp>
      <p:sp>
        <p:nvSpPr>
          <p:cNvPr id="54" name="cell-4-2"/>
          <p:cNvSpPr/>
          <p:nvPr/>
        </p:nvSpPr>
        <p:spPr>
          <a:xfrm>
            <a:off x="1536192" y="3785616"/>
            <a:ext cx="384048" cy="384048"/>
          </a:xfrm>
          <a:prstGeom prst="rect">
            <a:avLst/>
          </a:prstGeom>
          <a:solidFill>
            <a:srgbClr val="E2E8F0"/>
          </a:solidFill>
          <a:ln w="12700">
            <a:solidFill>
              <a:srgbClr val="FFFFFF"/>
            </a:solidFill>
            <a:prstDash val="solid"/>
          </a:ln>
        </p:spPr>
      </p:sp>
      <p:sp>
        <p:nvSpPr>
          <p:cNvPr id="55" name="cell-4-3"/>
          <p:cNvSpPr/>
          <p:nvPr/>
        </p:nvSpPr>
        <p:spPr>
          <a:xfrm>
            <a:off x="1984248" y="3785616"/>
            <a:ext cx="384048" cy="384048"/>
          </a:xfrm>
          <a:prstGeom prst="rect">
            <a:avLst/>
          </a:prstGeom>
          <a:solidFill>
            <a:srgbClr val="E2E8F0"/>
          </a:solidFill>
          <a:ln w="12700">
            <a:solidFill>
              <a:srgbClr val="FFFFFF"/>
            </a:solidFill>
            <a:prstDash val="solid"/>
          </a:ln>
        </p:spPr>
      </p:sp>
      <p:sp>
        <p:nvSpPr>
          <p:cNvPr id="56" name="cell-4-4"/>
          <p:cNvSpPr/>
          <p:nvPr/>
        </p:nvSpPr>
        <p:spPr>
          <a:xfrm>
            <a:off x="2432304" y="3785616"/>
            <a:ext cx="384048" cy="384048"/>
          </a:xfrm>
          <a:prstGeom prst="rect">
            <a:avLst/>
          </a:prstGeom>
          <a:solidFill>
            <a:srgbClr val="0F4C81"/>
          </a:solidFill>
          <a:ln w="12700">
            <a:solidFill>
              <a:srgbClr val="FFFFFF"/>
            </a:solidFill>
            <a:prstDash val="solid"/>
          </a:ln>
        </p:spPr>
      </p:sp>
      <p:sp>
        <p:nvSpPr>
          <p:cNvPr id="57" name="cell-4-5"/>
          <p:cNvSpPr/>
          <p:nvPr/>
        </p:nvSpPr>
        <p:spPr>
          <a:xfrm>
            <a:off x="2880360" y="3785616"/>
            <a:ext cx="384048" cy="384048"/>
          </a:xfrm>
          <a:prstGeom prst="rect">
            <a:avLst/>
          </a:prstGeom>
          <a:solidFill>
            <a:srgbClr val="0F4C81"/>
          </a:solidFill>
          <a:ln w="12700">
            <a:solidFill>
              <a:srgbClr val="FFFFFF"/>
            </a:solidFill>
            <a:prstDash val="solid"/>
          </a:ln>
        </p:spPr>
      </p:sp>
      <p:sp>
        <p:nvSpPr>
          <p:cNvPr id="58" name="cell-4-6"/>
          <p:cNvSpPr/>
          <p:nvPr/>
        </p:nvSpPr>
        <p:spPr>
          <a:xfrm>
            <a:off x="3328416" y="3785616"/>
            <a:ext cx="384048" cy="384048"/>
          </a:xfrm>
          <a:prstGeom prst="rect">
            <a:avLst/>
          </a:prstGeom>
          <a:solidFill>
            <a:srgbClr val="0F4C81"/>
          </a:solidFill>
          <a:ln w="12700">
            <a:solidFill>
              <a:srgbClr val="FFFFFF"/>
            </a:solidFill>
            <a:prstDash val="solid"/>
          </a:ln>
        </p:spPr>
      </p:sp>
      <p:sp>
        <p:nvSpPr>
          <p:cNvPr id="59" name="cell-4-7"/>
          <p:cNvSpPr/>
          <p:nvPr/>
        </p:nvSpPr>
        <p:spPr>
          <a:xfrm>
            <a:off x="3776472" y="3785616"/>
            <a:ext cx="384048" cy="384048"/>
          </a:xfrm>
          <a:prstGeom prst="rect">
            <a:avLst/>
          </a:prstGeom>
          <a:solidFill>
            <a:srgbClr val="0F4C81"/>
          </a:solidFill>
          <a:ln w="12700">
            <a:solidFill>
              <a:srgbClr val="FFFFFF"/>
            </a:solidFill>
            <a:prstDash val="solid"/>
          </a:ln>
        </p:spPr>
      </p:sp>
      <p:sp>
        <p:nvSpPr>
          <p:cNvPr id="60" name="cell-4-8"/>
          <p:cNvSpPr/>
          <p:nvPr/>
        </p:nvSpPr>
        <p:spPr>
          <a:xfrm>
            <a:off x="4224528" y="3785616"/>
            <a:ext cx="384048" cy="384048"/>
          </a:xfrm>
          <a:prstGeom prst="rect">
            <a:avLst/>
          </a:prstGeom>
          <a:solidFill>
            <a:srgbClr val="E2E8F0"/>
          </a:solidFill>
          <a:ln w="12700">
            <a:solidFill>
              <a:srgbClr val="FFFFFF"/>
            </a:solidFill>
            <a:prstDash val="solid"/>
          </a:ln>
        </p:spPr>
      </p:sp>
      <p:sp>
        <p:nvSpPr>
          <p:cNvPr id="61" name="cell-4-9"/>
          <p:cNvSpPr/>
          <p:nvPr/>
        </p:nvSpPr>
        <p:spPr>
          <a:xfrm>
            <a:off x="4672584" y="3785616"/>
            <a:ext cx="384048" cy="384048"/>
          </a:xfrm>
          <a:prstGeom prst="rect">
            <a:avLst/>
          </a:prstGeom>
          <a:solidFill>
            <a:srgbClr val="E2E8F0"/>
          </a:solidFill>
          <a:ln w="12700">
            <a:solidFill>
              <a:srgbClr val="FFFFFF"/>
            </a:solidFill>
            <a:prstDash val="solid"/>
          </a:ln>
        </p:spPr>
      </p:sp>
      <p:sp>
        <p:nvSpPr>
          <p:cNvPr id="62" name="cell-4-10"/>
          <p:cNvSpPr/>
          <p:nvPr/>
        </p:nvSpPr>
        <p:spPr>
          <a:xfrm>
            <a:off x="5120640" y="3785616"/>
            <a:ext cx="384048" cy="384048"/>
          </a:xfrm>
          <a:prstGeom prst="rect">
            <a:avLst/>
          </a:prstGeom>
          <a:solidFill>
            <a:srgbClr val="0F4C81"/>
          </a:solidFill>
          <a:ln w="12700">
            <a:solidFill>
              <a:srgbClr val="FFFFFF"/>
            </a:solidFill>
            <a:prstDash val="solid"/>
          </a:ln>
        </p:spPr>
      </p:sp>
      <p:sp>
        <p:nvSpPr>
          <p:cNvPr id="63" name="cell-4-11"/>
          <p:cNvSpPr/>
          <p:nvPr/>
        </p:nvSpPr>
        <p:spPr>
          <a:xfrm>
            <a:off x="5568696" y="3785616"/>
            <a:ext cx="384048" cy="384048"/>
          </a:xfrm>
          <a:prstGeom prst="rect">
            <a:avLst/>
          </a:prstGeom>
          <a:solidFill>
            <a:srgbClr val="0F4C81"/>
          </a:solidFill>
          <a:ln w="12700">
            <a:solidFill>
              <a:srgbClr val="FFFFFF"/>
            </a:solidFill>
            <a:prstDash val="solid"/>
          </a:ln>
        </p:spPr>
      </p:sp>
      <p:sp>
        <p:nvSpPr>
          <p:cNvPr id="64" name="Text 62"/>
          <p:cNvSpPr txBox="1"/>
          <p:nvPr/>
        </p:nvSpPr>
        <p:spPr>
          <a:xfrm>
            <a:off x="621792" y="4297680"/>
            <a:ext cx="1828800" cy="274320"/>
          </a:xfrm>
          <a:prstGeom prst="rect">
            <a:avLst/>
          </a:prstGeom>
          <a:noFill/>
          <a:ln/>
        </p:spPr>
        <p:txBody>
          <a:bodyPr wrap="square" lIns="0" tIns="0" rIns="0" bIns="0" rtlCol="0" anchor="ctr"/>
          <a:lstStyle/>
          <a:p>
            <a:pPr indent="0" marL="0">
              <a:buNone/>
            </a:pPr>
            <a:r>
              <a:rPr lang="en-US" sz="1200" dirty="0">
                <a:solidFill>
                  <a:schemeClr val="accent5"/>
                </a:solidFill>
              </a:rPr>
              <a:t>experts</a:t>
            </a:r>
            <a:endParaRPr lang="en-US" sz="1200" dirty="0"/>
          </a:p>
        </p:txBody>
      </p:sp>
      <p:sp>
        <p:nvSpPr>
          <p:cNvPr id="65" name="Text 63"/>
          <p:cNvSpPr txBox="1"/>
          <p:nvPr/>
        </p:nvSpPr>
        <p:spPr>
          <a:xfrm>
            <a:off x="4480560" y="4297680"/>
            <a:ext cx="1828800" cy="274320"/>
          </a:xfrm>
          <a:prstGeom prst="rect">
            <a:avLst/>
          </a:prstGeom>
          <a:noFill/>
          <a:ln/>
        </p:spPr>
        <p:txBody>
          <a:bodyPr wrap="square" lIns="0" tIns="0" rIns="0" bIns="0" rtlCol="0" anchor="ctr"/>
          <a:lstStyle/>
          <a:p>
            <a:pPr indent="0" marL="0">
              <a:buNone/>
            </a:pPr>
            <a:r>
              <a:rPr lang="en-US" sz="1200" dirty="0">
                <a:solidFill>
                  <a:schemeClr val="accent5"/>
                </a:solidFill>
              </a:rPr>
              <a:t>rounds  →</a:t>
            </a:r>
            <a:endParaRPr lang="en-US" sz="1200" dirty="0"/>
          </a:p>
        </p:txBody>
      </p:sp>
      <p:sp>
        <p:nvSpPr>
          <p:cNvPr id="66" name="rules"/>
          <p:cNvSpPr/>
          <p:nvPr/>
        </p:nvSpPr>
        <p:spPr>
          <a:xfrm>
            <a:off x="6309360" y="1828800"/>
            <a:ext cx="5212080" cy="2834640"/>
          </a:xfrm>
          <a:prstGeom prst="roundRect">
            <a:avLst>
              <a:gd name="adj" fmla="val 2581"/>
            </a:avLst>
          </a:prstGeom>
          <a:solidFill>
            <a:srgbClr val="F2F5F9"/>
          </a:solidFill>
          <a:ln w="12700">
            <a:solidFill>
              <a:srgbClr val="E2E8F0"/>
            </a:solidFill>
            <a:prstDash val="solid"/>
          </a:ln>
        </p:spPr>
      </p:sp>
      <p:sp>
        <p:nvSpPr>
          <p:cNvPr id="67" name="Text 65"/>
          <p:cNvSpPr txBox="1"/>
          <p:nvPr/>
        </p:nvSpPr>
        <p:spPr>
          <a:xfrm>
            <a:off x="6629400" y="2057400"/>
            <a:ext cx="4572000" cy="2377440"/>
          </a:xfrm>
          <a:prstGeom prst="rect">
            <a:avLst/>
          </a:prstGeom>
          <a:noFill/>
          <a:ln/>
        </p:spPr>
        <p:txBody>
          <a:bodyPr wrap="square" rtlCol="0" anchor="ctr"/>
          <a:lstStyle/>
          <a:p>
            <a:pPr marL="342900" indent="-342900">
              <a:spcAft>
                <a:spcPts val="1000"/>
              </a:spcAft>
              <a:buSzPct val="100000"/>
              <a:buChar char="•"/>
            </a:pPr>
            <a:r>
              <a:rPr lang="en-US" sz="1500" dirty="0">
                <a:solidFill>
                  <a:schemeClr val="tx1"/>
                </a:solidFill>
              </a:rPr>
              <a:t>each expert keeps its own persistent state</a:t>
            </a:r>
            <a:endParaRPr lang="en-US" sz="1500" dirty="0"/>
          </a:p>
          <a:p>
            <a:pPr marL="342900" indent="-342900">
              <a:spcAft>
                <a:spcPts val="1000"/>
              </a:spcAft>
              <a:buSzPct val="100000"/>
              <a:buChar char="•"/>
            </a:pPr>
            <a:r>
              <a:rPr lang="en-US" sz="1500" dirty="0">
                <a:solidFill>
                  <a:schemeClr val="tx1"/>
                </a:solidFill>
              </a:rPr>
              <a:t>the prediction is renormalised over A(t) alone</a:t>
            </a:r>
            <a:endParaRPr lang="en-US" sz="1500" dirty="0"/>
          </a:p>
          <a:p>
            <a:pPr marL="342900" indent="-342900">
              <a:spcAft>
                <a:spcPts val="1000"/>
              </a:spcAft>
              <a:buSzPct val="100000"/>
              <a:buChar char="•"/>
            </a:pPr>
            <a:r>
              <a:rPr lang="en-US" sz="1500" dirty="0">
                <a:solidFill>
                  <a:schemeClr val="tx1"/>
                </a:solidFill>
              </a:rPr>
              <a:t>a sleeping expert is FROZEN, not decayed</a:t>
            </a:r>
            <a:endParaRPr lang="en-US" sz="1500" dirty="0"/>
          </a:p>
          <a:p>
            <a:pPr marL="342900" indent="-342900">
              <a:spcAft>
                <a:spcPts val="1000"/>
              </a:spcAft>
              <a:buSzPct val="100000"/>
              <a:buChar char="•"/>
            </a:pPr>
            <a:r>
              <a:rPr lang="en-US" sz="1500" dirty="0">
                <a:solidFill>
                  <a:schemeClr val="tx1"/>
                </a:solidFill>
              </a:rPr>
              <a:t>regret is measured over each expert's own awake rounds</a:t>
            </a:r>
            <a:endParaRPr lang="en-US" sz="1500" dirty="0"/>
          </a:p>
        </p:txBody>
      </p:sp>
      <p:sp>
        <p:nvSpPr>
          <p:cNvPr id="68" name="Text 66"/>
          <p:cNvSpPr txBox="1"/>
          <p:nvPr/>
        </p:nvSpPr>
        <p:spPr>
          <a:xfrm>
            <a:off x="640080" y="5029200"/>
            <a:ext cx="10881360" cy="457200"/>
          </a:xfrm>
          <a:prstGeom prst="rect">
            <a:avLst/>
          </a:prstGeom>
          <a:noFill/>
          <a:ln/>
        </p:spPr>
        <p:txBody>
          <a:bodyPr wrap="square" rtlCol="0" anchor="ctr"/>
          <a:lstStyle/>
          <a:p>
            <a:pPr indent="0" marL="0">
              <a:buNone/>
            </a:pPr>
            <a:r>
              <a:rPr lang="en-US" sz="1500" i="1" dirty="0">
                <a:solidFill>
                  <a:schemeClr val="accent5"/>
                </a:solidFill>
              </a:rPr>
              <a:t>A bookmaker covering 7% of matches therefore does not dilute the guarantee of the rest.</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Three algorithms, one reduction</a:t>
            </a:r>
            <a:endParaRPr lang="en-US" sz="3000" dirty="0"/>
          </a:p>
        </p:txBody>
      </p:sp>
      <p:sp>
        <p:nvSpPr>
          <p:cNvPr id="3" name="algo-0"/>
          <p:cNvSpPr/>
          <p:nvPr/>
        </p:nvSpPr>
        <p:spPr>
          <a:xfrm>
            <a:off x="640080" y="1554480"/>
            <a:ext cx="3429000" cy="3108960"/>
          </a:xfrm>
          <a:prstGeom prst="roundRect">
            <a:avLst>
              <a:gd name="adj" fmla="val 2353"/>
            </a:avLst>
          </a:prstGeom>
          <a:solidFill>
            <a:srgbClr val="F2F5F9"/>
          </a:solidFill>
          <a:ln w="12700">
            <a:solidFill>
              <a:srgbClr val="E2E8F0"/>
            </a:solidFill>
            <a:prstDash val="solid"/>
          </a:ln>
        </p:spPr>
      </p:sp>
      <p:sp>
        <p:nvSpPr>
          <p:cNvPr id="4" name="Text 2"/>
          <p:cNvSpPr txBox="1"/>
          <p:nvPr/>
        </p:nvSpPr>
        <p:spPr>
          <a:xfrm>
            <a:off x="914400" y="1783080"/>
            <a:ext cx="2926080" cy="457200"/>
          </a:xfrm>
          <a:prstGeom prst="rect">
            <a:avLst/>
          </a:prstGeom>
          <a:noFill/>
          <a:ln/>
        </p:spPr>
        <p:txBody>
          <a:bodyPr wrap="square" lIns="0" tIns="0" rIns="0" bIns="0" rtlCol="0" anchor="ctr"/>
          <a:lstStyle/>
          <a:p>
            <a:pPr indent="0" marL="0">
              <a:buNone/>
            </a:pPr>
            <a:r>
              <a:rPr lang="en-US" sz="2200" b="1" dirty="0">
                <a:solidFill>
                  <a:schemeClr val="accent1"/>
                </a:solidFill>
              </a:rPr>
              <a:t>Hedge</a:t>
            </a:r>
            <a:endParaRPr lang="en-US" sz="2200" dirty="0"/>
          </a:p>
        </p:txBody>
      </p:sp>
      <p:sp>
        <p:nvSpPr>
          <p:cNvPr id="5" name="Text 3"/>
          <p:cNvSpPr txBox="1"/>
          <p:nvPr/>
        </p:nvSpPr>
        <p:spPr>
          <a:xfrm>
            <a:off x="914400" y="2331720"/>
            <a:ext cx="2926080" cy="1463040"/>
          </a:xfrm>
          <a:prstGeom prst="rect">
            <a:avLst/>
          </a:prstGeom>
          <a:noFill/>
          <a:ln/>
        </p:spPr>
        <p:txBody>
          <a:bodyPr wrap="square" lIns="0" tIns="0" rIns="0" bIns="0" rtlCol="0" anchor="ctr"/>
          <a:lstStyle/>
          <a:p>
            <a:pPr indent="0" marL="0">
              <a:buNone/>
            </a:pPr>
            <a:r>
              <a:rPr lang="en-US" sz="1400" dirty="0">
                <a:solidFill>
                  <a:schemeClr val="tx1"/>
                </a:solidFill>
              </a:rPr>
              <a:t>Multiplicative weights.</a:t>
            </a:r>
            <a:endParaRPr lang="en-US" sz="1400" dirty="0"/>
          </a:p>
          <a:p>
            <a:pPr indent="0" marL="0">
              <a:buNone/>
            </a:pPr>
            <a:r>
              <a:rPr lang="en-US" sz="1400" dirty="0">
                <a:solidFill>
                  <a:schemeClr val="tx1"/>
                </a:solidFill>
              </a:rPr>
              <a:t>η sits in an exponent over</a:t>
            </a:r>
            <a:endParaRPr lang="en-US" sz="1400" dirty="0"/>
          </a:p>
          <a:p>
            <a:pPr indent="0" marL="0">
              <a:buNone/>
            </a:pPr>
            <a:r>
              <a:rPr lang="en-US" sz="1400" dirty="0">
                <a:solidFill>
                  <a:schemeClr val="tx1"/>
                </a:solidFill>
              </a:rPr>
              <a:t>one round's loss.</a:t>
            </a:r>
            <a:endParaRPr lang="en-US" sz="1400" dirty="0"/>
          </a:p>
        </p:txBody>
      </p:sp>
      <p:sp>
        <p:nvSpPr>
          <p:cNvPr id="6" name="Text 4"/>
          <p:cNvSpPr txBox="1"/>
          <p:nvPr/>
        </p:nvSpPr>
        <p:spPr>
          <a:xfrm>
            <a:off x="914400" y="3931920"/>
            <a:ext cx="2926080" cy="457200"/>
          </a:xfrm>
          <a:prstGeom prst="rect">
            <a:avLst/>
          </a:prstGeom>
          <a:noFill/>
          <a:ln/>
        </p:spPr>
        <p:txBody>
          <a:bodyPr wrap="square" lIns="0" tIns="0" rIns="0" bIns="0" rtlCol="0" anchor="ctr"/>
          <a:lstStyle/>
          <a:p>
            <a:pPr indent="0" marL="0">
              <a:buNone/>
            </a:pPr>
            <a:r>
              <a:rPr lang="en-US" sz="1500" b="1" dirty="0">
                <a:solidFill>
                  <a:schemeClr val="tx2"/>
                </a:solidFill>
              </a:rPr>
              <a:t>O(√(T log N))</a:t>
            </a:r>
            <a:endParaRPr lang="en-US" sz="1500" dirty="0"/>
          </a:p>
        </p:txBody>
      </p:sp>
      <p:sp>
        <p:nvSpPr>
          <p:cNvPr id="7" name="algo-1"/>
          <p:cNvSpPr/>
          <p:nvPr/>
        </p:nvSpPr>
        <p:spPr>
          <a:xfrm>
            <a:off x="4343400" y="1554480"/>
            <a:ext cx="3429000" cy="3108960"/>
          </a:xfrm>
          <a:prstGeom prst="roundRect">
            <a:avLst>
              <a:gd name="adj" fmla="val 2353"/>
            </a:avLst>
          </a:prstGeom>
          <a:solidFill>
            <a:srgbClr val="F2F5F9"/>
          </a:solidFill>
          <a:ln w="12700">
            <a:solidFill>
              <a:srgbClr val="E2E8F0"/>
            </a:solidFill>
            <a:prstDash val="solid"/>
          </a:ln>
        </p:spPr>
      </p:sp>
      <p:sp>
        <p:nvSpPr>
          <p:cNvPr id="8" name="Text 6"/>
          <p:cNvSpPr txBox="1"/>
          <p:nvPr/>
        </p:nvSpPr>
        <p:spPr>
          <a:xfrm>
            <a:off x="4617720" y="1783080"/>
            <a:ext cx="2926080" cy="457200"/>
          </a:xfrm>
          <a:prstGeom prst="rect">
            <a:avLst/>
          </a:prstGeom>
          <a:noFill/>
          <a:ln/>
        </p:spPr>
        <p:txBody>
          <a:bodyPr wrap="square" lIns="0" tIns="0" rIns="0" bIns="0" rtlCol="0" anchor="ctr"/>
          <a:lstStyle/>
          <a:p>
            <a:pPr indent="0" marL="0">
              <a:buNone/>
            </a:pPr>
            <a:r>
              <a:rPr lang="en-US" sz="2200" b="1" dirty="0">
                <a:solidFill>
                  <a:schemeClr val="accent1"/>
                </a:solidFill>
              </a:rPr>
              <a:t>OGD</a:t>
            </a:r>
            <a:endParaRPr lang="en-US" sz="2200" dirty="0"/>
          </a:p>
        </p:txBody>
      </p:sp>
      <p:sp>
        <p:nvSpPr>
          <p:cNvPr id="9" name="Text 7"/>
          <p:cNvSpPr txBox="1"/>
          <p:nvPr/>
        </p:nvSpPr>
        <p:spPr>
          <a:xfrm>
            <a:off x="4617720" y="2331720"/>
            <a:ext cx="2926080" cy="1463040"/>
          </a:xfrm>
          <a:prstGeom prst="rect">
            <a:avLst/>
          </a:prstGeom>
          <a:noFill/>
          <a:ln/>
        </p:spPr>
        <p:txBody>
          <a:bodyPr wrap="square" lIns="0" tIns="0" rIns="0" bIns="0" rtlCol="0" anchor="ctr"/>
          <a:lstStyle/>
          <a:p>
            <a:pPr indent="0" marL="0">
              <a:buNone/>
            </a:pPr>
            <a:r>
              <a:rPr lang="en-US" sz="1400" dirty="0">
                <a:solidFill>
                  <a:schemeClr val="tx1"/>
                </a:solidFill>
              </a:rPr>
              <a:t>Gradient step, then project</a:t>
            </a:r>
            <a:endParaRPr lang="en-US" sz="1400" dirty="0"/>
          </a:p>
          <a:p>
            <a:pPr indent="0" marL="0">
              <a:buNone/>
            </a:pPr>
            <a:r>
              <a:rPr lang="en-US" sz="1400" dirty="0">
                <a:solidFill>
                  <a:schemeClr val="tx1"/>
                </a:solidFill>
              </a:rPr>
              <a:t>back onto the simplex.</a:t>
            </a:r>
            <a:endParaRPr lang="en-US" sz="1400" dirty="0"/>
          </a:p>
          <a:p>
            <a:pPr indent="0" marL="0">
              <a:buNone/>
            </a:pPr>
            <a:r>
              <a:rPr lang="en-US" sz="1400" dirty="0">
                <a:solidFill>
                  <a:schemeClr val="tx1"/>
                </a:solidFill>
              </a:rPr>
              <a:t>η multiplies one gradient.</a:t>
            </a:r>
            <a:endParaRPr lang="en-US" sz="1400" dirty="0"/>
          </a:p>
        </p:txBody>
      </p:sp>
      <p:sp>
        <p:nvSpPr>
          <p:cNvPr id="10" name="Text 8"/>
          <p:cNvSpPr txBox="1"/>
          <p:nvPr/>
        </p:nvSpPr>
        <p:spPr>
          <a:xfrm>
            <a:off x="4617720" y="3931920"/>
            <a:ext cx="2926080" cy="457200"/>
          </a:xfrm>
          <a:prstGeom prst="rect">
            <a:avLst/>
          </a:prstGeom>
          <a:noFill/>
          <a:ln/>
        </p:spPr>
        <p:txBody>
          <a:bodyPr wrap="square" lIns="0" tIns="0" rIns="0" bIns="0" rtlCol="0" anchor="ctr"/>
          <a:lstStyle/>
          <a:p>
            <a:pPr indent="0" marL="0">
              <a:buNone/>
            </a:pPr>
            <a:r>
              <a:rPr lang="en-US" sz="1500" b="1" dirty="0">
                <a:solidFill>
                  <a:schemeClr val="tx2"/>
                </a:solidFill>
              </a:rPr>
              <a:t>O(√T)</a:t>
            </a:r>
            <a:endParaRPr lang="en-US" sz="1500" dirty="0"/>
          </a:p>
        </p:txBody>
      </p:sp>
      <p:sp>
        <p:nvSpPr>
          <p:cNvPr id="11" name="algo-2"/>
          <p:cNvSpPr/>
          <p:nvPr/>
        </p:nvSpPr>
        <p:spPr>
          <a:xfrm>
            <a:off x="8046720" y="1554480"/>
            <a:ext cx="3429000" cy="3108960"/>
          </a:xfrm>
          <a:prstGeom prst="roundRect">
            <a:avLst>
              <a:gd name="adj" fmla="val 2353"/>
            </a:avLst>
          </a:prstGeom>
          <a:solidFill>
            <a:srgbClr val="F2F5F9"/>
          </a:solidFill>
          <a:ln w="12700">
            <a:solidFill>
              <a:srgbClr val="E2E8F0"/>
            </a:solidFill>
            <a:prstDash val="solid"/>
          </a:ln>
        </p:spPr>
      </p:sp>
      <p:sp>
        <p:nvSpPr>
          <p:cNvPr id="12" name="Text 10"/>
          <p:cNvSpPr txBox="1"/>
          <p:nvPr/>
        </p:nvSpPr>
        <p:spPr>
          <a:xfrm>
            <a:off x="8321040" y="1783080"/>
            <a:ext cx="2926080" cy="457200"/>
          </a:xfrm>
          <a:prstGeom prst="rect">
            <a:avLst/>
          </a:prstGeom>
          <a:noFill/>
          <a:ln/>
        </p:spPr>
        <p:txBody>
          <a:bodyPr wrap="square" lIns="0" tIns="0" rIns="0" bIns="0" rtlCol="0" anchor="ctr"/>
          <a:lstStyle/>
          <a:p>
            <a:pPr indent="0" marL="0">
              <a:buNone/>
            </a:pPr>
            <a:r>
              <a:rPr lang="en-US" sz="2200" b="1" dirty="0">
                <a:solidFill>
                  <a:schemeClr val="accent1"/>
                </a:solidFill>
              </a:rPr>
              <a:t>FTRL</a:t>
            </a:r>
            <a:endParaRPr lang="en-US" sz="2200" dirty="0"/>
          </a:p>
        </p:txBody>
      </p:sp>
      <p:sp>
        <p:nvSpPr>
          <p:cNvPr id="13" name="Text 11"/>
          <p:cNvSpPr txBox="1"/>
          <p:nvPr/>
        </p:nvSpPr>
        <p:spPr>
          <a:xfrm>
            <a:off x="8321040" y="2331720"/>
            <a:ext cx="2926080" cy="1463040"/>
          </a:xfrm>
          <a:prstGeom prst="rect">
            <a:avLst/>
          </a:prstGeom>
          <a:noFill/>
          <a:ln/>
        </p:spPr>
        <p:txBody>
          <a:bodyPr wrap="square" lIns="0" tIns="0" rIns="0" bIns="0" rtlCol="0" anchor="ctr"/>
          <a:lstStyle/>
          <a:p>
            <a:pPr indent="0" marL="0">
              <a:buNone/>
            </a:pPr>
            <a:r>
              <a:rPr lang="en-US" sz="1400" dirty="0">
                <a:solidFill>
                  <a:schemeClr val="tx1"/>
                </a:solidFill>
              </a:rPr>
              <a:t>Re-derives weights from the</a:t>
            </a:r>
            <a:endParaRPr lang="en-US" sz="1400" dirty="0"/>
          </a:p>
          <a:p>
            <a:pPr indent="0" marL="0">
              <a:buNone/>
            </a:pPr>
            <a:r>
              <a:rPr lang="en-US" sz="1400" dirty="0">
                <a:solidFill>
                  <a:schemeClr val="tx1"/>
                </a:solidFill>
              </a:rPr>
              <a:t>WHOLE accumulated loss.</a:t>
            </a:r>
            <a:endParaRPr lang="en-US" sz="1400" dirty="0"/>
          </a:p>
          <a:p>
            <a:pPr indent="0" marL="0">
              <a:buNone/>
            </a:pPr>
            <a:r>
              <a:rPr lang="en-US" sz="1400" dirty="0">
                <a:solidFill>
                  <a:schemeClr val="tx1"/>
                </a:solidFill>
              </a:rPr>
              <a:t>η multiplies all of it.</a:t>
            </a:r>
            <a:endParaRPr lang="en-US" sz="1400" dirty="0"/>
          </a:p>
        </p:txBody>
      </p:sp>
      <p:sp>
        <p:nvSpPr>
          <p:cNvPr id="14" name="Text 12"/>
          <p:cNvSpPr txBox="1"/>
          <p:nvPr/>
        </p:nvSpPr>
        <p:spPr>
          <a:xfrm>
            <a:off x="8321040" y="3931920"/>
            <a:ext cx="2926080" cy="457200"/>
          </a:xfrm>
          <a:prstGeom prst="rect">
            <a:avLst/>
          </a:prstGeom>
          <a:noFill/>
          <a:ln/>
        </p:spPr>
        <p:txBody>
          <a:bodyPr wrap="square" lIns="0" tIns="0" rIns="0" bIns="0" rtlCol="0" anchor="ctr"/>
          <a:lstStyle/>
          <a:p>
            <a:pPr indent="0" marL="0">
              <a:buNone/>
            </a:pPr>
            <a:r>
              <a:rPr lang="en-US" sz="1500" b="1" dirty="0">
                <a:solidFill>
                  <a:schemeClr val="tx2"/>
                </a:solidFill>
              </a:rPr>
              <a:t>O(√T)</a:t>
            </a:r>
            <a:endParaRPr lang="en-US" sz="1500" dirty="0"/>
          </a:p>
        </p:txBody>
      </p:sp>
      <p:sp>
        <p:nvSpPr>
          <p:cNvPr id="15" name="Text 13"/>
          <p:cNvSpPr txBox="1"/>
          <p:nvPr/>
        </p:nvSpPr>
        <p:spPr>
          <a:xfrm>
            <a:off x="640080" y="4937760"/>
            <a:ext cx="10881360" cy="822960"/>
          </a:xfrm>
          <a:prstGeom prst="rect">
            <a:avLst/>
          </a:prstGeom>
          <a:noFill/>
          <a:ln/>
        </p:spPr>
        <p:txBody>
          <a:bodyPr wrap="square" rtlCol="0" anchor="ctr"/>
          <a:lstStyle/>
          <a:p>
            <a:pPr indent="0" marL="0">
              <a:buNone/>
            </a:pPr>
            <a:r>
              <a:rPr lang="en-US" sz="1500" dirty="0">
                <a:solidFill>
                  <a:schemeClr val="tx1"/>
                </a:solidFill>
              </a:rPr>
              <a:t>The difference in where η sits is not cosmetic: it is why the three need step sizes tuned in opposite directions, and why only one of them prefers a step that never decays.</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From odds to probabilities</a:t>
            </a:r>
            <a:endParaRPr lang="en-US" sz="3000" dirty="0"/>
          </a:p>
        </p:txBody>
      </p:sp>
      <p:sp>
        <p:nvSpPr>
          <p:cNvPr id="3" name="Text 1"/>
          <p:cNvSpPr txBox="1"/>
          <p:nvPr/>
        </p:nvSpPr>
        <p:spPr>
          <a:xfrm>
            <a:off x="640080" y="1325880"/>
            <a:ext cx="10881360" cy="365760"/>
          </a:xfrm>
          <a:prstGeom prst="rect">
            <a:avLst/>
          </a:prstGeom>
          <a:noFill/>
          <a:ln/>
        </p:spPr>
        <p:txBody>
          <a:bodyPr wrap="square" rtlCol="0" anchor="ctr"/>
          <a:lstStyle/>
          <a:p>
            <a:pPr indent="0" marL="0">
              <a:buNone/>
            </a:pPr>
            <a:r>
              <a:rPr lang="en-US" sz="1600" dirty="0">
                <a:solidFill>
                  <a:schemeClr val="tx1"/>
                </a:solidFill>
              </a:rPr>
              <a:t>Published odds imply probabilities that sum to more than one. The excess is the bookmaker's margin.</a:t>
            </a:r>
            <a:endParaRPr lang="en-US" sz="1600" dirty="0"/>
          </a:p>
        </p:txBody>
      </p:sp>
      <p:sp>
        <p:nvSpPr>
          <p:cNvPr id="4" name="devig-0"/>
          <p:cNvSpPr/>
          <p:nvPr/>
        </p:nvSpPr>
        <p:spPr>
          <a:xfrm>
            <a:off x="640080" y="1920240"/>
            <a:ext cx="5212080" cy="2011680"/>
          </a:xfrm>
          <a:prstGeom prst="roundRect">
            <a:avLst>
              <a:gd name="adj" fmla="val 3636"/>
            </a:avLst>
          </a:prstGeom>
          <a:solidFill>
            <a:srgbClr val="F2F5F9"/>
          </a:solidFill>
          <a:ln w="12700">
            <a:solidFill>
              <a:srgbClr val="E2E8F0"/>
            </a:solidFill>
            <a:prstDash val="solid"/>
          </a:ln>
        </p:spPr>
      </p:sp>
      <p:sp>
        <p:nvSpPr>
          <p:cNvPr id="5" name="Text 3"/>
          <p:cNvSpPr txBox="1"/>
          <p:nvPr/>
        </p:nvSpPr>
        <p:spPr>
          <a:xfrm>
            <a:off x="960120" y="2148840"/>
            <a:ext cx="4572000" cy="411480"/>
          </a:xfrm>
          <a:prstGeom prst="rect">
            <a:avLst/>
          </a:prstGeom>
          <a:noFill/>
          <a:ln/>
        </p:spPr>
        <p:txBody>
          <a:bodyPr wrap="square" lIns="0" tIns="0" rIns="0" bIns="0" rtlCol="0" anchor="ctr"/>
          <a:lstStyle/>
          <a:p>
            <a:pPr indent="0" marL="0">
              <a:buNone/>
            </a:pPr>
            <a:r>
              <a:rPr lang="en-US" sz="1900" b="1" dirty="0">
                <a:solidFill>
                  <a:schemeClr val="accent1"/>
                </a:solidFill>
              </a:rPr>
              <a:t>Proportional</a:t>
            </a:r>
            <a:endParaRPr lang="en-US" sz="1900" dirty="0"/>
          </a:p>
        </p:txBody>
      </p:sp>
      <p:sp>
        <p:nvSpPr>
          <p:cNvPr id="6" name="Text 4"/>
          <p:cNvSpPr txBox="1"/>
          <p:nvPr/>
        </p:nvSpPr>
        <p:spPr>
          <a:xfrm>
            <a:off x="960120" y="2606040"/>
            <a:ext cx="4572000" cy="1188720"/>
          </a:xfrm>
          <a:prstGeom prst="rect">
            <a:avLst/>
          </a:prstGeom>
          <a:noFill/>
          <a:ln/>
        </p:spPr>
        <p:txBody>
          <a:bodyPr wrap="square" lIns="0" tIns="0" rIns="0" bIns="0" rtlCol="0" anchor="ctr"/>
          <a:lstStyle/>
          <a:p>
            <a:pPr indent="0" marL="0">
              <a:buNone/>
            </a:pPr>
            <a:r>
              <a:rPr lang="en-US" sz="1400" dirty="0">
                <a:solidFill>
                  <a:schemeClr val="tx1"/>
                </a:solidFill>
              </a:rPr>
              <a:t>Divide by the sum. Treats the margin as a flat tax on every outcome.</a:t>
            </a:r>
            <a:endParaRPr lang="en-US" sz="1400" dirty="0"/>
          </a:p>
        </p:txBody>
      </p:sp>
      <p:sp>
        <p:nvSpPr>
          <p:cNvPr id="7" name="devig-1"/>
          <p:cNvSpPr/>
          <p:nvPr/>
        </p:nvSpPr>
        <p:spPr>
          <a:xfrm>
            <a:off x="6217920" y="1920240"/>
            <a:ext cx="5212080" cy="2011680"/>
          </a:xfrm>
          <a:prstGeom prst="roundRect">
            <a:avLst>
              <a:gd name="adj" fmla="val 3636"/>
            </a:avLst>
          </a:prstGeom>
          <a:solidFill>
            <a:srgbClr val="F2F5F9"/>
          </a:solidFill>
          <a:ln w="12700">
            <a:solidFill>
              <a:srgbClr val="E2E8F0"/>
            </a:solidFill>
            <a:prstDash val="solid"/>
          </a:ln>
        </p:spPr>
      </p:sp>
      <p:sp>
        <p:nvSpPr>
          <p:cNvPr id="8" name="Text 6"/>
          <p:cNvSpPr txBox="1"/>
          <p:nvPr/>
        </p:nvSpPr>
        <p:spPr>
          <a:xfrm>
            <a:off x="6537960" y="2148840"/>
            <a:ext cx="4572000" cy="411480"/>
          </a:xfrm>
          <a:prstGeom prst="rect">
            <a:avLst/>
          </a:prstGeom>
          <a:noFill/>
          <a:ln/>
        </p:spPr>
        <p:txBody>
          <a:bodyPr wrap="square" lIns="0" tIns="0" rIns="0" bIns="0" rtlCol="0" anchor="ctr"/>
          <a:lstStyle/>
          <a:p>
            <a:pPr indent="0" marL="0">
              <a:buNone/>
            </a:pPr>
            <a:r>
              <a:rPr lang="en-US" sz="1900" b="1" dirty="0">
                <a:solidFill>
                  <a:schemeClr val="accent2"/>
                </a:solidFill>
              </a:rPr>
              <a:t>Shin</a:t>
            </a:r>
            <a:endParaRPr lang="en-US" sz="1900" dirty="0"/>
          </a:p>
        </p:txBody>
      </p:sp>
      <p:sp>
        <p:nvSpPr>
          <p:cNvPr id="9" name="Text 7"/>
          <p:cNvSpPr txBox="1"/>
          <p:nvPr/>
        </p:nvSpPr>
        <p:spPr>
          <a:xfrm>
            <a:off x="6537960" y="2606040"/>
            <a:ext cx="4572000" cy="1188720"/>
          </a:xfrm>
          <a:prstGeom prst="rect">
            <a:avLst/>
          </a:prstGeom>
          <a:noFill/>
          <a:ln/>
        </p:spPr>
        <p:txBody>
          <a:bodyPr wrap="square" lIns="0" tIns="0" rIns="0" bIns="0" rtlCol="0" anchor="ctr"/>
          <a:lstStyle/>
          <a:p>
            <a:pPr indent="0" marL="0">
              <a:buNone/>
            </a:pPr>
            <a:r>
              <a:rPr lang="en-US" sz="1400" dirty="0">
                <a:solidFill>
                  <a:schemeClr val="tx1"/>
                </a:solidFill>
              </a:rPr>
              <a:t>Models the margin as protection against informed bettors. The parameter z IS the estimated share of informed money.</a:t>
            </a:r>
            <a:endParaRPr lang="en-US" sz="1400" dirty="0"/>
          </a:p>
        </p:txBody>
      </p:sp>
      <p:sp>
        <p:nvSpPr>
          <p:cNvPr id="10" name="Text 8"/>
          <p:cNvSpPr txBox="1"/>
          <p:nvPr/>
        </p:nvSpPr>
        <p:spPr>
          <a:xfrm>
            <a:off x="640080" y="4206240"/>
            <a:ext cx="10881360" cy="822960"/>
          </a:xfrm>
          <a:prstGeom prst="rect">
            <a:avLst/>
          </a:prstGeom>
          <a:noFill/>
          <a:ln/>
        </p:spPr>
        <p:txBody>
          <a:bodyPr wrap="square" rtlCol="0" anchor="ctr"/>
          <a:lstStyle/>
          <a:p>
            <a:pPr indent="0" marL="0">
              <a:buNone/>
            </a:pPr>
            <a:r>
              <a:rPr lang="en-US" sz="1500" dirty="0">
                <a:solidFill>
                  <a:schemeClr val="tx1"/>
                </a:solidFill>
              </a:rPr>
              <a:t>Both are carried through the whole pipeline, so no result rests on one choice. Shin adds nothing measurable once calibration is in place (the two correct the same bias).</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914400" y="1737360"/>
            <a:ext cx="10332720" cy="2194560"/>
          </a:xfrm>
          <a:prstGeom prst="rect">
            <a:avLst/>
          </a:prstGeom>
          <a:noFill/>
          <a:ln/>
        </p:spPr>
        <p:txBody>
          <a:bodyPr wrap="square" rtlCol="0" anchor="ctr"/>
          <a:lstStyle/>
          <a:p>
            <a:pPr algn="l" indent="0" marL="0">
              <a:buNone/>
            </a:pPr>
            <a:r>
              <a:rPr lang="en-US" sz="3400" b="1" dirty="0">
                <a:solidFill>
                  <a:schemeClr val="bg1"/>
                </a:solidFill>
              </a:rPr>
              <a:t>Theory that earns its place makes a prediction you can lose</a:t>
            </a:r>
            <a:endParaRPr lang="en-US" sz="3400" dirty="0"/>
          </a:p>
        </p:txBody>
      </p:sp>
      <p:sp>
        <p:nvSpPr>
          <p:cNvPr id="3" name="Text 0"/>
          <p:cNvSpPr/>
          <p:nvPr>
            <p:ph idx="101" type="body" hasCustomPrompt="1"/>
          </p:nvPr>
        </p:nvSpPr>
        <p:spPr>
          <a:xfrm>
            <a:off x="914400" y="4114800"/>
            <a:ext cx="10332720" cy="1645920"/>
          </a:xfrm>
          <a:prstGeom prst="rect">
            <a:avLst/>
          </a:prstGeom>
          <a:noFill/>
          <a:ln/>
        </p:spPr>
        <p:txBody>
          <a:bodyPr wrap="square" rtlCol="0" anchor="t"/>
          <a:lstStyle/>
          <a:p>
            <a:pPr algn="l" indent="0" marL="0">
              <a:buNone/>
            </a:pPr>
            <a:r>
              <a:rPr lang="en-US" sz="1700" dirty="0">
                <a:solidFill>
                  <a:srgbClr val="CBD5E1"/>
                </a:solidFill>
              </a:rPr>
              <a:t>Microstructure (Kyle; Glosten–Milgrom; Shin) says the margin is protection against informed traders, and that price movement is how private information becomes public. It follows that closing prices should beat opening ones MORE where the line actually moved. That is testable, and §7 tests it.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914400" y="2286000"/>
            <a:ext cx="1828800" cy="1097280"/>
          </a:xfrm>
          <a:prstGeom prst="rect">
            <a:avLst/>
          </a:prstGeom>
          <a:noFill/>
          <a:ln/>
        </p:spPr>
        <p:txBody>
          <a:bodyPr wrap="square" rtlCol="0" anchor="ctr"/>
          <a:lstStyle/>
          <a:p>
            <a:pPr algn="l" indent="0" marL="0">
              <a:buNone/>
            </a:pPr>
            <a:r>
              <a:rPr lang="en-US" sz="6800" b="1" dirty="0">
                <a:solidFill>
                  <a:srgbClr val="6FA3D6"/>
                </a:solidFill>
              </a:rPr>
              <a:t>02</a:t>
            </a:r>
            <a:endParaRPr lang="en-US" sz="6800" dirty="0"/>
          </a:p>
        </p:txBody>
      </p:sp>
      <p:sp>
        <p:nvSpPr>
          <p:cNvPr id="3" name="Text 0"/>
          <p:cNvSpPr/>
          <p:nvPr>
            <p:ph idx="101" type="title" hasCustomPrompt="1"/>
          </p:nvPr>
        </p:nvSpPr>
        <p:spPr>
          <a:xfrm>
            <a:off x="2834640" y="2286000"/>
            <a:ext cx="8412480" cy="1097280"/>
          </a:xfrm>
          <a:prstGeom prst="rect">
            <a:avLst/>
          </a:prstGeom>
          <a:noFill/>
          <a:ln/>
        </p:spPr>
        <p:txBody>
          <a:bodyPr wrap="square" rtlCol="0" anchor="ctr"/>
          <a:lstStyle/>
          <a:p>
            <a:pPr algn="l" indent="0" marL="0">
              <a:buNone/>
            </a:pPr>
            <a:r>
              <a:rPr lang="en-US" sz="3600" b="1" dirty="0">
                <a:solidFill>
                  <a:schemeClr val="bg1"/>
                </a:solidFill>
              </a:rPr>
              <a:t>Three OCO stages</a:t>
            </a:r>
            <a:endParaRPr lang="en-US" sz="3600" dirty="0"/>
          </a:p>
        </p:txBody>
      </p:sp>
      <p:sp>
        <p:nvSpPr>
          <p:cNvPr id="4" name="Text 0"/>
          <p:cNvSpPr/>
          <p:nvPr>
            <p:ph idx="102" type="body" hasCustomPrompt="1"/>
          </p:nvPr>
        </p:nvSpPr>
        <p:spPr>
          <a:xfrm>
            <a:off x="2834640" y="3474720"/>
            <a:ext cx="8412480" cy="1097280"/>
          </a:xfrm>
          <a:prstGeom prst="rect">
            <a:avLst/>
          </a:prstGeom>
          <a:noFill/>
          <a:ln/>
        </p:spPr>
        <p:txBody>
          <a:bodyPr wrap="square" rtlCol="0" anchor="t"/>
          <a:lstStyle/>
          <a:p>
            <a:pPr algn="l" indent="0" marL="0">
              <a:buNone/>
            </a:pPr>
            <a:r>
              <a:rPr lang="en-US" sz="1600" dirty="0">
                <a:solidFill>
                  <a:srgbClr val="CBD5E1"/>
                </a:solidFill>
              </a:rPr>
              <a:t>From published odds to a bet, with every step online and causal</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The same recipe, three different unknowns</a:t>
            </a:r>
            <a:endParaRPr lang="en-US" sz="3000" dirty="0"/>
          </a:p>
        </p:txBody>
      </p:sp>
      <p:sp>
        <p:nvSpPr>
          <p:cNvPr id="3" name="circle-1"/>
          <p:cNvSpPr/>
          <p:nvPr/>
        </p:nvSpPr>
        <p:spPr>
          <a:xfrm>
            <a:off x="640080" y="1691640"/>
            <a:ext cx="566928" cy="566928"/>
          </a:xfrm>
          <a:prstGeom prst="ellipse">
            <a:avLst/>
          </a:prstGeom>
          <a:solidFill>
            <a:schemeClr val="accent1"/>
          </a:solidFill>
          <a:ln/>
        </p:spPr>
      </p:sp>
      <p:sp>
        <p:nvSpPr>
          <p:cNvPr id="4" name="Text 2"/>
          <p:cNvSpPr txBox="1"/>
          <p:nvPr/>
        </p:nvSpPr>
        <p:spPr>
          <a:xfrm>
            <a:off x="640080" y="16916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5" name="Text 3"/>
          <p:cNvSpPr txBox="1"/>
          <p:nvPr/>
        </p:nvSpPr>
        <p:spPr>
          <a:xfrm>
            <a:off x="1508760" y="1554480"/>
            <a:ext cx="2377440" cy="457200"/>
          </a:xfrm>
          <a:prstGeom prst="rect">
            <a:avLst/>
          </a:prstGeom>
          <a:noFill/>
          <a:ln/>
        </p:spPr>
        <p:txBody>
          <a:bodyPr wrap="square" lIns="0" tIns="0" rIns="0" bIns="0" rtlCol="0" anchor="ctr"/>
          <a:lstStyle/>
          <a:p>
            <a:pPr indent="0" marL="0">
              <a:buNone/>
            </a:pPr>
            <a:r>
              <a:rPr lang="en-US" sz="2000" b="1" dirty="0">
                <a:solidFill>
                  <a:schemeClr val="tx2"/>
                </a:solidFill>
              </a:rPr>
              <a:t>Weighting</a:t>
            </a:r>
            <a:endParaRPr lang="en-US" sz="2000" dirty="0"/>
          </a:p>
        </p:txBody>
      </p:sp>
      <p:sp>
        <p:nvSpPr>
          <p:cNvPr id="6" name="Text 4"/>
          <p:cNvSpPr txBox="1"/>
          <p:nvPr/>
        </p:nvSpPr>
        <p:spPr>
          <a:xfrm>
            <a:off x="3931920" y="1554480"/>
            <a:ext cx="2743200" cy="457200"/>
          </a:xfrm>
          <a:prstGeom prst="rect">
            <a:avLst/>
          </a:prstGeom>
          <a:noFill/>
          <a:ln/>
        </p:spPr>
        <p:txBody>
          <a:bodyPr wrap="square" lIns="0" tIns="0" rIns="0" bIns="0" rtlCol="0" anchor="ctr"/>
          <a:lstStyle/>
          <a:p>
            <a:pPr indent="0" marL="0">
              <a:buNone/>
            </a:pPr>
            <a:r>
              <a:rPr lang="en-US" sz="1600" i="1" dirty="0">
                <a:solidFill>
                  <a:schemeClr val="accent1"/>
                </a:solidFill>
              </a:rPr>
              <a:t>the weight vector w</a:t>
            </a:r>
            <a:endParaRPr lang="en-US" sz="1600" dirty="0"/>
          </a:p>
        </p:txBody>
      </p:sp>
      <p:sp>
        <p:nvSpPr>
          <p:cNvPr id="7" name="Text 5"/>
          <p:cNvSpPr txBox="1"/>
          <p:nvPr/>
        </p:nvSpPr>
        <p:spPr>
          <a:xfrm>
            <a:off x="6858000" y="1554480"/>
            <a:ext cx="4663440" cy="822960"/>
          </a:xfrm>
          <a:prstGeom prst="rect">
            <a:avLst/>
          </a:prstGeom>
          <a:noFill/>
          <a:ln/>
        </p:spPr>
        <p:txBody>
          <a:bodyPr wrap="square" lIns="0" tIns="0" rIns="0" bIns="0" rtlCol="0" anchor="ctr"/>
          <a:lstStyle/>
          <a:p>
            <a:pPr indent="0" marL="0">
              <a:buNone/>
            </a:pPr>
            <a:r>
              <a:rPr lang="en-US" sz="1400" dirty="0">
                <a:solidFill>
                  <a:schemeClr val="accent5"/>
                </a:solidFill>
              </a:rPr>
              <a:t>Hedge / OGD / FTRL over the awake experts</a:t>
            </a:r>
            <a:endParaRPr lang="en-US" sz="1400" dirty="0"/>
          </a:p>
        </p:txBody>
      </p:sp>
      <p:sp>
        <p:nvSpPr>
          <p:cNvPr id="8" name="circle-2"/>
          <p:cNvSpPr/>
          <p:nvPr/>
        </p:nvSpPr>
        <p:spPr>
          <a:xfrm>
            <a:off x="640080" y="3108960"/>
            <a:ext cx="566928" cy="566928"/>
          </a:xfrm>
          <a:prstGeom prst="ellipse">
            <a:avLst/>
          </a:prstGeom>
          <a:solidFill>
            <a:schemeClr val="accent1"/>
          </a:solidFill>
          <a:ln/>
        </p:spPr>
      </p:sp>
      <p:sp>
        <p:nvSpPr>
          <p:cNvPr id="9" name="Text 7"/>
          <p:cNvSpPr txBox="1"/>
          <p:nvPr/>
        </p:nvSpPr>
        <p:spPr>
          <a:xfrm>
            <a:off x="640080" y="3108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0" name="Text 8"/>
          <p:cNvSpPr txBox="1"/>
          <p:nvPr/>
        </p:nvSpPr>
        <p:spPr>
          <a:xfrm>
            <a:off x="1508760" y="2971800"/>
            <a:ext cx="2377440" cy="457200"/>
          </a:xfrm>
          <a:prstGeom prst="rect">
            <a:avLst/>
          </a:prstGeom>
          <a:noFill/>
          <a:ln/>
        </p:spPr>
        <p:txBody>
          <a:bodyPr wrap="square" lIns="0" tIns="0" rIns="0" bIns="0" rtlCol="0" anchor="ctr"/>
          <a:lstStyle/>
          <a:p>
            <a:pPr indent="0" marL="0">
              <a:buNone/>
            </a:pPr>
            <a:r>
              <a:rPr lang="en-US" sz="2000" b="1" dirty="0">
                <a:solidFill>
                  <a:schemeClr val="tx2"/>
                </a:solidFill>
              </a:rPr>
              <a:t>Calibration</a:t>
            </a:r>
            <a:endParaRPr lang="en-US" sz="2000" dirty="0"/>
          </a:p>
        </p:txBody>
      </p:sp>
      <p:sp>
        <p:nvSpPr>
          <p:cNvPr id="11" name="Text 9"/>
          <p:cNvSpPr txBox="1"/>
          <p:nvPr/>
        </p:nvSpPr>
        <p:spPr>
          <a:xfrm>
            <a:off x="3931920" y="2971800"/>
            <a:ext cx="2743200" cy="457200"/>
          </a:xfrm>
          <a:prstGeom prst="rect">
            <a:avLst/>
          </a:prstGeom>
          <a:noFill/>
          <a:ln/>
        </p:spPr>
        <p:txBody>
          <a:bodyPr wrap="square" lIns="0" tIns="0" rIns="0" bIns="0" rtlCol="0" anchor="ctr"/>
          <a:lstStyle/>
          <a:p>
            <a:pPr indent="0" marL="0">
              <a:buNone/>
            </a:pPr>
            <a:r>
              <a:rPr lang="en-US" sz="1600" i="1" dirty="0">
                <a:solidFill>
                  <a:schemeClr val="accent1"/>
                </a:solidFill>
              </a:rPr>
              <a:t>the temperature s</a:t>
            </a:r>
            <a:endParaRPr lang="en-US" sz="1600" dirty="0"/>
          </a:p>
        </p:txBody>
      </p:sp>
      <p:sp>
        <p:nvSpPr>
          <p:cNvPr id="12" name="Text 10"/>
          <p:cNvSpPr txBox="1"/>
          <p:nvPr/>
        </p:nvSpPr>
        <p:spPr>
          <a:xfrm>
            <a:off x="6858000" y="2971800"/>
            <a:ext cx="4663440" cy="822960"/>
          </a:xfrm>
          <a:prstGeom prst="rect">
            <a:avLst/>
          </a:prstGeom>
          <a:noFill/>
          <a:ln/>
        </p:spPr>
        <p:txBody>
          <a:bodyPr wrap="square" lIns="0" tIns="0" rIns="0" bIns="0" rtlCol="0" anchor="ctr"/>
          <a:lstStyle/>
          <a:p>
            <a:pPr indent="0" marL="0">
              <a:buNone/>
            </a:pPr>
            <a:r>
              <a:rPr lang="en-US" sz="1400" dirty="0">
                <a:solidFill>
                  <a:schemeClr val="accent5"/>
                </a:solidFill>
              </a:rPr>
              <a:t>Online temperature scaling; the loss is convex in s</a:t>
            </a:r>
            <a:endParaRPr lang="en-US" sz="1400" dirty="0"/>
          </a:p>
        </p:txBody>
      </p:sp>
      <p:sp>
        <p:nvSpPr>
          <p:cNvPr id="13" name="circle-3"/>
          <p:cNvSpPr/>
          <p:nvPr/>
        </p:nvSpPr>
        <p:spPr>
          <a:xfrm>
            <a:off x="640080" y="4526280"/>
            <a:ext cx="566928" cy="566928"/>
          </a:xfrm>
          <a:prstGeom prst="ellipse">
            <a:avLst/>
          </a:prstGeom>
          <a:solidFill>
            <a:schemeClr val="accent3"/>
          </a:solidFill>
          <a:ln/>
        </p:spPr>
      </p:sp>
      <p:sp>
        <p:nvSpPr>
          <p:cNvPr id="14" name="Text 12"/>
          <p:cNvSpPr txBox="1"/>
          <p:nvPr/>
        </p:nvSpPr>
        <p:spPr>
          <a:xfrm>
            <a:off x="640080" y="4526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5" name="Text 13"/>
          <p:cNvSpPr txBox="1"/>
          <p:nvPr/>
        </p:nvSpPr>
        <p:spPr>
          <a:xfrm>
            <a:off x="1508760" y="4389120"/>
            <a:ext cx="2377440" cy="457200"/>
          </a:xfrm>
          <a:prstGeom prst="rect">
            <a:avLst/>
          </a:prstGeom>
          <a:noFill/>
          <a:ln/>
        </p:spPr>
        <p:txBody>
          <a:bodyPr wrap="square" lIns="0" tIns="0" rIns="0" bIns="0" rtlCol="0" anchor="ctr"/>
          <a:lstStyle/>
          <a:p>
            <a:pPr indent="0" marL="0">
              <a:buNone/>
            </a:pPr>
            <a:r>
              <a:rPr lang="en-US" sz="2000" b="1" dirty="0">
                <a:solidFill>
                  <a:schemeClr val="tx2"/>
                </a:solidFill>
              </a:rPr>
              <a:t>Stake size</a:t>
            </a:r>
            <a:endParaRPr lang="en-US" sz="2000" dirty="0"/>
          </a:p>
        </p:txBody>
      </p:sp>
      <p:sp>
        <p:nvSpPr>
          <p:cNvPr id="16" name="Text 14"/>
          <p:cNvSpPr txBox="1"/>
          <p:nvPr/>
        </p:nvSpPr>
        <p:spPr>
          <a:xfrm>
            <a:off x="3931920" y="4389120"/>
            <a:ext cx="2743200" cy="457200"/>
          </a:xfrm>
          <a:prstGeom prst="rect">
            <a:avLst/>
          </a:prstGeom>
          <a:noFill/>
          <a:ln/>
        </p:spPr>
        <p:txBody>
          <a:bodyPr wrap="square" lIns="0" tIns="0" rIns="0" bIns="0" rtlCol="0" anchor="ctr"/>
          <a:lstStyle/>
          <a:p>
            <a:pPr indent="0" marL="0">
              <a:buNone/>
            </a:pPr>
            <a:r>
              <a:rPr lang="en-US" sz="1600" i="1" dirty="0">
                <a:solidFill>
                  <a:schemeClr val="accent3"/>
                </a:solidFill>
              </a:rPr>
              <a:t>the Kelly multiplier λ</a:t>
            </a:r>
            <a:endParaRPr lang="en-US" sz="1600" dirty="0"/>
          </a:p>
        </p:txBody>
      </p:sp>
      <p:sp>
        <p:nvSpPr>
          <p:cNvPr id="17" name="Text 15"/>
          <p:cNvSpPr txBox="1"/>
          <p:nvPr/>
        </p:nvSpPr>
        <p:spPr>
          <a:xfrm>
            <a:off x="6858000" y="4389120"/>
            <a:ext cx="4663440" cy="822960"/>
          </a:xfrm>
          <a:prstGeom prst="rect">
            <a:avLst/>
          </a:prstGeom>
          <a:noFill/>
          <a:ln/>
        </p:spPr>
        <p:txBody>
          <a:bodyPr wrap="square" lIns="0" tIns="0" rIns="0" bIns="0" rtlCol="0" anchor="ctr"/>
          <a:lstStyle/>
          <a:p>
            <a:pPr indent="0" marL="0">
              <a:buNone/>
            </a:pPr>
            <a:r>
              <a:rPr lang="en-US" sz="1400" dirty="0">
                <a:solidFill>
                  <a:schemeClr val="accent5"/>
                </a:solidFill>
              </a:rPr>
              <a:t>Online Newton Step; the loss is exp-concave in λ</a:t>
            </a:r>
            <a:endParaRPr lang="en-US" sz="1400" dirty="0"/>
          </a:p>
        </p:txBody>
      </p:sp>
      <p:sp>
        <p:nvSpPr>
          <p:cNvPr id="18" name="Text 16"/>
          <p:cNvSpPr txBox="1"/>
          <p:nvPr/>
        </p:nvSpPr>
        <p:spPr>
          <a:xfrm>
            <a:off x="640080" y="5577840"/>
            <a:ext cx="10881360" cy="640080"/>
          </a:xfrm>
          <a:prstGeom prst="rect">
            <a:avLst/>
          </a:prstGeom>
          <a:noFill/>
          <a:ln/>
        </p:spPr>
        <p:txBody>
          <a:bodyPr wrap="square" rtlCol="0" anchor="ctr"/>
          <a:lstStyle/>
          <a:p>
            <a:pPr indent="0" marL="0">
              <a:buNone/>
            </a:pPr>
            <a:r>
              <a:rPr lang="en-US" sz="1500" dirty="0">
                <a:solidFill>
                  <a:schemeClr val="tx1"/>
                </a:solidFill>
              </a:rPr>
              <a:t>Convex loss, causal update, projection onto the feasible set. Only the unknown changes, and with it, which algorithm is the right one.</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Stage 3: what you learn decides whether it works</a:t>
            </a:r>
            <a:endParaRPr lang="en-US" sz="3000" dirty="0"/>
          </a:p>
        </p:txBody>
      </p:sp>
      <p:sp>
        <p:nvSpPr>
          <p:cNvPr id="3" name="kelly-0"/>
          <p:cNvSpPr/>
          <p:nvPr/>
        </p:nvSpPr>
        <p:spPr>
          <a:xfrm>
            <a:off x="640080" y="1508760"/>
            <a:ext cx="10881360" cy="2057400"/>
          </a:xfrm>
          <a:prstGeom prst="roundRect">
            <a:avLst>
              <a:gd name="adj" fmla="val 3556"/>
            </a:avLst>
          </a:prstGeom>
          <a:solidFill>
            <a:srgbClr val="FBF0F0"/>
          </a:solidFill>
          <a:ln w="12700">
            <a:solidFill>
              <a:srgbClr val="E2E8F0"/>
            </a:solidFill>
            <a:prstDash val="solid"/>
          </a:ln>
        </p:spPr>
      </p:sp>
      <p:sp>
        <p:nvSpPr>
          <p:cNvPr id="4" name="Text 2"/>
          <p:cNvSpPr txBox="1"/>
          <p:nvPr/>
        </p:nvSpPr>
        <p:spPr>
          <a:xfrm>
            <a:off x="960120" y="1691640"/>
            <a:ext cx="6400800" cy="411480"/>
          </a:xfrm>
          <a:prstGeom prst="rect">
            <a:avLst/>
          </a:prstGeom>
          <a:noFill/>
          <a:ln/>
        </p:spPr>
        <p:txBody>
          <a:bodyPr wrap="square" lIns="0" tIns="0" rIns="0" bIns="0" rtlCol="0" anchor="ctr"/>
          <a:lstStyle/>
          <a:p>
            <a:pPr indent="0" marL="0">
              <a:buNone/>
            </a:pPr>
            <a:r>
              <a:rPr lang="en-US" sz="1800" b="1" dirty="0">
                <a:solidFill>
                  <a:schemeClr val="accent2"/>
                </a:solidFill>
              </a:rPr>
              <a:t>Learn the stake f directly</a:t>
            </a:r>
            <a:endParaRPr lang="en-US" sz="1800" dirty="0"/>
          </a:p>
        </p:txBody>
      </p:sp>
      <p:sp>
        <p:nvSpPr>
          <p:cNvPr id="5" name="Text 3"/>
          <p:cNvSpPr txBox="1"/>
          <p:nvPr/>
        </p:nvSpPr>
        <p:spPr>
          <a:xfrm>
            <a:off x="7315200" y="1691640"/>
            <a:ext cx="3840480" cy="411480"/>
          </a:xfrm>
          <a:prstGeom prst="rect">
            <a:avLst/>
          </a:prstGeom>
          <a:noFill/>
          <a:ln/>
        </p:spPr>
        <p:txBody>
          <a:bodyPr wrap="square" lIns="0" tIns="0" rIns="0" bIns="0" rtlCol="0" anchor="ctr"/>
          <a:lstStyle/>
          <a:p>
            <a:pPr algn="r" indent="0" marL="0">
              <a:buNone/>
            </a:pPr>
            <a:r>
              <a:rPr lang="en-US" sz="1500" b="1" dirty="0">
                <a:solidFill>
                  <a:schemeClr val="tx2"/>
                </a:solidFill>
              </a:rPr>
              <a:t>Lost 9 of 20 paired comparisons, with zero wins.</a:t>
            </a:r>
            <a:endParaRPr lang="en-US" sz="1500" dirty="0"/>
          </a:p>
        </p:txBody>
      </p:sp>
      <p:sp>
        <p:nvSpPr>
          <p:cNvPr id="6" name="Text 4"/>
          <p:cNvSpPr txBox="1"/>
          <p:nvPr/>
        </p:nvSpPr>
        <p:spPr>
          <a:xfrm>
            <a:off x="960120" y="2194560"/>
            <a:ext cx="10241280" cy="1188720"/>
          </a:xfrm>
          <a:prstGeom prst="rect">
            <a:avLst/>
          </a:prstGeom>
          <a:noFill/>
          <a:ln/>
        </p:spPr>
        <p:txBody>
          <a:bodyPr wrap="square" lIns="0" tIns="0" rIns="0" bIns="0" rtlCol="0" anchor="ctr"/>
          <a:lstStyle/>
          <a:p>
            <a:pPr indent="0" marL="0">
              <a:buNone/>
            </a:pPr>
            <a:r>
              <a:rPr lang="en-US" sz="1400" dirty="0">
                <a:solidFill>
                  <a:schemeClr val="tx1"/>
                </a:solidFill>
              </a:rPr>
              <a:t>The comparator "best constant f" does not contain the closed-form Kelly rule at all: that rule produces a different f every round. It also throws away the probability the first two stages exist to produce.</a:t>
            </a:r>
            <a:endParaRPr lang="en-US" sz="1400" dirty="0"/>
          </a:p>
        </p:txBody>
      </p:sp>
      <p:sp>
        <p:nvSpPr>
          <p:cNvPr id="7" name="kelly-1"/>
          <p:cNvSpPr/>
          <p:nvPr/>
        </p:nvSpPr>
        <p:spPr>
          <a:xfrm>
            <a:off x="640080" y="3794760"/>
            <a:ext cx="10881360" cy="2057400"/>
          </a:xfrm>
          <a:prstGeom prst="roundRect">
            <a:avLst>
              <a:gd name="adj" fmla="val 3556"/>
            </a:avLst>
          </a:prstGeom>
          <a:solidFill>
            <a:srgbClr val="EEF6F1"/>
          </a:solidFill>
          <a:ln w="12700">
            <a:solidFill>
              <a:srgbClr val="E2E8F0"/>
            </a:solidFill>
            <a:prstDash val="solid"/>
          </a:ln>
        </p:spPr>
      </p:sp>
      <p:sp>
        <p:nvSpPr>
          <p:cNvPr id="8" name="Text 6"/>
          <p:cNvSpPr txBox="1"/>
          <p:nvPr/>
        </p:nvSpPr>
        <p:spPr>
          <a:xfrm>
            <a:off x="960120" y="3977640"/>
            <a:ext cx="6400800" cy="411480"/>
          </a:xfrm>
          <a:prstGeom prst="rect">
            <a:avLst/>
          </a:prstGeom>
          <a:noFill/>
          <a:ln/>
        </p:spPr>
        <p:txBody>
          <a:bodyPr wrap="square" lIns="0" tIns="0" rIns="0" bIns="0" rtlCol="0" anchor="ctr"/>
          <a:lstStyle/>
          <a:p>
            <a:pPr indent="0" marL="0">
              <a:buNone/>
            </a:pPr>
            <a:r>
              <a:rPr lang="en-US" sz="1800" b="1" dirty="0">
                <a:solidFill>
                  <a:schemeClr val="accent3"/>
                </a:solidFill>
              </a:rPr>
              <a:t>Learn the multiplier λ in f = λ·f*</a:t>
            </a:r>
            <a:endParaRPr lang="en-US" sz="1800" dirty="0"/>
          </a:p>
        </p:txBody>
      </p:sp>
      <p:sp>
        <p:nvSpPr>
          <p:cNvPr id="9" name="Text 7"/>
          <p:cNvSpPr txBox="1"/>
          <p:nvPr/>
        </p:nvSpPr>
        <p:spPr>
          <a:xfrm>
            <a:off x="7315200" y="3977640"/>
            <a:ext cx="3840480" cy="411480"/>
          </a:xfrm>
          <a:prstGeom prst="rect">
            <a:avLst/>
          </a:prstGeom>
          <a:noFill/>
          <a:ln/>
        </p:spPr>
        <p:txBody>
          <a:bodyPr wrap="square" lIns="0" tIns="0" rIns="0" bIns="0" rtlCol="0" anchor="ctr"/>
          <a:lstStyle/>
          <a:p>
            <a:pPr algn="r" indent="0" marL="0">
              <a:buNone/>
            </a:pPr>
            <a:r>
              <a:rPr lang="en-US" sz="1500" b="1" dirty="0">
                <a:solidFill>
                  <a:schemeClr val="tx2"/>
                </a:solidFill>
              </a:rPr>
              <a:t>Ties on closing targets, wins on opening ones.</a:t>
            </a:r>
            <a:endParaRPr lang="en-US" sz="1500" dirty="0"/>
          </a:p>
        </p:txBody>
      </p:sp>
      <p:sp>
        <p:nvSpPr>
          <p:cNvPr id="10" name="Text 8"/>
          <p:cNvSpPr txBox="1"/>
          <p:nvPr/>
        </p:nvSpPr>
        <p:spPr>
          <a:xfrm>
            <a:off x="960120" y="4480560"/>
            <a:ext cx="10241280" cy="1188720"/>
          </a:xfrm>
          <a:prstGeom prst="rect">
            <a:avLst/>
          </a:prstGeom>
          <a:noFill/>
          <a:ln/>
        </p:spPr>
        <p:txBody>
          <a:bodyPr wrap="square" lIns="0" tIns="0" rIns="0" bIns="0" rtlCol="0" anchor="ctr"/>
          <a:lstStyle/>
          <a:p>
            <a:pPr indent="0" marL="0">
              <a:buNone/>
            </a:pPr>
            <a:r>
              <a:rPr lang="en-US" sz="1400" dirty="0">
                <a:solidFill>
                  <a:schemeClr val="tx1"/>
                </a:solidFill>
              </a:rPr>
              <a:t>The round-specific information stays inside f*, and "best constant λ" is exactly the quantity the fixed ¼ pins down.</a:t>
            </a:r>
            <a:endParaRPr lang="en-US" sz="1400" dirty="0"/>
          </a:p>
        </p:txBody>
      </p:sp>
      <p:sp>
        <p:nvSpPr>
          <p:cNvPr id="11" name="Text 9"/>
          <p:cNvSpPr txBox="1"/>
          <p:nvPr/>
        </p:nvSpPr>
        <p:spPr>
          <a:xfrm>
            <a:off x="640080" y="6126480"/>
            <a:ext cx="10881360" cy="457200"/>
          </a:xfrm>
          <a:prstGeom prst="rect">
            <a:avLst/>
          </a:prstGeom>
          <a:noFill/>
          <a:ln/>
        </p:spPr>
        <p:txBody>
          <a:bodyPr wrap="square" rtlCol="0" anchor="ctr"/>
          <a:lstStyle/>
          <a:p>
            <a:pPr indent="0" marL="0">
              <a:buNone/>
            </a:pPr>
            <a:r>
              <a:rPr lang="en-US" sz="1500" i="1" dirty="0">
                <a:solidFill>
                  <a:schemeClr val="accent5"/>
                </a:solidFill>
              </a:rPr>
              <a:t>Same data, same test, same bets. Only the object of learning changed.</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914400" y="2286000"/>
            <a:ext cx="1828800" cy="1097280"/>
          </a:xfrm>
          <a:prstGeom prst="rect">
            <a:avLst/>
          </a:prstGeom>
          <a:noFill/>
          <a:ln/>
        </p:spPr>
        <p:txBody>
          <a:bodyPr wrap="square" rtlCol="0" anchor="ctr"/>
          <a:lstStyle/>
          <a:p>
            <a:pPr algn="l" indent="0" marL="0">
              <a:buNone/>
            </a:pPr>
            <a:r>
              <a:rPr lang="en-US" sz="6800" b="1" dirty="0">
                <a:solidFill>
                  <a:srgbClr val="6FA3D6"/>
                </a:solidFill>
              </a:rPr>
              <a:t>03</a:t>
            </a:r>
            <a:endParaRPr lang="en-US" sz="6800" dirty="0"/>
          </a:p>
        </p:txBody>
      </p:sp>
      <p:sp>
        <p:nvSpPr>
          <p:cNvPr id="3" name="Text 0"/>
          <p:cNvSpPr/>
          <p:nvPr>
            <p:ph idx="101" type="title" hasCustomPrompt="1"/>
          </p:nvPr>
        </p:nvSpPr>
        <p:spPr>
          <a:xfrm>
            <a:off x="2834640" y="2286000"/>
            <a:ext cx="8412480" cy="1097280"/>
          </a:xfrm>
          <a:prstGeom prst="rect">
            <a:avLst/>
          </a:prstGeom>
          <a:noFill/>
          <a:ln/>
        </p:spPr>
        <p:txBody>
          <a:bodyPr wrap="square" rtlCol="0" anchor="ctr"/>
          <a:lstStyle/>
          <a:p>
            <a:pPr algn="l" indent="0" marL="0">
              <a:buNone/>
            </a:pPr>
            <a:r>
              <a:rPr lang="en-US" sz="3600" b="1" dirty="0">
                <a:solidFill>
                  <a:schemeClr val="bg1"/>
                </a:solidFill>
              </a:rPr>
              <a:t>Data and protocol</a:t>
            </a:r>
            <a:endParaRPr lang="en-US" sz="3600" dirty="0"/>
          </a:p>
        </p:txBody>
      </p:sp>
      <p:sp>
        <p:nvSpPr>
          <p:cNvPr id="4" name="Text 0"/>
          <p:cNvSpPr/>
          <p:nvPr>
            <p:ph idx="102" type="body" hasCustomPrompt="1"/>
          </p:nvPr>
        </p:nvSpPr>
        <p:spPr>
          <a:xfrm>
            <a:off x="2834640" y="3474720"/>
            <a:ext cx="8412480" cy="1097280"/>
          </a:xfrm>
          <a:prstGeom prst="rect">
            <a:avLst/>
          </a:prstGeom>
          <a:noFill/>
          <a:ln/>
        </p:spPr>
        <p:txBody>
          <a:bodyPr wrap="square" rtlCol="0" anchor="t"/>
          <a:lstStyle/>
          <a:p>
            <a:pPr algn="l" indent="0" marL="0">
              <a:buNone/>
            </a:pPr>
            <a:r>
              <a:rPr lang="en-US" sz="1600" dirty="0">
                <a:solidFill>
                  <a:srgbClr val="CBD5E1"/>
                </a:solidFill>
              </a:rPr>
              <a:t>What is measured, and the three rules that keep the measurement honest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Three rules, each one earned</a:t>
            </a:r>
            <a:endParaRPr lang="en-US" sz="3000" dirty="0"/>
          </a:p>
        </p:txBody>
      </p:sp>
      <p:sp>
        <p:nvSpPr>
          <p:cNvPr id="3" name="circle-1"/>
          <p:cNvSpPr/>
          <p:nvPr/>
        </p:nvSpPr>
        <p:spPr>
          <a:xfrm>
            <a:off x="640080" y="1600200"/>
            <a:ext cx="566928" cy="566928"/>
          </a:xfrm>
          <a:prstGeom prst="ellipse">
            <a:avLst/>
          </a:prstGeom>
          <a:solidFill>
            <a:schemeClr val="accent1"/>
          </a:solidFill>
          <a:ln/>
        </p:spPr>
      </p:sp>
      <p:sp>
        <p:nvSpPr>
          <p:cNvPr id="4" name="Text 2"/>
          <p:cNvSpPr txBox="1"/>
          <p:nvPr/>
        </p:nvSpPr>
        <p:spPr>
          <a:xfrm>
            <a:off x="640080" y="1600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5" name="Text 3"/>
          <p:cNvSpPr txBox="1"/>
          <p:nvPr/>
        </p:nvSpPr>
        <p:spPr>
          <a:xfrm>
            <a:off x="1508760" y="1508760"/>
            <a:ext cx="10058400" cy="411480"/>
          </a:xfrm>
          <a:prstGeom prst="rect">
            <a:avLst/>
          </a:prstGeom>
          <a:noFill/>
          <a:ln/>
        </p:spPr>
        <p:txBody>
          <a:bodyPr wrap="square" lIns="0" tIns="0" rIns="0" bIns="0" rtlCol="0" anchor="ctr"/>
          <a:lstStyle/>
          <a:p>
            <a:pPr indent="0" marL="0">
              <a:buNone/>
            </a:pPr>
            <a:r>
              <a:rPr lang="en-US" sz="1800" b="1" dirty="0">
                <a:solidFill>
                  <a:schemeClr val="tx2"/>
                </a:solidFill>
              </a:rPr>
              <a:t>Select on a chronological prefix</a:t>
            </a:r>
            <a:endParaRPr lang="en-US" sz="1800" dirty="0"/>
          </a:p>
        </p:txBody>
      </p:sp>
      <p:sp>
        <p:nvSpPr>
          <p:cNvPr id="6" name="Text 4"/>
          <p:cNvSpPr txBox="1"/>
          <p:nvPr/>
        </p:nvSpPr>
        <p:spPr>
          <a:xfrm>
            <a:off x="1508760" y="1947672"/>
            <a:ext cx="10058400" cy="960120"/>
          </a:xfrm>
          <a:prstGeom prst="rect">
            <a:avLst/>
          </a:prstGeom>
          <a:noFill/>
          <a:ln/>
        </p:spPr>
        <p:txBody>
          <a:bodyPr wrap="square" lIns="0" tIns="0" rIns="0" bIns="0" rtlCol="0" anchor="ctr"/>
          <a:lstStyle/>
          <a:p>
            <a:pPr indent="0" marL="0">
              <a:buNone/>
            </a:pPr>
            <a:r>
              <a:rPr lang="en-US" sz="1450" dirty="0">
                <a:solidFill>
                  <a:schemeClr val="accent5"/>
                </a:solidFill>
              </a:rPr>
              <a:t>Hyperparameters are chosen on the first 75% of rounds and the tail is reported. Selecting on the tail is selecting on the test set, and here the two criteria disagree.</a:t>
            </a:r>
            <a:endParaRPr lang="en-US" sz="1450" dirty="0"/>
          </a:p>
        </p:txBody>
      </p:sp>
      <p:sp>
        <p:nvSpPr>
          <p:cNvPr id="7" name="circle-2"/>
          <p:cNvSpPr/>
          <p:nvPr/>
        </p:nvSpPr>
        <p:spPr>
          <a:xfrm>
            <a:off x="640080" y="3172968"/>
            <a:ext cx="566928" cy="566928"/>
          </a:xfrm>
          <a:prstGeom prst="ellipse">
            <a:avLst/>
          </a:prstGeom>
          <a:solidFill>
            <a:schemeClr val="accent1"/>
          </a:solidFill>
          <a:ln/>
        </p:spPr>
      </p:sp>
      <p:sp>
        <p:nvSpPr>
          <p:cNvPr id="8" name="Text 6"/>
          <p:cNvSpPr txBox="1"/>
          <p:nvPr/>
        </p:nvSpPr>
        <p:spPr>
          <a:xfrm>
            <a:off x="640080" y="317296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9" name="Text 7"/>
          <p:cNvSpPr txBox="1"/>
          <p:nvPr/>
        </p:nvSpPr>
        <p:spPr>
          <a:xfrm>
            <a:off x="1508760" y="3081528"/>
            <a:ext cx="10058400" cy="411480"/>
          </a:xfrm>
          <a:prstGeom prst="rect">
            <a:avLst/>
          </a:prstGeom>
          <a:noFill/>
          <a:ln/>
        </p:spPr>
        <p:txBody>
          <a:bodyPr wrap="square" lIns="0" tIns="0" rIns="0" bIns="0" rtlCol="0" anchor="ctr"/>
          <a:lstStyle/>
          <a:p>
            <a:pPr indent="0" marL="0">
              <a:buNone/>
            </a:pPr>
            <a:r>
              <a:rPr lang="en-US" sz="1800" b="1" dirty="0">
                <a:solidFill>
                  <a:schemeClr val="tx2"/>
                </a:solidFill>
              </a:rPr>
              <a:t>Score on ONE common round set</a:t>
            </a:r>
            <a:endParaRPr lang="en-US" sz="1800" dirty="0"/>
          </a:p>
        </p:txBody>
      </p:sp>
      <p:sp>
        <p:nvSpPr>
          <p:cNvPr id="10" name="Text 8"/>
          <p:cNvSpPr txBox="1"/>
          <p:nvPr/>
        </p:nvSpPr>
        <p:spPr>
          <a:xfrm>
            <a:off x="1508760" y="3520440"/>
            <a:ext cx="10058400" cy="960120"/>
          </a:xfrm>
          <a:prstGeom prst="rect">
            <a:avLst/>
          </a:prstGeom>
          <a:noFill/>
          <a:ln/>
        </p:spPr>
        <p:txBody>
          <a:bodyPr wrap="square" lIns="0" tIns="0" rIns="0" bIns="0" rtlCol="0" anchor="ctr"/>
          <a:lstStyle/>
          <a:p>
            <a:pPr indent="0" marL="0">
              <a:buNone/>
            </a:pPr>
            <a:r>
              <a:rPr lang="en-US" sz="1450" dirty="0">
                <a:solidFill>
                  <a:schemeClr val="accent5"/>
                </a:solidFill>
              </a:rPr>
              <a:t>Series with different coverage are fitted on their full support but scored only where all of them are defined. A log-loss over a different set of matches is not a comparable number.</a:t>
            </a:r>
            <a:endParaRPr lang="en-US" sz="1450" dirty="0"/>
          </a:p>
        </p:txBody>
      </p:sp>
      <p:sp>
        <p:nvSpPr>
          <p:cNvPr id="11" name="circle-3"/>
          <p:cNvSpPr/>
          <p:nvPr/>
        </p:nvSpPr>
        <p:spPr>
          <a:xfrm>
            <a:off x="640080" y="4745736"/>
            <a:ext cx="566928" cy="566928"/>
          </a:xfrm>
          <a:prstGeom prst="ellipse">
            <a:avLst/>
          </a:prstGeom>
          <a:solidFill>
            <a:schemeClr val="accent1"/>
          </a:solidFill>
          <a:ln/>
        </p:spPr>
      </p:sp>
      <p:sp>
        <p:nvSpPr>
          <p:cNvPr id="12" name="Text 10"/>
          <p:cNvSpPr txBox="1"/>
          <p:nvPr/>
        </p:nvSpPr>
        <p:spPr>
          <a:xfrm>
            <a:off x="640080" y="47457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3" name="Text 11"/>
          <p:cNvSpPr txBox="1"/>
          <p:nvPr/>
        </p:nvSpPr>
        <p:spPr>
          <a:xfrm>
            <a:off x="1508760" y="4654296"/>
            <a:ext cx="10058400" cy="411480"/>
          </a:xfrm>
          <a:prstGeom prst="rect">
            <a:avLst/>
          </a:prstGeom>
          <a:noFill/>
          <a:ln/>
        </p:spPr>
        <p:txBody>
          <a:bodyPr wrap="square" lIns="0" tIns="0" rIns="0" bIns="0" rtlCol="0" anchor="ctr"/>
          <a:lstStyle/>
          <a:p>
            <a:pPr indent="0" marL="0">
              <a:buNone/>
            </a:pPr>
            <a:r>
              <a:rPr lang="en-US" sz="1800" b="1" dirty="0">
                <a:solidFill>
                  <a:schemeClr val="tx2"/>
                </a:solidFill>
              </a:rPr>
              <a:t>Match the panel to the target's phase</a:t>
            </a:r>
            <a:endParaRPr lang="en-US" sz="1800" dirty="0"/>
          </a:p>
        </p:txBody>
      </p:sp>
      <p:sp>
        <p:nvSpPr>
          <p:cNvPr id="14" name="Text 12"/>
          <p:cNvSpPr txBox="1"/>
          <p:nvPr/>
        </p:nvSpPr>
        <p:spPr>
          <a:xfrm>
            <a:off x="1508760" y="5093208"/>
            <a:ext cx="10058400" cy="960120"/>
          </a:xfrm>
          <a:prstGeom prst="rect">
            <a:avLst/>
          </a:prstGeom>
          <a:noFill/>
          <a:ln/>
        </p:spPr>
        <p:txBody>
          <a:bodyPr wrap="square" lIns="0" tIns="0" rIns="0" bIns="0" rtlCol="0" anchor="ctr"/>
          <a:lstStyle/>
          <a:p>
            <a:pPr indent="0" marL="0">
              <a:buNone/>
            </a:pPr>
            <a:r>
              <a:rPr lang="en-US" sz="1450" dirty="0">
                <a:solidFill>
                  <a:schemeClr val="accent5"/>
                </a:solidFill>
              </a:rPr>
              <a:t>Betting into an opening price, the entire closing side leaves the training panel: no closing price exists yet at that moment.</a:t>
            </a:r>
            <a:endParaRPr lang="en-US" sz="14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914400" y="2286000"/>
            <a:ext cx="1828800" cy="1097280"/>
          </a:xfrm>
          <a:prstGeom prst="rect">
            <a:avLst/>
          </a:prstGeom>
          <a:noFill/>
          <a:ln/>
        </p:spPr>
        <p:txBody>
          <a:bodyPr wrap="square" rtlCol="0" anchor="ctr"/>
          <a:lstStyle/>
          <a:p>
            <a:pPr algn="l" indent="0" marL="0">
              <a:buNone/>
            </a:pPr>
            <a:r>
              <a:rPr lang="en-US" sz="6800" b="1" dirty="0">
                <a:solidFill>
                  <a:srgbClr val="6FA3D6"/>
                </a:solidFill>
              </a:rPr>
              <a:t>04</a:t>
            </a:r>
            <a:endParaRPr lang="en-US" sz="6800" dirty="0"/>
          </a:p>
        </p:txBody>
      </p:sp>
      <p:sp>
        <p:nvSpPr>
          <p:cNvPr id="3" name="Text 0"/>
          <p:cNvSpPr/>
          <p:nvPr>
            <p:ph idx="101" type="title" hasCustomPrompt="1"/>
          </p:nvPr>
        </p:nvSpPr>
        <p:spPr>
          <a:xfrm>
            <a:off x="2834640" y="2286000"/>
            <a:ext cx="8412480" cy="1097280"/>
          </a:xfrm>
          <a:prstGeom prst="rect">
            <a:avLst/>
          </a:prstGeom>
          <a:noFill/>
          <a:ln/>
        </p:spPr>
        <p:txBody>
          <a:bodyPr wrap="square" rtlCol="0" anchor="ctr"/>
          <a:lstStyle/>
          <a:p>
            <a:pPr algn="l" indent="0" marL="0">
              <a:buNone/>
            </a:pPr>
            <a:r>
              <a:rPr lang="en-US" sz="3600" b="1" dirty="0">
                <a:solidFill>
                  <a:schemeClr val="bg1"/>
                </a:solidFill>
              </a:rPr>
              <a:t>Results</a:t>
            </a:r>
            <a:endParaRPr lang="en-US" sz="3600" dirty="0"/>
          </a:p>
        </p:txBody>
      </p:sp>
      <p:sp>
        <p:nvSpPr>
          <p:cNvPr id="4" name="Text 0"/>
          <p:cNvSpPr/>
          <p:nvPr>
            <p:ph idx="102" type="body" hasCustomPrompt="1"/>
          </p:nvPr>
        </p:nvSpPr>
        <p:spPr>
          <a:xfrm>
            <a:off x="2834640" y="3474720"/>
            <a:ext cx="8412480" cy="1097280"/>
          </a:xfrm>
          <a:prstGeom prst="rect">
            <a:avLst/>
          </a:prstGeom>
          <a:noFill/>
          <a:ln/>
        </p:spPr>
        <p:txBody>
          <a:bodyPr wrap="square" rtlCol="0" anchor="t"/>
          <a:lstStyle/>
          <a:p>
            <a:pPr algn="l" indent="0" marL="0">
              <a:buNone/>
            </a:pPr>
            <a:r>
              <a:rPr lang="en-US" sz="1600" dirty="0">
                <a:solidFill>
                  <a:srgbClr val="CBD5E1"/>
                </a:solidFill>
              </a:rPr>
              <a:t>Where the mixture stands, and what the measurements refuse to support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The theoretical step is wrong, in both directions</a:t>
            </a:r>
            <a:endParaRPr lang="en-US" sz="3000" dirty="0"/>
          </a:p>
        </p:txBody>
      </p:sp>
      <p:graphicFrame>
        <p:nvGraphicFramePr>
          <p:cNvPr id="3" name="Chart 0" descr=""/>
          <p:cNvGraphicFramePr/>
          <p:nvPr/>
        </p:nvGraphicFramePr>
        <p:xfrm>
          <a:off x="640080" y="1463040"/>
          <a:ext cx="6675120" cy="3840480"/>
        </p:xfrm>
        <a:graphic xmlns:a="http://schemas.openxmlformats.org/drawingml/2006/main">
          <a:graphicData uri="http://schemas.openxmlformats.org/drawingml/2006/chart">
            <c:chart xmlns:c="http://schemas.openxmlformats.org/drawingml/2006/chart" r:id="rId1"/>
          </a:graphicData>
        </a:graphic>
      </p:graphicFrame>
      <p:sp>
        <p:nvSpPr>
          <p:cNvPr id="4" name="step-note"/>
          <p:cNvSpPr/>
          <p:nvPr/>
        </p:nvSpPr>
        <p:spPr>
          <a:xfrm>
            <a:off x="7589520" y="1463040"/>
            <a:ext cx="3931920" cy="3840480"/>
          </a:xfrm>
          <a:prstGeom prst="roundRect">
            <a:avLst>
              <a:gd name="adj" fmla="val 1905"/>
            </a:avLst>
          </a:prstGeom>
          <a:solidFill>
            <a:srgbClr val="F2F5F9"/>
          </a:solidFill>
          <a:ln w="12700">
            <a:solidFill>
              <a:srgbClr val="E2E8F0"/>
            </a:solidFill>
            <a:prstDash val="solid"/>
          </a:ln>
        </p:spPr>
      </p:sp>
      <p:sp>
        <p:nvSpPr>
          <p:cNvPr id="5" name="Text 2"/>
          <p:cNvSpPr txBox="1"/>
          <p:nvPr/>
        </p:nvSpPr>
        <p:spPr>
          <a:xfrm>
            <a:off x="7909560" y="1691640"/>
            <a:ext cx="3291840" cy="411480"/>
          </a:xfrm>
          <a:prstGeom prst="rect">
            <a:avLst/>
          </a:prstGeom>
          <a:noFill/>
          <a:ln/>
        </p:spPr>
        <p:txBody>
          <a:bodyPr wrap="square" lIns="0" tIns="0" rIns="0" bIns="0" rtlCol="0" anchor="ctr"/>
          <a:lstStyle/>
          <a:p>
            <a:pPr indent="0" marL="0">
              <a:buNone/>
            </a:pPr>
            <a:r>
              <a:rPr lang="en-US" sz="1800" b="1" dirty="0">
                <a:solidFill>
                  <a:schemeClr val="accent1"/>
                </a:solidFill>
              </a:rPr>
              <a:t>OGD wants ×100</a:t>
            </a:r>
            <a:endParaRPr lang="en-US" sz="1800" dirty="0"/>
          </a:p>
        </p:txBody>
      </p:sp>
      <p:sp>
        <p:nvSpPr>
          <p:cNvPr id="6" name="Text 3"/>
          <p:cNvSpPr txBox="1"/>
          <p:nvPr/>
        </p:nvSpPr>
        <p:spPr>
          <a:xfrm>
            <a:off x="7909560" y="2148840"/>
            <a:ext cx="3291840" cy="914400"/>
          </a:xfrm>
          <a:prstGeom prst="rect">
            <a:avLst/>
          </a:prstGeom>
          <a:noFill/>
          <a:ln/>
        </p:spPr>
        <p:txBody>
          <a:bodyPr wrap="square" lIns="0" tIns="0" rIns="0" bIns="0" rtlCol="0" anchor="ctr"/>
          <a:lstStyle/>
          <a:p>
            <a:pPr indent="0" marL="0">
              <a:buNone/>
            </a:pPr>
            <a:r>
              <a:rPr lang="en-US" sz="1400" dirty="0">
                <a:solidFill>
                  <a:schemeClr val="tx1"/>
                </a:solidFill>
              </a:rPr>
              <a:t>A genuine interior optimum: a plateau from ×75 to ×110, clearly worse at ×200 and beyond.</a:t>
            </a:r>
            <a:endParaRPr lang="en-US" sz="1400" dirty="0"/>
          </a:p>
        </p:txBody>
      </p:sp>
      <p:sp>
        <p:nvSpPr>
          <p:cNvPr id="7" name="Text 4"/>
          <p:cNvSpPr txBox="1"/>
          <p:nvPr/>
        </p:nvSpPr>
        <p:spPr>
          <a:xfrm>
            <a:off x="7909560" y="3200400"/>
            <a:ext cx="3291840" cy="411480"/>
          </a:xfrm>
          <a:prstGeom prst="rect">
            <a:avLst/>
          </a:prstGeom>
          <a:noFill/>
          <a:ln/>
        </p:spPr>
        <p:txBody>
          <a:bodyPr wrap="square" lIns="0" tIns="0" rIns="0" bIns="0" rtlCol="0" anchor="ctr"/>
          <a:lstStyle/>
          <a:p>
            <a:pPr indent="0" marL="0">
              <a:buNone/>
            </a:pPr>
            <a:r>
              <a:rPr lang="en-US" sz="1600" b="1" dirty="0">
                <a:solidFill>
                  <a:schemeClr val="accent2"/>
                </a:solidFill>
              </a:rPr>
              <a:t>Hedge and FTRL want LESS</a:t>
            </a:r>
            <a:endParaRPr lang="en-US" sz="1600" dirty="0"/>
          </a:p>
        </p:txBody>
      </p:sp>
      <p:sp>
        <p:nvSpPr>
          <p:cNvPr id="8" name="Text 5"/>
          <p:cNvSpPr txBox="1"/>
          <p:nvPr/>
        </p:nvSpPr>
        <p:spPr>
          <a:xfrm>
            <a:off x="7909560" y="3639312"/>
            <a:ext cx="3291840" cy="1463040"/>
          </a:xfrm>
          <a:prstGeom prst="rect">
            <a:avLst/>
          </a:prstGeom>
          <a:noFill/>
          <a:ln/>
        </p:spPr>
        <p:txBody>
          <a:bodyPr wrap="square" lIns="0" tIns="0" rIns="0" bIns="0" rtlCol="0" anchor="ctr"/>
          <a:lstStyle/>
          <a:p>
            <a:pPr indent="0" marL="0">
              <a:buNone/>
            </a:pPr>
            <a:r>
              <a:rPr lang="en-US" sz="1400" dirty="0">
                <a:solidFill>
                  <a:schemeClr val="tx1"/>
                </a:solidFill>
              </a:rPr>
              <a:t>×0.25 and ×0.05. The worst-case bound M = log(1/ε) ≈ 13.8 assumes a loss the data never produces; the largest observed is 3.76.</a:t>
            </a:r>
            <a:endParaRPr lang="en-US" sz="14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A step that never decays: right for exactly one algorithm</a:t>
            </a:r>
            <a:endParaRPr lang="en-US" sz="3000" dirty="0"/>
          </a:p>
        </p:txBody>
      </p:sp>
      <p:graphicFrame>
        <p:nvGraphicFramePr>
          <p:cNvPr id="3" name="Chart 0" descr=""/>
          <p:cNvGraphicFramePr/>
          <p:nvPr/>
        </p:nvGraphicFramePr>
        <p:xfrm>
          <a:off x="640080" y="1554480"/>
          <a:ext cx="6400800" cy="3566160"/>
        </p:xfrm>
        <a:graphic xmlns:a="http://schemas.openxmlformats.org/drawingml/2006/main">
          <a:graphicData uri="http://schemas.openxmlformats.org/drawingml/2006/chart">
            <c:chart xmlns:c="http://schemas.openxmlformats.org/drawingml/2006/chart" r:id="rId1"/>
          </a:graphicData>
        </a:graphic>
      </p:graphicFrame>
      <p:sp>
        <p:nvSpPr>
          <p:cNvPr id="4" name="const-note"/>
          <p:cNvSpPr/>
          <p:nvPr/>
        </p:nvSpPr>
        <p:spPr>
          <a:xfrm>
            <a:off x="7315200" y="1554480"/>
            <a:ext cx="4206240" cy="3566160"/>
          </a:xfrm>
          <a:prstGeom prst="roundRect">
            <a:avLst>
              <a:gd name="adj" fmla="val 2051"/>
            </a:avLst>
          </a:prstGeom>
          <a:solidFill>
            <a:srgbClr val="F2F5F9"/>
          </a:solidFill>
          <a:ln w="12700">
            <a:solidFill>
              <a:srgbClr val="E2E8F0"/>
            </a:solidFill>
            <a:prstDash val="solid"/>
          </a:ln>
        </p:spPr>
      </p:sp>
      <p:sp>
        <p:nvSpPr>
          <p:cNvPr id="5" name="Text 2"/>
          <p:cNvSpPr txBox="1"/>
          <p:nvPr/>
        </p:nvSpPr>
        <p:spPr>
          <a:xfrm>
            <a:off x="7635240" y="1783080"/>
            <a:ext cx="3566160" cy="411480"/>
          </a:xfrm>
          <a:prstGeom prst="rect">
            <a:avLst/>
          </a:prstGeom>
          <a:noFill/>
          <a:ln/>
        </p:spPr>
        <p:txBody>
          <a:bodyPr wrap="square" lIns="0" tIns="0" rIns="0" bIns="0" rtlCol="0" anchor="ctr"/>
          <a:lstStyle/>
          <a:p>
            <a:pPr indent="0" marL="0">
              <a:buNone/>
            </a:pPr>
            <a:r>
              <a:rPr lang="en-US" sz="1800" b="1" dirty="0">
                <a:solidFill>
                  <a:schemeClr val="accent3"/>
                </a:solidFill>
              </a:rPr>
              <a:t>Why only FTRL</a:t>
            </a:r>
            <a:endParaRPr lang="en-US" sz="1800" dirty="0"/>
          </a:p>
        </p:txBody>
      </p:sp>
      <p:sp>
        <p:nvSpPr>
          <p:cNvPr id="6" name="Text 3"/>
          <p:cNvSpPr txBox="1"/>
          <p:nvPr/>
        </p:nvSpPr>
        <p:spPr>
          <a:xfrm>
            <a:off x="7635240" y="2240280"/>
            <a:ext cx="3566160" cy="1371600"/>
          </a:xfrm>
          <a:prstGeom prst="rect">
            <a:avLst/>
          </a:prstGeom>
          <a:noFill/>
          <a:ln/>
        </p:spPr>
        <p:txBody>
          <a:bodyPr wrap="square" lIns="0" tIns="0" rIns="0" bIns="0" rtlCol="0" anchor="ctr"/>
          <a:lstStyle/>
          <a:p>
            <a:pPr indent="0" marL="0">
              <a:buNone/>
            </a:pPr>
            <a:r>
              <a:rPr lang="en-US" sz="1400" dirty="0">
                <a:solidFill>
                  <a:schemeClr val="tx1"/>
                </a:solidFill>
              </a:rPr>
              <a:t>FTRL's η multiplies the entire accumulated loss, not one round's gradient. It is the one of the three for which "non-decaying" means something qualitatively different.</a:t>
            </a:r>
            <a:endParaRPr lang="en-US" sz="1400" dirty="0"/>
          </a:p>
        </p:txBody>
      </p:sp>
      <p:sp>
        <p:nvSpPr>
          <p:cNvPr id="7" name="Text 4"/>
          <p:cNvSpPr txBox="1"/>
          <p:nvPr/>
        </p:nvSpPr>
        <p:spPr>
          <a:xfrm>
            <a:off x="7635240" y="3657600"/>
            <a:ext cx="3566160" cy="365760"/>
          </a:xfrm>
          <a:prstGeom prst="rect">
            <a:avLst/>
          </a:prstGeom>
          <a:noFill/>
          <a:ln/>
        </p:spPr>
        <p:txBody>
          <a:bodyPr wrap="square" lIns="0" tIns="0" rIns="0" bIns="0" rtlCol="0" anchor="ctr"/>
          <a:lstStyle/>
          <a:p>
            <a:pPr indent="0" marL="0">
              <a:buNone/>
            </a:pPr>
            <a:r>
              <a:rPr lang="en-US" sz="1700" b="1" dirty="0">
                <a:solidFill>
                  <a:schemeClr val="accent3"/>
                </a:solidFill>
              </a:rPr>
              <a:t>−0.000102,  p &lt; 0.001</a:t>
            </a:r>
            <a:endParaRPr lang="en-US" sz="1700" dirty="0"/>
          </a:p>
        </p:txBody>
      </p:sp>
      <p:sp>
        <p:nvSpPr>
          <p:cNvPr id="8" name="Text 5"/>
          <p:cNvSpPr txBox="1"/>
          <p:nvPr/>
        </p:nvSpPr>
        <p:spPr>
          <a:xfrm>
            <a:off x="7635240" y="4069080"/>
            <a:ext cx="3566160" cy="914400"/>
          </a:xfrm>
          <a:prstGeom prst="rect">
            <a:avLst/>
          </a:prstGeom>
          <a:noFill/>
          <a:ln/>
        </p:spPr>
        <p:txBody>
          <a:bodyPr wrap="square" lIns="0" tIns="0" rIns="0" bIns="0" rtlCol="0" anchor="ctr"/>
          <a:lstStyle/>
          <a:p>
            <a:pPr indent="0" marL="0">
              <a:buNone/>
            </a:pPr>
            <a:r>
              <a:rPr lang="en-US" sz="1350" dirty="0">
                <a:solidFill>
                  <a:schemeClr val="accent5"/>
                </a:solidFill>
              </a:rPr>
              <a:t>and the two schemes score IDENTICALLY on the training prefix, so the selection did not favour it to flatter the tail.</a:t>
            </a:r>
            <a:endParaRPr lang="en-US" sz="13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Where the mixture lands</a:t>
            </a:r>
            <a:endParaRPr lang="en-US" sz="3000" dirty="0"/>
          </a:p>
        </p:txBody>
      </p:sp>
      <p:graphicFrame>
        <p:nvGraphicFramePr>
          <p:cNvPr id="3" name="Chart 0" descr=""/>
          <p:cNvGraphicFramePr/>
          <p:nvPr/>
        </p:nvGraphicFramePr>
        <p:xfrm>
          <a:off x="640080" y="146304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4" name="rank-note"/>
          <p:cNvSpPr/>
          <p:nvPr/>
        </p:nvSpPr>
        <p:spPr>
          <a:xfrm>
            <a:off x="7863840" y="1463040"/>
            <a:ext cx="3657600" cy="4114800"/>
          </a:xfrm>
          <a:prstGeom prst="roundRect">
            <a:avLst>
              <a:gd name="adj" fmla="val 2000"/>
            </a:avLst>
          </a:prstGeom>
          <a:solidFill>
            <a:srgbClr val="F2F5F9"/>
          </a:solidFill>
          <a:ln w="12700">
            <a:solidFill>
              <a:srgbClr val="E2E8F0"/>
            </a:solidFill>
            <a:prstDash val="solid"/>
          </a:ln>
        </p:spPr>
      </p:sp>
      <p:sp>
        <p:nvSpPr>
          <p:cNvPr id="5" name="Text 2"/>
          <p:cNvSpPr txBox="1"/>
          <p:nvPr/>
        </p:nvSpPr>
        <p:spPr>
          <a:xfrm>
            <a:off x="8183880" y="1691640"/>
            <a:ext cx="3017520" cy="365760"/>
          </a:xfrm>
          <a:prstGeom prst="rect">
            <a:avLst/>
          </a:prstGeom>
          <a:noFill/>
          <a:ln/>
        </p:spPr>
        <p:txBody>
          <a:bodyPr wrap="square" lIns="0" tIns="0" rIns="0" bIns="0" rtlCol="0" anchor="ctr"/>
          <a:lstStyle/>
          <a:p>
            <a:pPr indent="0" marL="0">
              <a:buNone/>
            </a:pPr>
            <a:r>
              <a:rPr lang="en-US" sz="1800" b="1" dirty="0">
                <a:solidFill>
                  <a:schemeClr val="accent1"/>
                </a:solidFill>
              </a:rPr>
              <a:t>OGD is second</a:t>
            </a:r>
            <a:endParaRPr lang="en-US" sz="1800" dirty="0"/>
          </a:p>
        </p:txBody>
      </p:sp>
      <p:sp>
        <p:nvSpPr>
          <p:cNvPr id="6" name="Text 3"/>
          <p:cNvSpPr txBox="1"/>
          <p:nvPr/>
        </p:nvSpPr>
        <p:spPr>
          <a:xfrm>
            <a:off x="8183880" y="2148840"/>
            <a:ext cx="3017520" cy="3108960"/>
          </a:xfrm>
          <a:prstGeom prst="rect">
            <a:avLst/>
          </a:prstGeom>
          <a:noFill/>
          <a:ln/>
        </p:spPr>
        <p:txBody>
          <a:bodyPr wrap="square" rtlCol="0" anchor="ctr"/>
          <a:lstStyle/>
          <a:p>
            <a:pPr marL="342900" indent="-342900">
              <a:spcAft>
                <a:spcPts val="1000"/>
              </a:spcAft>
              <a:buSzPct val="100000"/>
              <a:buChar char="•"/>
            </a:pPr>
            <a:r>
              <a:rPr lang="en-US" sz="1350" dirty="0">
                <a:solidFill>
                  <a:schemeClr val="tx1"/>
                </a:solidFill>
              </a:rPr>
              <a:t>beats the uniform average by 0.00140 (p &lt; 0.001)</a:t>
            </a:r>
            <a:endParaRPr lang="en-US" sz="1350" dirty="0"/>
          </a:p>
          <a:p>
            <a:pPr marL="342900" indent="-342900">
              <a:spcAft>
                <a:spcPts val="1000"/>
              </a:spcAft>
              <a:buSzPct val="100000"/>
              <a:buChar char="•"/>
            </a:pPr>
            <a:r>
              <a:rPr lang="en-US" sz="1350" dirty="0">
                <a:solidFill>
                  <a:schemeClr val="tx1"/>
                </a:solidFill>
              </a:rPr>
              <a:t>beats Hedge, FTRL and B365C significantly</a:t>
            </a:r>
            <a:endParaRPr lang="en-US" sz="1350" dirty="0"/>
          </a:p>
          <a:p>
            <a:pPr marL="342900" indent="-342900">
              <a:spcAft>
                <a:spcPts val="1000"/>
              </a:spcAft>
              <a:buSzPct val="100000"/>
              <a:buChar char="•"/>
            </a:pPr>
            <a:r>
              <a:rPr lang="en-US" sz="1350" dirty="0">
                <a:solidFill>
                  <a:schemeClr val="tx1"/>
                </a:solidFill>
              </a:rPr>
              <a:t>PSC (Pinnacle) stays ahead by 0.00043</a:t>
            </a:r>
            <a:endParaRPr lang="en-US" sz="1350" dirty="0"/>
          </a:p>
          <a:p>
            <a:pPr marL="342900" indent="-342900">
              <a:spcAft>
                <a:spcPts val="1000"/>
              </a:spcAft>
              <a:buSzPct val="100000"/>
              <a:buChar char="•"/>
            </a:pPr>
            <a:r>
              <a:rPr lang="en-US" sz="1350" dirty="0">
                <a:solidFill>
                  <a:schemeClr val="tx1"/>
                </a:solidFill>
              </a:rPr>
              <a:t>calibration helps all four methods</a:t>
            </a:r>
            <a:endParaRPr lang="en-US" sz="1350" dirty="0"/>
          </a:p>
        </p:txBody>
      </p:sp>
      <p:sp>
        <p:nvSpPr>
          <p:cNvPr id="7" name="Text 4"/>
          <p:cNvSpPr txBox="1"/>
          <p:nvPr/>
        </p:nvSpPr>
        <p:spPr>
          <a:xfrm>
            <a:off x="640080" y="5715000"/>
            <a:ext cx="6949440" cy="320040"/>
          </a:xfrm>
          <a:prstGeom prst="rect">
            <a:avLst/>
          </a:prstGeom>
          <a:noFill/>
          <a:ln/>
        </p:spPr>
        <p:txBody>
          <a:bodyPr wrap="square" rtlCol="0" anchor="ctr"/>
          <a:lstStyle/>
          <a:p>
            <a:pPr indent="0" marL="0">
              <a:buNone/>
            </a:pPr>
            <a:r>
              <a:rPr lang="en-US" sz="1200" i="1" dirty="0">
                <a:solidFill>
                  <a:schemeClr val="accent5"/>
                </a:solidFill>
              </a:rPr>
              <a:t>lower is better · blue = algorithm · red = bookmaker · bars full-sample, tests paired on common rounds</a:t>
            </a:r>
            <a:endParaRPr lang="en-US" sz="12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Learning pays only where the experts differ</a:t>
            </a:r>
            <a:endParaRPr lang="en-US" sz="3000" dirty="0"/>
          </a:p>
        </p:txBody>
      </p:sp>
      <p:graphicFrame>
        <p:nvGraphicFramePr>
          <p:cNvPr id="3" name="Chart 0" descr=""/>
          <p:cNvGraphicFramePr/>
          <p:nvPr/>
        </p:nvGraphicFramePr>
        <p:xfrm>
          <a:off x="640080" y="1554480"/>
          <a:ext cx="6766560" cy="3657600"/>
        </p:xfrm>
        <a:graphic xmlns:a="http://schemas.openxmlformats.org/drawingml/2006/main">
          <a:graphicData uri="http://schemas.openxmlformats.org/drawingml/2006/chart">
            <c:chart xmlns:c="http://schemas.openxmlformats.org/drawingml/2006/chart" r:id="rId1"/>
          </a:graphicData>
        </a:graphic>
      </p:graphicFrame>
      <p:sp>
        <p:nvSpPr>
          <p:cNvPr id="4" name="panel-note"/>
          <p:cNvSpPr/>
          <p:nvPr/>
        </p:nvSpPr>
        <p:spPr>
          <a:xfrm>
            <a:off x="7680960" y="1554480"/>
            <a:ext cx="3840480" cy="3657600"/>
          </a:xfrm>
          <a:prstGeom prst="roundRect">
            <a:avLst>
              <a:gd name="adj" fmla="val 2000"/>
            </a:avLst>
          </a:prstGeom>
          <a:solidFill>
            <a:srgbClr val="FBF0F0"/>
          </a:solidFill>
          <a:ln w="12700">
            <a:solidFill>
              <a:srgbClr val="E2E8F0"/>
            </a:solidFill>
            <a:prstDash val="solid"/>
          </a:ln>
        </p:spPr>
      </p:sp>
      <p:sp>
        <p:nvSpPr>
          <p:cNvPr id="5" name="Text 2"/>
          <p:cNvSpPr txBox="1"/>
          <p:nvPr/>
        </p:nvSpPr>
        <p:spPr>
          <a:xfrm>
            <a:off x="8001000" y="1783080"/>
            <a:ext cx="3200400" cy="365760"/>
          </a:xfrm>
          <a:prstGeom prst="rect">
            <a:avLst/>
          </a:prstGeom>
          <a:noFill/>
          <a:ln/>
        </p:spPr>
        <p:txBody>
          <a:bodyPr wrap="square" lIns="0" tIns="0" rIns="0" bIns="0" rtlCol="0" anchor="ctr"/>
          <a:lstStyle/>
          <a:p>
            <a:pPr indent="0" marL="0">
              <a:buNone/>
            </a:pPr>
            <a:r>
              <a:rPr lang="en-US" sz="1800" b="1" dirty="0">
                <a:solidFill>
                  <a:schemeClr val="accent2"/>
                </a:solidFill>
              </a:rPr>
              <a:t>The reversal</a:t>
            </a:r>
            <a:endParaRPr lang="en-US" sz="1800" dirty="0"/>
          </a:p>
        </p:txBody>
      </p:sp>
      <p:sp>
        <p:nvSpPr>
          <p:cNvPr id="6" name="Text 3"/>
          <p:cNvSpPr txBox="1"/>
          <p:nvPr/>
        </p:nvSpPr>
        <p:spPr>
          <a:xfrm>
            <a:off x="8001000" y="2194560"/>
            <a:ext cx="3200400" cy="1828800"/>
          </a:xfrm>
          <a:prstGeom prst="rect">
            <a:avLst/>
          </a:prstGeom>
          <a:noFill/>
          <a:ln/>
        </p:spPr>
        <p:txBody>
          <a:bodyPr wrap="square" lIns="0" tIns="0" rIns="0" bIns="0" rtlCol="0" anchor="ctr"/>
          <a:lstStyle/>
          <a:p>
            <a:pPr indent="0" marL="0">
              <a:buNone/>
            </a:pPr>
            <a:r>
              <a:rPr lang="en-US" sz="1400" dirty="0">
                <a:solidFill>
                  <a:schemeClr val="tx1"/>
                </a:solidFill>
              </a:rPr>
              <a:t>On the FULL panel all three algorithms beat the plain average significantly.</a:t>
            </a:r>
            <a:endParaRPr lang="en-US" sz="1400" dirty="0"/>
          </a:p>
          <a:p>
            <a:pPr indent="0" marL="0">
              <a:buNone/>
            </a:pPr>
            <a:endParaRPr lang="en-US" sz="1400" dirty="0"/>
          </a:p>
          <a:p>
            <a:pPr indent="0" marL="0">
              <a:buNone/>
            </a:pPr>
            <a:r>
              <a:rPr lang="en-US" sz="1400" dirty="0">
                <a:solidFill>
                  <a:schemeClr val="tx1"/>
                </a:solidFill>
              </a:rPr>
              <a:t>On the HOMOGENEOUS closing panel, Hedge and FTRL LOSE to it, in 4 tests out of 4; on the opening one all three tie.</a:t>
            </a:r>
            <a:endParaRPr lang="en-US" sz="1400" dirty="0"/>
          </a:p>
        </p:txBody>
      </p:sp>
      <p:sp>
        <p:nvSpPr>
          <p:cNvPr id="7" name="Text 4"/>
          <p:cNvSpPr txBox="1"/>
          <p:nvPr/>
        </p:nvSpPr>
        <p:spPr>
          <a:xfrm>
            <a:off x="8001000" y="4023360"/>
            <a:ext cx="3200400" cy="1097280"/>
          </a:xfrm>
          <a:prstGeom prst="rect">
            <a:avLst/>
          </a:prstGeom>
          <a:noFill/>
          <a:ln/>
        </p:spPr>
        <p:txBody>
          <a:bodyPr wrap="square" lIns="0" tIns="0" rIns="0" bIns="0" rtlCol="0" anchor="ctr"/>
          <a:lstStyle/>
          <a:p>
            <a:pPr indent="0" marL="0">
              <a:buNone/>
            </a:pPr>
            <a:r>
              <a:rPr lang="en-US" sz="1350" i="1" dirty="0">
                <a:solidFill>
                  <a:schemeClr val="accent5"/>
                </a:solidFill>
              </a:rPr>
              <a:t>13 good closing experts and 13 systematically worse opening ones is a quality difference to learn. Remove it and adaptation buys nothing.</a:t>
            </a:r>
            <a:endParaRPr lang="en-US" sz="13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The prediction from theory, tested</a:t>
            </a:r>
            <a:endParaRPr lang="en-US" sz="3000" dirty="0"/>
          </a:p>
        </p:txBody>
      </p:sp>
      <p:graphicFrame>
        <p:nvGraphicFramePr>
          <p:cNvPr id="3" name="Chart 0" descr=""/>
          <p:cNvGraphicFramePr/>
          <p:nvPr/>
        </p:nvGraphicFramePr>
        <p:xfrm>
          <a:off x="640080" y="1554480"/>
          <a:ext cx="6675120" cy="3749040"/>
        </p:xfrm>
        <a:graphic xmlns:a="http://schemas.openxmlformats.org/drawingml/2006/main">
          <a:graphicData uri="http://schemas.openxmlformats.org/drawingml/2006/chart">
            <c:chart xmlns:c="http://schemas.openxmlformats.org/drawingml/2006/chart" r:id="rId1"/>
          </a:graphicData>
        </a:graphic>
      </p:graphicFrame>
      <p:sp>
        <p:nvSpPr>
          <p:cNvPr id="4" name="arr-note"/>
          <p:cNvSpPr/>
          <p:nvPr/>
        </p:nvSpPr>
        <p:spPr>
          <a:xfrm>
            <a:off x="7589520" y="1554480"/>
            <a:ext cx="3931920" cy="3749040"/>
          </a:xfrm>
          <a:prstGeom prst="roundRect">
            <a:avLst>
              <a:gd name="adj" fmla="val 1951"/>
            </a:avLst>
          </a:prstGeom>
          <a:solidFill>
            <a:srgbClr val="F2F5F9"/>
          </a:solidFill>
          <a:ln w="12700">
            <a:solidFill>
              <a:srgbClr val="E2E8F0"/>
            </a:solidFill>
            <a:prstDash val="solid"/>
          </a:ln>
        </p:spPr>
      </p:sp>
      <p:sp>
        <p:nvSpPr>
          <p:cNvPr id="5" name="Text 2"/>
          <p:cNvSpPr txBox="1"/>
          <p:nvPr/>
        </p:nvSpPr>
        <p:spPr>
          <a:xfrm>
            <a:off x="7909560" y="1783080"/>
            <a:ext cx="3291840" cy="365760"/>
          </a:xfrm>
          <a:prstGeom prst="rect">
            <a:avLst/>
          </a:prstGeom>
          <a:noFill/>
          <a:ln/>
        </p:spPr>
        <p:txBody>
          <a:bodyPr wrap="square" lIns="0" tIns="0" rIns="0" bIns="0" rtlCol="0" anchor="ctr"/>
          <a:lstStyle/>
          <a:p>
            <a:pPr indent="0" marL="0">
              <a:buNone/>
            </a:pPr>
            <a:r>
              <a:rPr lang="en-US" sz="1800" b="1" dirty="0">
                <a:solidFill>
                  <a:schemeClr val="accent1"/>
                </a:solidFill>
              </a:rPr>
              <a:t>A 26-fold gradient</a:t>
            </a:r>
            <a:endParaRPr lang="en-US" sz="1800" dirty="0"/>
          </a:p>
        </p:txBody>
      </p:sp>
      <p:sp>
        <p:nvSpPr>
          <p:cNvPr id="6" name="Text 3"/>
          <p:cNvSpPr txBox="1"/>
          <p:nvPr/>
        </p:nvSpPr>
        <p:spPr>
          <a:xfrm>
            <a:off x="7909560" y="2194560"/>
            <a:ext cx="3291840" cy="1371600"/>
          </a:xfrm>
          <a:prstGeom prst="rect">
            <a:avLst/>
          </a:prstGeom>
          <a:noFill/>
          <a:ln/>
        </p:spPr>
        <p:txBody>
          <a:bodyPr wrap="square" lIns="0" tIns="0" rIns="0" bIns="0" rtlCol="0" anchor="ctr"/>
          <a:lstStyle/>
          <a:p>
            <a:pPr indent="0" marL="0">
              <a:buNone/>
            </a:pPr>
            <a:r>
              <a:rPr lang="en-US" sz="1400" dirty="0">
                <a:solidFill>
                  <a:schemeClr val="tx1"/>
                </a:solidFill>
              </a:rPr>
              <a:t>Microstructure predicted the closing advantage should concentrate where the line moved. It does: 0.00045 in the quiet fifth, 0.01180 in the noisy one.</a:t>
            </a:r>
            <a:endParaRPr lang="en-US" sz="1400" dirty="0"/>
          </a:p>
        </p:txBody>
      </p:sp>
      <p:sp>
        <p:nvSpPr>
          <p:cNvPr id="7" name="Text 4"/>
          <p:cNvSpPr txBox="1"/>
          <p:nvPr/>
        </p:nvSpPr>
        <p:spPr>
          <a:xfrm>
            <a:off x="7909560" y="3611880"/>
            <a:ext cx="3291840" cy="548640"/>
          </a:xfrm>
          <a:prstGeom prst="rect">
            <a:avLst/>
          </a:prstGeom>
          <a:noFill/>
          <a:ln/>
        </p:spPr>
        <p:txBody>
          <a:bodyPr wrap="square" lIns="0" tIns="0" rIns="0" bIns="0" rtlCol="0" anchor="ctr"/>
          <a:lstStyle/>
          <a:p>
            <a:pPr indent="0" marL="0">
              <a:buNone/>
            </a:pPr>
            <a:r>
              <a:rPr lang="en-US" sz="1400" b="1" dirty="0">
                <a:solidFill>
                  <a:schemeClr val="accent2"/>
                </a:solidFill>
              </a:rPr>
              <a:t>In Q1 it is only just significant (p = 0.048).</a:t>
            </a:r>
            <a:endParaRPr lang="en-US" sz="1400" dirty="0"/>
          </a:p>
        </p:txBody>
      </p:sp>
      <p:sp>
        <p:nvSpPr>
          <p:cNvPr id="8" name="Text 5"/>
          <p:cNvSpPr txBox="1"/>
          <p:nvPr/>
        </p:nvSpPr>
        <p:spPr>
          <a:xfrm>
            <a:off x="7909560" y="4206240"/>
            <a:ext cx="3291840" cy="1005840"/>
          </a:xfrm>
          <a:prstGeom prst="rect">
            <a:avLst/>
          </a:prstGeom>
          <a:noFill/>
          <a:ln/>
        </p:spPr>
        <p:txBody>
          <a:bodyPr wrap="square" lIns="0" tIns="0" rIns="0" bIns="0" rtlCol="0" anchor="ctr"/>
          <a:lstStyle/>
          <a:p>
            <a:pPr indent="0" marL="0">
              <a:buNone/>
            </a:pPr>
            <a:r>
              <a:rPr lang="en-US" sz="1350" i="1" dirty="0">
                <a:solidFill>
                  <a:schemeClr val="accent5"/>
                </a:solidFill>
              </a:rPr>
              <a:t>"Closing prices are better" is not a general property of final prices. It is a property of the top quintile.</a:t>
            </a:r>
            <a:endParaRPr lang="en-US" sz="13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Deployment test: a real date cut</a:t>
            </a:r>
            <a:endParaRPr lang="en-US" sz="3000" dirty="0"/>
          </a:p>
        </p:txBody>
      </p:sp>
      <p:sp>
        <p:nvSpPr>
          <p:cNvPr id="3" name="Text 1"/>
          <p:cNvSpPr txBox="1"/>
          <p:nvPr/>
        </p:nvSpPr>
        <p:spPr>
          <a:xfrm>
            <a:off x="640080" y="1325880"/>
            <a:ext cx="7315200" cy="365760"/>
          </a:xfrm>
          <a:prstGeom prst="rect">
            <a:avLst/>
          </a:prstGeom>
          <a:noFill/>
          <a:ln/>
        </p:spPr>
        <p:txBody>
          <a:bodyPr wrap="square" rtlCol="0" anchor="ctr"/>
          <a:lstStyle/>
          <a:p>
            <a:pPr indent="0" marL="0">
              <a:buNone/>
            </a:pPr>
            <a:r>
              <a:rPr lang="en-US" sz="1600" dirty="0">
                <a:solidFill>
                  <a:schemeClr val="tx1"/>
                </a:solidFill>
              </a:rPr>
              <a:t>Fitted through 31/12/2024, measured on 2025-26: 7,861 matches every series quoted.</a:t>
            </a:r>
            <a:endParaRPr lang="en-US" sz="1600" dirty="0"/>
          </a:p>
        </p:txBody>
      </p:sp>
      <p:sp>
        <p:nvSpPr>
          <p:cNvPr id="4" name="dep-0"/>
          <p:cNvSpPr/>
          <p:nvPr/>
        </p:nvSpPr>
        <p:spPr>
          <a:xfrm>
            <a:off x="640080" y="1828800"/>
            <a:ext cx="10881360" cy="1234440"/>
          </a:xfrm>
          <a:prstGeom prst="roundRect">
            <a:avLst>
              <a:gd name="adj" fmla="val 5926"/>
            </a:avLst>
          </a:prstGeom>
          <a:solidFill>
            <a:srgbClr val="F2F5F9"/>
          </a:solidFill>
          <a:ln w="12700">
            <a:solidFill>
              <a:srgbClr val="E2E8F0"/>
            </a:solidFill>
            <a:prstDash val="solid"/>
          </a:ln>
        </p:spPr>
      </p:sp>
      <p:sp>
        <p:nvSpPr>
          <p:cNvPr id="5" name="Text 3"/>
          <p:cNvSpPr txBox="1"/>
          <p:nvPr/>
        </p:nvSpPr>
        <p:spPr>
          <a:xfrm>
            <a:off x="960120" y="1993392"/>
            <a:ext cx="4206240" cy="411480"/>
          </a:xfrm>
          <a:prstGeom prst="rect">
            <a:avLst/>
          </a:prstGeom>
          <a:noFill/>
          <a:ln/>
        </p:spPr>
        <p:txBody>
          <a:bodyPr wrap="square" lIns="0" tIns="0" rIns="0" bIns="0" rtlCol="0" anchor="ctr"/>
          <a:lstStyle/>
          <a:p>
            <a:pPr indent="0" marL="0">
              <a:buNone/>
            </a:pPr>
            <a:r>
              <a:rPr lang="en-US" sz="1700" b="1" dirty="0">
                <a:solidFill>
                  <a:schemeClr val="tx2"/>
                </a:solidFill>
              </a:rPr>
              <a:t>Every opening price</a:t>
            </a:r>
            <a:endParaRPr lang="en-US" sz="1700" dirty="0"/>
          </a:p>
        </p:txBody>
      </p:sp>
      <p:sp>
        <p:nvSpPr>
          <p:cNvPr id="6" name="Text 4"/>
          <p:cNvSpPr txBox="1"/>
          <p:nvPr/>
        </p:nvSpPr>
        <p:spPr>
          <a:xfrm>
            <a:off x="5303520" y="1993392"/>
            <a:ext cx="3108960" cy="411480"/>
          </a:xfrm>
          <a:prstGeom prst="rect">
            <a:avLst/>
          </a:prstGeom>
          <a:noFill/>
          <a:ln/>
        </p:spPr>
        <p:txBody>
          <a:bodyPr wrap="square" lIns="0" tIns="0" rIns="0" bIns="0" rtlCol="0" anchor="ctr"/>
          <a:lstStyle/>
          <a:p>
            <a:pPr indent="0" marL="0">
              <a:buNone/>
            </a:pPr>
            <a:r>
              <a:rPr lang="en-US" sz="1700" b="1" dirty="0">
                <a:solidFill>
                  <a:schemeClr val="accent3"/>
                </a:solidFill>
              </a:rPr>
              <a:t>beaten significantly</a:t>
            </a:r>
            <a:endParaRPr lang="en-US" sz="1700" dirty="0"/>
          </a:p>
        </p:txBody>
      </p:sp>
      <p:sp>
        <p:nvSpPr>
          <p:cNvPr id="7" name="Text 5"/>
          <p:cNvSpPr txBox="1"/>
          <p:nvPr/>
        </p:nvSpPr>
        <p:spPr>
          <a:xfrm>
            <a:off x="960120" y="2487168"/>
            <a:ext cx="10241280" cy="457200"/>
          </a:xfrm>
          <a:prstGeom prst="rect">
            <a:avLst/>
          </a:prstGeom>
          <a:noFill/>
          <a:ln/>
        </p:spPr>
        <p:txBody>
          <a:bodyPr wrap="square" lIns="0" tIns="0" rIns="0" bIns="0" rtlCol="0" anchor="ctr"/>
          <a:lstStyle/>
          <a:p>
            <a:pPr indent="0" marL="0">
              <a:buNone/>
            </a:pPr>
            <a:r>
              <a:rPr lang="en-US" sz="1350" dirty="0">
                <a:solidFill>
                  <a:schemeClr val="accent5"/>
                </a:solidFill>
              </a:rPr>
              <a:t>−0.0018 to −0.0029, all p ≤ 0.011</a:t>
            </a:r>
            <a:endParaRPr lang="en-US" sz="1350" dirty="0"/>
          </a:p>
        </p:txBody>
      </p:sp>
      <p:sp>
        <p:nvSpPr>
          <p:cNvPr id="8" name="dep-1"/>
          <p:cNvSpPr/>
          <p:nvPr/>
        </p:nvSpPr>
        <p:spPr>
          <a:xfrm>
            <a:off x="640080" y="3246120"/>
            <a:ext cx="10881360" cy="1234440"/>
          </a:xfrm>
          <a:prstGeom prst="roundRect">
            <a:avLst>
              <a:gd name="adj" fmla="val 5926"/>
            </a:avLst>
          </a:prstGeom>
          <a:solidFill>
            <a:srgbClr val="F2F5F9"/>
          </a:solidFill>
          <a:ln w="12700">
            <a:solidFill>
              <a:srgbClr val="E2E8F0"/>
            </a:solidFill>
            <a:prstDash val="solid"/>
          </a:ln>
        </p:spPr>
      </p:sp>
      <p:sp>
        <p:nvSpPr>
          <p:cNvPr id="9" name="Text 7"/>
          <p:cNvSpPr txBox="1"/>
          <p:nvPr/>
        </p:nvSpPr>
        <p:spPr>
          <a:xfrm>
            <a:off x="960120" y="3410712"/>
            <a:ext cx="4206240" cy="411480"/>
          </a:xfrm>
          <a:prstGeom prst="rect">
            <a:avLst/>
          </a:prstGeom>
          <a:noFill/>
          <a:ln/>
        </p:spPr>
        <p:txBody>
          <a:bodyPr wrap="square" lIns="0" tIns="0" rIns="0" bIns="0" rtlCol="0" anchor="ctr"/>
          <a:lstStyle/>
          <a:p>
            <a:pPr indent="0" marL="0">
              <a:buNone/>
            </a:pPr>
            <a:r>
              <a:rPr lang="en-US" sz="1700" b="1" dirty="0">
                <a:solidFill>
                  <a:schemeClr val="tx2"/>
                </a:solidFill>
              </a:rPr>
              <a:t>The bookmakers' closing prices</a:t>
            </a:r>
            <a:endParaRPr lang="en-US" sz="1700" dirty="0"/>
          </a:p>
        </p:txBody>
      </p:sp>
      <p:sp>
        <p:nvSpPr>
          <p:cNvPr id="10" name="Text 8"/>
          <p:cNvSpPr txBox="1"/>
          <p:nvPr/>
        </p:nvSpPr>
        <p:spPr>
          <a:xfrm>
            <a:off x="5303520" y="3410712"/>
            <a:ext cx="3108960" cy="411480"/>
          </a:xfrm>
          <a:prstGeom prst="rect">
            <a:avLst/>
          </a:prstGeom>
          <a:noFill/>
          <a:ln/>
        </p:spPr>
        <p:txBody>
          <a:bodyPr wrap="square" lIns="0" tIns="0" rIns="0" bIns="0" rtlCol="0" anchor="ctr"/>
          <a:lstStyle/>
          <a:p>
            <a:pPr indent="0" marL="0">
              <a:buNone/>
            </a:pPr>
            <a:r>
              <a:rPr lang="en-US" sz="1700" b="1" dirty="0">
                <a:solidFill>
                  <a:schemeClr val="accent5"/>
                </a:solidFill>
              </a:rPr>
              <a:t>drawn level</a:t>
            </a:r>
            <a:endParaRPr lang="en-US" sz="1700" dirty="0"/>
          </a:p>
        </p:txBody>
      </p:sp>
      <p:sp>
        <p:nvSpPr>
          <p:cNvPr id="11" name="Text 9"/>
          <p:cNvSpPr txBox="1"/>
          <p:nvPr/>
        </p:nvSpPr>
        <p:spPr>
          <a:xfrm>
            <a:off x="960120" y="3904488"/>
            <a:ext cx="10241280" cy="457200"/>
          </a:xfrm>
          <a:prstGeom prst="rect">
            <a:avLst/>
          </a:prstGeom>
          <a:noFill/>
          <a:ln/>
        </p:spPr>
        <p:txBody>
          <a:bodyPr wrap="square" lIns="0" tIns="0" rIns="0" bIns="0" rtlCol="0" anchor="ctr"/>
          <a:lstStyle/>
          <a:p>
            <a:pPr indent="0" marL="0">
              <a:buNone/>
            </a:pPr>
            <a:r>
              <a:rPr lang="en-US" sz="1350" dirty="0">
                <a:solidFill>
                  <a:schemeClr val="accent5"/>
                </a:solidFill>
              </a:rPr>
              <a:t>B365C and BWC tie with every variant, p from 0.263 to 0.892 · PSC ties too, on its own rounds</a:t>
            </a:r>
            <a:endParaRPr lang="en-US" sz="1350" dirty="0"/>
          </a:p>
        </p:txBody>
      </p:sp>
      <p:sp>
        <p:nvSpPr>
          <p:cNvPr id="12" name="dep-2"/>
          <p:cNvSpPr/>
          <p:nvPr/>
        </p:nvSpPr>
        <p:spPr>
          <a:xfrm>
            <a:off x="640080" y="4663440"/>
            <a:ext cx="10881360" cy="1234440"/>
          </a:xfrm>
          <a:prstGeom prst="roundRect">
            <a:avLst>
              <a:gd name="adj" fmla="val 5926"/>
            </a:avLst>
          </a:prstGeom>
          <a:solidFill>
            <a:srgbClr val="FBF0F0"/>
          </a:solidFill>
          <a:ln w="12700">
            <a:solidFill>
              <a:srgbClr val="E2E8F0"/>
            </a:solidFill>
            <a:prstDash val="solid"/>
          </a:ln>
        </p:spPr>
      </p:sp>
      <p:sp>
        <p:nvSpPr>
          <p:cNvPr id="13" name="Text 11"/>
          <p:cNvSpPr txBox="1"/>
          <p:nvPr/>
        </p:nvSpPr>
        <p:spPr>
          <a:xfrm>
            <a:off x="960120" y="4828032"/>
            <a:ext cx="4206240" cy="411480"/>
          </a:xfrm>
          <a:prstGeom prst="rect">
            <a:avLst/>
          </a:prstGeom>
          <a:noFill/>
          <a:ln/>
        </p:spPr>
        <p:txBody>
          <a:bodyPr wrap="square" lIns="0" tIns="0" rIns="0" bIns="0" rtlCol="0" anchor="ctr"/>
          <a:lstStyle/>
          <a:p>
            <a:pPr indent="0" marL="0">
              <a:buNone/>
            </a:pPr>
            <a:r>
              <a:rPr lang="en-US" sz="1700" b="1" dirty="0">
                <a:solidFill>
                  <a:schemeClr val="tx2"/>
                </a:solidFill>
              </a:rPr>
              <a:t>Betfair Exchange</a:t>
            </a:r>
            <a:endParaRPr lang="en-US" sz="1700" dirty="0"/>
          </a:p>
        </p:txBody>
      </p:sp>
      <p:sp>
        <p:nvSpPr>
          <p:cNvPr id="14" name="Text 12"/>
          <p:cNvSpPr txBox="1"/>
          <p:nvPr/>
        </p:nvSpPr>
        <p:spPr>
          <a:xfrm>
            <a:off x="5303520" y="4828032"/>
            <a:ext cx="3108960" cy="411480"/>
          </a:xfrm>
          <a:prstGeom prst="rect">
            <a:avLst/>
          </a:prstGeom>
          <a:noFill/>
          <a:ln/>
        </p:spPr>
        <p:txBody>
          <a:bodyPr wrap="square" lIns="0" tIns="0" rIns="0" bIns="0" rtlCol="0" anchor="ctr"/>
          <a:lstStyle/>
          <a:p>
            <a:pPr indent="0" marL="0">
              <a:buNone/>
            </a:pPr>
            <a:r>
              <a:rPr lang="en-US" sz="1700" b="1" dirty="0">
                <a:solidFill>
                  <a:schemeClr val="accent2"/>
                </a:solidFill>
              </a:rPr>
              <a:t>beats us significantly</a:t>
            </a:r>
            <a:endParaRPr lang="en-US" sz="1700" dirty="0"/>
          </a:p>
        </p:txBody>
      </p:sp>
      <p:sp>
        <p:nvSpPr>
          <p:cNvPr id="15" name="Text 13"/>
          <p:cNvSpPr txBox="1"/>
          <p:nvPr/>
        </p:nvSpPr>
        <p:spPr>
          <a:xfrm>
            <a:off x="960120" y="5321808"/>
            <a:ext cx="10241280" cy="457200"/>
          </a:xfrm>
          <a:prstGeom prst="rect">
            <a:avLst/>
          </a:prstGeom>
          <a:noFill/>
          <a:ln/>
        </p:spPr>
        <p:txBody>
          <a:bodyPr wrap="square" lIns="0" tIns="0" rIns="0" bIns="0" rtlCol="0" anchor="ctr"/>
          <a:lstStyle/>
          <a:p>
            <a:pPr indent="0" marL="0">
              <a:buNone/>
            </a:pPr>
            <a:r>
              <a:rPr lang="en-US" sz="1350" dirty="0">
                <a:solidFill>
                  <a:schemeClr val="accent5"/>
                </a:solidFill>
              </a:rPr>
              <a:t>+0.00078 to +0.00143, p ≤ 0.026 · an exchange, a market price with no operator margin, and Pinnacle has stopped quoting</a:t>
            </a:r>
            <a:endParaRPr lang="en-US" sz="1350" dirty="0"/>
          </a:p>
        </p:txBody>
      </p:sp>
      <p:sp>
        <p:nvSpPr>
          <p:cNvPr id="16" name="Text 14"/>
          <p:cNvSpPr txBox="1"/>
          <p:nvPr/>
        </p:nvSpPr>
        <p:spPr>
          <a:xfrm>
            <a:off x="640080" y="6035040"/>
            <a:ext cx="10881360" cy="548640"/>
          </a:xfrm>
          <a:prstGeom prst="rect">
            <a:avLst/>
          </a:prstGeom>
          <a:noFill/>
          <a:ln/>
        </p:spPr>
        <p:txBody>
          <a:bodyPr wrap="square" rtlCol="0" anchor="ctr"/>
          <a:lstStyle/>
          <a:p>
            <a:pPr indent="0" marL="0">
              <a:buNone/>
            </a:pPr>
            <a:r>
              <a:rPr lang="en-US" sz="1500" b="1" dirty="0">
                <a:solidFill>
                  <a:schemeClr val="tx2"/>
                </a:solidFill>
              </a:rPr>
              <a:t>The honest statement: we REACH the leading edge of the bookmaker market. The market without an intermediary is still ahead.</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Common matches: nobody asleep, same conclusions</a:t>
            </a:r>
            <a:endParaRPr lang="en-US" sz="3000" dirty="0"/>
          </a:p>
        </p:txBody>
      </p:sp>
      <p:sp>
        <p:nvSpPr>
          <p:cNvPr id="3" name="Text 1"/>
          <p:cNvSpPr txBox="1"/>
          <p:nvPr/>
        </p:nvSpPr>
        <p:spPr>
          <a:xfrm>
            <a:off x="640080" y="1325880"/>
            <a:ext cx="10881360" cy="365760"/>
          </a:xfrm>
          <a:prstGeom prst="rect">
            <a:avLst/>
          </a:prstGeom>
          <a:noFill/>
          <a:ln/>
        </p:spPr>
        <p:txBody>
          <a:bodyPr wrap="square" rtlCol="0" anchor="ctr"/>
          <a:lstStyle/>
          <a:p>
            <a:pPr indent="0" marL="0">
              <a:buNone/>
            </a:pPr>
            <a:r>
              <a:rPr lang="en-US" sz="1500" dirty="0">
                <a:solidFill>
                  <a:schemeClr val="tx1"/>
                </a:solidFill>
              </a:rPr>
              <a:t>Only the matches every chosen series quoted: the algorithms are the classical ones, and every series is scored on the same matches.</a:t>
            </a:r>
            <a:endParaRPr lang="en-US" sz="1500" dirty="0"/>
          </a:p>
        </p:txBody>
      </p:sp>
      <p:sp>
        <p:nvSpPr>
          <p:cNvPr id="4" name="cm-0"/>
          <p:cNvSpPr/>
          <p:nvPr/>
        </p:nvSpPr>
        <p:spPr>
          <a:xfrm>
            <a:off x="640080" y="1828800"/>
            <a:ext cx="10881360" cy="1143000"/>
          </a:xfrm>
          <a:prstGeom prst="roundRect">
            <a:avLst>
              <a:gd name="adj" fmla="val 6400"/>
            </a:avLst>
          </a:prstGeom>
          <a:solidFill>
            <a:srgbClr val="F2F5F9"/>
          </a:solidFill>
          <a:ln w="12700">
            <a:solidFill>
              <a:srgbClr val="E2E8F0"/>
            </a:solidFill>
            <a:prstDash val="solid"/>
          </a:ln>
        </p:spPr>
      </p:sp>
      <p:sp>
        <p:nvSpPr>
          <p:cNvPr id="5" name="Text 3"/>
          <p:cNvSpPr txBox="1"/>
          <p:nvPr/>
        </p:nvSpPr>
        <p:spPr>
          <a:xfrm>
            <a:off x="960120" y="1965960"/>
            <a:ext cx="5669280" cy="411480"/>
          </a:xfrm>
          <a:prstGeom prst="rect">
            <a:avLst/>
          </a:prstGeom>
          <a:noFill/>
          <a:ln/>
        </p:spPr>
        <p:txBody>
          <a:bodyPr wrap="square" lIns="0" tIns="0" rIns="0" bIns="0" rtlCol="0" anchor="ctr"/>
          <a:lstStyle/>
          <a:p>
            <a:pPr indent="0" marL="0">
              <a:buNone/>
            </a:pPr>
            <a:r>
              <a:rPr lang="en-US" sz="1700" b="1" dirty="0">
                <a:solidFill>
                  <a:schemeClr val="tx2"/>
                </a:solidFill>
              </a:rPr>
              <a:t>B · 12 series · 31,596 matches</a:t>
            </a:r>
            <a:endParaRPr lang="en-US" sz="1700" dirty="0"/>
          </a:p>
        </p:txBody>
      </p:sp>
      <p:sp>
        <p:nvSpPr>
          <p:cNvPr id="6" name="Text 4"/>
          <p:cNvSpPr txBox="1"/>
          <p:nvPr/>
        </p:nvSpPr>
        <p:spPr>
          <a:xfrm>
            <a:off x="6766560" y="1965960"/>
            <a:ext cx="4480560" cy="411480"/>
          </a:xfrm>
          <a:prstGeom prst="rect">
            <a:avLst/>
          </a:prstGeom>
          <a:noFill/>
          <a:ln/>
        </p:spPr>
        <p:txBody>
          <a:bodyPr wrap="square" lIns="0" tIns="0" rIns="0" bIns="0" rtlCol="0" anchor="ctr"/>
          <a:lstStyle/>
          <a:p>
            <a:pPr indent="0" marL="0">
              <a:buNone/>
            </a:pPr>
            <a:r>
              <a:rPr lang="en-US" sz="1700" b="1" dirty="0">
                <a:solidFill>
                  <a:schemeClr val="accent1"/>
                </a:solidFill>
              </a:rPr>
              <a:t>level with Pinnacle</a:t>
            </a:r>
            <a:endParaRPr lang="en-US" sz="1700" dirty="0"/>
          </a:p>
        </p:txBody>
      </p:sp>
      <p:sp>
        <p:nvSpPr>
          <p:cNvPr id="7" name="Text 5"/>
          <p:cNvSpPr txBox="1"/>
          <p:nvPr/>
        </p:nvSpPr>
        <p:spPr>
          <a:xfrm>
            <a:off x="960120" y="2450592"/>
            <a:ext cx="10241280" cy="411480"/>
          </a:xfrm>
          <a:prstGeom prst="rect">
            <a:avLst/>
          </a:prstGeom>
          <a:noFill/>
          <a:ln/>
        </p:spPr>
        <p:txBody>
          <a:bodyPr wrap="square" lIns="0" tIns="0" rIns="0" bIns="0" rtlCol="0" anchor="ctr"/>
          <a:lstStyle/>
          <a:p>
            <a:pPr indent="0" marL="0">
              <a:buNone/>
            </a:pPr>
            <a:r>
              <a:rPr lang="en-US" sz="1350" dirty="0">
                <a:solidFill>
                  <a:schemeClr val="accent5"/>
                </a:solidFill>
              </a:rPr>
              <a:t>FTRL 0.99895 · OGD 0.99910 · PSC 0.99893, every gap p ≥ 0.099 · uniform 1.00048, beaten</a:t>
            </a:r>
            <a:endParaRPr lang="en-US" sz="1350" dirty="0"/>
          </a:p>
        </p:txBody>
      </p:sp>
      <p:sp>
        <p:nvSpPr>
          <p:cNvPr id="8" name="cm-1"/>
          <p:cNvSpPr/>
          <p:nvPr/>
        </p:nvSpPr>
        <p:spPr>
          <a:xfrm>
            <a:off x="640080" y="3154680"/>
            <a:ext cx="10881360" cy="1143000"/>
          </a:xfrm>
          <a:prstGeom prst="roundRect">
            <a:avLst>
              <a:gd name="adj" fmla="val 6400"/>
            </a:avLst>
          </a:prstGeom>
          <a:solidFill>
            <a:srgbClr val="F2F5F9"/>
          </a:solidFill>
          <a:ln w="12700">
            <a:solidFill>
              <a:srgbClr val="E2E8F0"/>
            </a:solidFill>
            <a:prstDash val="solid"/>
          </a:ln>
        </p:spPr>
      </p:sp>
      <p:sp>
        <p:nvSpPr>
          <p:cNvPr id="9" name="Text 7"/>
          <p:cNvSpPr txBox="1"/>
          <p:nvPr/>
        </p:nvSpPr>
        <p:spPr>
          <a:xfrm>
            <a:off x="960120" y="3291840"/>
            <a:ext cx="5669280" cy="411480"/>
          </a:xfrm>
          <a:prstGeom prst="rect">
            <a:avLst/>
          </a:prstGeom>
          <a:noFill/>
          <a:ln/>
        </p:spPr>
        <p:txBody>
          <a:bodyPr wrap="square" lIns="0" tIns="0" rIns="0" bIns="0" rtlCol="0" anchor="ctr"/>
          <a:lstStyle/>
          <a:p>
            <a:pPr indent="0" marL="0">
              <a:buNone/>
            </a:pPr>
            <a:r>
              <a:rPr lang="en-US" sz="1700" b="1" dirty="0">
                <a:solidFill>
                  <a:schemeClr val="tx2"/>
                </a:solidFill>
              </a:rPr>
              <a:t>B′ · the same matches, no Pinnacle</a:t>
            </a:r>
            <a:endParaRPr lang="en-US" sz="1700" dirty="0"/>
          </a:p>
        </p:txBody>
      </p:sp>
      <p:sp>
        <p:nvSpPr>
          <p:cNvPr id="10" name="Text 8"/>
          <p:cNvSpPr txBox="1"/>
          <p:nvPr/>
        </p:nvSpPr>
        <p:spPr>
          <a:xfrm>
            <a:off x="6766560" y="3291840"/>
            <a:ext cx="4480560" cy="411480"/>
          </a:xfrm>
          <a:prstGeom prst="rect">
            <a:avLst/>
          </a:prstGeom>
          <a:noFill/>
          <a:ln/>
        </p:spPr>
        <p:txBody>
          <a:bodyPr wrap="square" lIns="0" tIns="0" rIns="0" bIns="0" rtlCol="0" anchor="ctr"/>
          <a:lstStyle/>
          <a:p>
            <a:pPr indent="0" marL="0">
              <a:buNone/>
            </a:pPr>
            <a:r>
              <a:rPr lang="en-US" sz="1700" b="1" dirty="0">
                <a:solidFill>
                  <a:schemeClr val="accent1"/>
                </a:solidFill>
              </a:rPr>
              <a:t>level with the best closing</a:t>
            </a:r>
            <a:endParaRPr lang="en-US" sz="1700" dirty="0"/>
          </a:p>
        </p:txBody>
      </p:sp>
      <p:sp>
        <p:nvSpPr>
          <p:cNvPr id="11" name="Text 9"/>
          <p:cNvSpPr txBox="1"/>
          <p:nvPr/>
        </p:nvSpPr>
        <p:spPr>
          <a:xfrm>
            <a:off x="960120" y="3776472"/>
            <a:ext cx="10241280" cy="411480"/>
          </a:xfrm>
          <a:prstGeom prst="rect">
            <a:avLst/>
          </a:prstGeom>
          <a:noFill/>
          <a:ln/>
        </p:spPr>
        <p:txBody>
          <a:bodyPr wrap="square" lIns="0" tIns="0" rIns="0" bIns="0" rtlCol="0" anchor="ctr"/>
          <a:lstStyle/>
          <a:p>
            <a:pPr indent="0" marL="0">
              <a:buNone/>
            </a:pPr>
            <a:r>
              <a:rPr lang="en-US" sz="1350" dirty="0">
                <a:solidFill>
                  <a:schemeClr val="accent5"/>
                </a:solidFill>
              </a:rPr>
              <a:t>FTRL 0.99940 · VC_BVC 0.99949, p 0.151 to 0.618 · the plain average loses to VC_BVC (p &lt; 0.001)</a:t>
            </a:r>
            <a:endParaRPr lang="en-US" sz="1350" dirty="0"/>
          </a:p>
        </p:txBody>
      </p:sp>
      <p:sp>
        <p:nvSpPr>
          <p:cNvPr id="12" name="cm-2"/>
          <p:cNvSpPr/>
          <p:nvPr/>
        </p:nvSpPr>
        <p:spPr>
          <a:xfrm>
            <a:off x="640080" y="4480560"/>
            <a:ext cx="10881360" cy="1143000"/>
          </a:xfrm>
          <a:prstGeom prst="roundRect">
            <a:avLst>
              <a:gd name="adj" fmla="val 6400"/>
            </a:avLst>
          </a:prstGeom>
          <a:solidFill>
            <a:srgbClr val="F2F5F9"/>
          </a:solidFill>
          <a:ln w="12700">
            <a:solidFill>
              <a:srgbClr val="E2E8F0"/>
            </a:solidFill>
            <a:prstDash val="solid"/>
          </a:ln>
        </p:spPr>
      </p:sp>
      <p:sp>
        <p:nvSpPr>
          <p:cNvPr id="13" name="Text 11"/>
          <p:cNvSpPr txBox="1"/>
          <p:nvPr/>
        </p:nvSpPr>
        <p:spPr>
          <a:xfrm>
            <a:off x="960120" y="4617720"/>
            <a:ext cx="5669280" cy="411480"/>
          </a:xfrm>
          <a:prstGeom prst="rect">
            <a:avLst/>
          </a:prstGeom>
          <a:noFill/>
          <a:ln/>
        </p:spPr>
        <p:txBody>
          <a:bodyPr wrap="square" lIns="0" tIns="0" rIns="0" bIns="0" rtlCol="0" anchor="ctr"/>
          <a:lstStyle/>
          <a:p>
            <a:pPr indent="0" marL="0">
              <a:buNone/>
            </a:pPr>
            <a:r>
              <a:rPr lang="en-US" sz="1700" b="1" dirty="0">
                <a:solidFill>
                  <a:schemeClr val="tx2"/>
                </a:solidFill>
              </a:rPr>
              <a:t>C · 10 series with Betfair · 6,941 matches</a:t>
            </a:r>
            <a:endParaRPr lang="en-US" sz="1700" dirty="0"/>
          </a:p>
        </p:txBody>
      </p:sp>
      <p:sp>
        <p:nvSpPr>
          <p:cNvPr id="14" name="Text 12"/>
          <p:cNvSpPr txBox="1"/>
          <p:nvPr/>
        </p:nvSpPr>
        <p:spPr>
          <a:xfrm>
            <a:off x="6766560" y="4617720"/>
            <a:ext cx="4480560" cy="411480"/>
          </a:xfrm>
          <a:prstGeom prst="rect">
            <a:avLst/>
          </a:prstGeom>
          <a:noFill/>
          <a:ln/>
        </p:spPr>
        <p:txBody>
          <a:bodyPr wrap="square" lIns="0" tIns="0" rIns="0" bIns="0" rtlCol="0" anchor="ctr"/>
          <a:lstStyle/>
          <a:p>
            <a:pPr indent="0" marL="0">
              <a:buNone/>
            </a:pPr>
            <a:r>
              <a:rPr lang="en-US" sz="1700" b="1" dirty="0">
                <a:solidFill>
                  <a:schemeClr val="accent3"/>
                </a:solidFill>
              </a:rPr>
              <a:t>Pinnacle ≈ Betfair</a:t>
            </a:r>
            <a:endParaRPr lang="en-US" sz="1700" dirty="0"/>
          </a:p>
        </p:txBody>
      </p:sp>
      <p:sp>
        <p:nvSpPr>
          <p:cNvPr id="15" name="Text 13"/>
          <p:cNvSpPr txBox="1"/>
          <p:nvPr/>
        </p:nvSpPr>
        <p:spPr>
          <a:xfrm>
            <a:off x="960120" y="5102352"/>
            <a:ext cx="10241280" cy="411480"/>
          </a:xfrm>
          <a:prstGeom prst="rect">
            <a:avLst/>
          </a:prstGeom>
          <a:noFill/>
          <a:ln/>
        </p:spPr>
        <p:txBody>
          <a:bodyPr wrap="square" lIns="0" tIns="0" rIns="0" bIns="0" rtlCol="0" anchor="ctr"/>
          <a:lstStyle/>
          <a:p>
            <a:pPr indent="0" marL="0">
              <a:buNone/>
            </a:pPr>
            <a:r>
              <a:rPr lang="en-US" sz="1350" dirty="0">
                <a:solidFill>
                  <a:schemeClr val="accent5"/>
                </a:solidFill>
              </a:rPr>
              <a:t>PSC 0.99775 · BFEC 0.99820, p = 0.122 · Betfair's 2025-26 lead coincides with Pinnacle's absence</a:t>
            </a:r>
            <a:endParaRPr lang="en-US" sz="1350" dirty="0"/>
          </a:p>
        </p:txBody>
      </p:sp>
      <p:sp>
        <p:nvSpPr>
          <p:cNvPr id="16" name="Text 14"/>
          <p:cNvSpPr txBox="1"/>
          <p:nvPr/>
        </p:nvSpPr>
        <p:spPr>
          <a:xfrm>
            <a:off x="640080" y="5852160"/>
            <a:ext cx="10881360" cy="640080"/>
          </a:xfrm>
          <a:prstGeom prst="rect">
            <a:avLst/>
          </a:prstGeom>
          <a:noFill/>
          <a:ln/>
        </p:spPr>
        <p:txBody>
          <a:bodyPr wrap="square" rtlCol="0" anchor="ctr"/>
          <a:lstStyle/>
          <a:p>
            <a:pPr indent="0" marL="0">
              <a:buNone/>
            </a:pPr>
            <a:r>
              <a:rPr lang="en-US" sz="1500" b="1" dirty="0">
                <a:solidFill>
                  <a:schemeClr val="tx2"/>
                </a:solidFill>
              </a:rPr>
              <a:t>The optimal step is a property of the panel: with nobody asleep, Hedge and FTRL select steps 30 to 1000 times the textbook one, not smaller.</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Better prediction does not mean profit</a:t>
            </a:r>
            <a:endParaRPr lang="en-US" sz="3000" dirty="0"/>
          </a:p>
        </p:txBody>
      </p:sp>
      <p:graphicFrame>
        <p:nvGraphicFramePr>
          <p:cNvPr id="3" name="Chart 0" descr=""/>
          <p:cNvGraphicFramePr/>
          <p:nvPr/>
        </p:nvGraphicFramePr>
        <p:xfrm>
          <a:off x="640080" y="1554480"/>
          <a:ext cx="6675120" cy="3749040"/>
        </p:xfrm>
        <a:graphic xmlns:a="http://schemas.openxmlformats.org/drawingml/2006/main">
          <a:graphicData uri="http://schemas.openxmlformats.org/drawingml/2006/chart">
            <c:chart xmlns:c="http://schemas.openxmlformats.org/drawingml/2006/chart" r:id="rId1"/>
          </a:graphicData>
        </a:graphic>
      </p:graphicFrame>
      <p:sp>
        <p:nvSpPr>
          <p:cNvPr id="4" name="vb-note"/>
          <p:cNvSpPr/>
          <p:nvPr/>
        </p:nvSpPr>
        <p:spPr>
          <a:xfrm>
            <a:off x="7589520" y="1554480"/>
            <a:ext cx="3931920" cy="3749040"/>
          </a:xfrm>
          <a:prstGeom prst="roundRect">
            <a:avLst>
              <a:gd name="adj" fmla="val 1951"/>
            </a:avLst>
          </a:prstGeom>
          <a:solidFill>
            <a:srgbClr val="F2F5F9"/>
          </a:solidFill>
          <a:ln w="12700">
            <a:solidFill>
              <a:srgbClr val="E2E8F0"/>
            </a:solidFill>
            <a:prstDash val="solid"/>
          </a:ln>
        </p:spPr>
      </p:sp>
      <p:sp>
        <p:nvSpPr>
          <p:cNvPr id="5" name="Text 2"/>
          <p:cNvSpPr txBox="1"/>
          <p:nvPr/>
        </p:nvSpPr>
        <p:spPr>
          <a:xfrm>
            <a:off x="7909560" y="1783080"/>
            <a:ext cx="3291840" cy="365760"/>
          </a:xfrm>
          <a:prstGeom prst="rect">
            <a:avLst/>
          </a:prstGeom>
          <a:noFill/>
          <a:ln/>
        </p:spPr>
        <p:txBody>
          <a:bodyPr wrap="square" lIns="0" tIns="0" rIns="0" bIns="0" rtlCol="0" anchor="ctr"/>
          <a:lstStyle/>
          <a:p>
            <a:pPr indent="0" marL="0">
              <a:buNone/>
            </a:pPr>
            <a:r>
              <a:rPr lang="en-US" sz="1800" b="1" dirty="0">
                <a:solidFill>
                  <a:schemeClr val="tx2"/>
                </a:solidFill>
              </a:rPr>
              <a:t>Two profits, two losses</a:t>
            </a:r>
            <a:endParaRPr lang="en-US" sz="1800" dirty="0"/>
          </a:p>
        </p:txBody>
      </p:sp>
      <p:sp>
        <p:nvSpPr>
          <p:cNvPr id="6" name="Text 3"/>
          <p:cNvSpPr txBox="1"/>
          <p:nvPr/>
        </p:nvSpPr>
        <p:spPr>
          <a:xfrm>
            <a:off x="7909560" y="2194560"/>
            <a:ext cx="3291840" cy="1828800"/>
          </a:xfrm>
          <a:prstGeom prst="rect">
            <a:avLst/>
          </a:prstGeom>
          <a:noFill/>
          <a:ln/>
        </p:spPr>
        <p:txBody>
          <a:bodyPr wrap="square" lIns="0" tIns="0" rIns="0" bIns="0" rtlCol="0" anchor="ctr"/>
          <a:lstStyle/>
          <a:p>
            <a:pPr indent="0" marL="0">
              <a:buNone/>
            </a:pPr>
            <a:r>
              <a:rPr lang="en-US" sz="1350" dirty="0">
                <a:solidFill>
                  <a:schemeClr val="tx1"/>
                </a:solidFill>
              </a:rPr>
              <a:t>Significant gains against WHC (p=0.001) and IW (p=0.008), both recreational-facing houses. Significant LOSSES against both Pinnacle prices (PS p=0.050, PSC p&lt;0.001), the best forecaster in the panel, i.e. exactly the opponent an inferior model should lose to.</a:t>
            </a:r>
            <a:endParaRPr lang="en-US" sz="1350" dirty="0"/>
          </a:p>
        </p:txBody>
      </p:sp>
      <p:sp>
        <p:nvSpPr>
          <p:cNvPr id="7" name="Text 4"/>
          <p:cNvSpPr txBox="1"/>
          <p:nvPr/>
        </p:nvSpPr>
        <p:spPr>
          <a:xfrm>
            <a:off x="7909560" y="4114800"/>
            <a:ext cx="3291840" cy="1005840"/>
          </a:xfrm>
          <a:prstGeom prst="rect">
            <a:avLst/>
          </a:prstGeom>
          <a:noFill/>
          <a:ln/>
        </p:spPr>
        <p:txBody>
          <a:bodyPr wrap="square" lIns="0" tIns="0" rIns="0" bIns="0" rtlCol="0" anchor="ctr"/>
          <a:lstStyle/>
          <a:p>
            <a:pPr indent="0" marL="0">
              <a:buNone/>
            </a:pPr>
            <a:r>
              <a:rPr lang="en-US" sz="1350" i="1" dirty="0">
                <a:solidFill>
                  <a:schemeClr val="accent5"/>
                </a:solidFill>
              </a:rPr>
              <a:t>The quality gained is smaller than the margin charged. The test works in both directions.</a:t>
            </a:r>
            <a:endParaRPr lang="en-US" sz="1350" dirty="0"/>
          </a:p>
        </p:txBody>
      </p:sp>
      <p:sp>
        <p:nvSpPr>
          <p:cNvPr id="8" name="Text 5"/>
          <p:cNvSpPr txBox="1"/>
          <p:nvPr/>
        </p:nvSpPr>
        <p:spPr>
          <a:xfrm>
            <a:off x="640080" y="5440680"/>
            <a:ext cx="6675120" cy="320040"/>
          </a:xfrm>
          <a:prstGeom prst="rect">
            <a:avLst/>
          </a:prstGeom>
          <a:noFill/>
          <a:ln/>
        </p:spPr>
        <p:txBody>
          <a:bodyPr wrap="square" rtlCol="0" anchor="ctr"/>
          <a:lstStyle/>
          <a:p>
            <a:pPr indent="0" marL="0">
              <a:buNone/>
            </a:pPr>
            <a:r>
              <a:rPr lang="en-US" sz="1200" i="1" dirty="0">
                <a:solidFill>
                  <a:schemeClr val="accent5"/>
                </a:solidFill>
              </a:rPr>
              <a:t>0 = break even · +1 = a ten-fold bankroll · green = significant profit · red = significant loss</a:t>
            </a:r>
            <a:endParaRPr lang="en-US" sz="12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914400" y="1737360"/>
            <a:ext cx="10332720" cy="2194560"/>
          </a:xfrm>
          <a:prstGeom prst="rect">
            <a:avLst/>
          </a:prstGeom>
          <a:noFill/>
          <a:ln/>
        </p:spPr>
        <p:txBody>
          <a:bodyPr wrap="square" rtlCol="0" anchor="ctr"/>
          <a:lstStyle/>
          <a:p>
            <a:pPr algn="l" indent="0" marL="0">
              <a:buNone/>
            </a:pPr>
            <a:r>
              <a:rPr lang="en-US" sz="3400" b="1" dirty="0">
                <a:solidFill>
                  <a:schemeClr val="bg1"/>
                </a:solidFill>
              </a:rPr>
              <a:t>42% of the margin over the uniform average is not learning</a:t>
            </a:r>
            <a:endParaRPr lang="en-US" sz="3400" dirty="0"/>
          </a:p>
        </p:txBody>
      </p:sp>
      <p:sp>
        <p:nvSpPr>
          <p:cNvPr id="3" name="Text 0"/>
          <p:cNvSpPr/>
          <p:nvPr>
            <p:ph idx="101" type="body" hasCustomPrompt="1"/>
          </p:nvPr>
        </p:nvSpPr>
        <p:spPr>
          <a:xfrm>
            <a:off x="914400" y="4114800"/>
            <a:ext cx="10332720" cy="1645920"/>
          </a:xfrm>
          <a:prstGeom prst="rect">
            <a:avLst/>
          </a:prstGeom>
          <a:noFill/>
          <a:ln/>
        </p:spPr>
        <p:txBody>
          <a:bodyPr wrap="square" rtlCol="0" anchor="t"/>
          <a:lstStyle/>
          <a:p>
            <a:pPr algn="l" indent="0" marL="0">
              <a:buNone/>
            </a:pPr>
            <a:r>
              <a:rPr lang="en-US" sz="1700" dirty="0">
                <a:solidFill>
                  <a:srgbClr val="CBD5E1"/>
                </a:solidFill>
              </a:rPr>
              <a:t>Under the Sleeping Experts reduction the weight vector moves even with a step of ZERO: the projection is re-done onto a simplex of different dimension whenever the awake set changes. A zero-step control separates the two. The number was real; the obvious reading of it was false, and this thesis made that reading before correcting it.</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Nine ideas tried and rejected</a:t>
            </a:r>
            <a:endParaRPr lang="en-US" sz="3000" dirty="0"/>
          </a:p>
        </p:txBody>
      </p:sp>
      <p:sp>
        <p:nvSpPr>
          <p:cNvPr id="3" name="neg-0"/>
          <p:cNvSpPr/>
          <p:nvPr/>
        </p:nvSpPr>
        <p:spPr>
          <a:xfrm>
            <a:off x="640080" y="1673352"/>
            <a:ext cx="237744" cy="237744"/>
          </a:xfrm>
          <a:prstGeom prst="ellipse">
            <a:avLst/>
          </a:prstGeom>
          <a:solidFill>
            <a:schemeClr val="accent4"/>
          </a:solidFill>
          <a:ln/>
        </p:spPr>
      </p:sp>
      <p:sp>
        <p:nvSpPr>
          <p:cNvPr id="4" name="Text 2"/>
          <p:cNvSpPr txBox="1"/>
          <p:nvPr/>
        </p:nvSpPr>
        <p:spPr>
          <a:xfrm>
            <a:off x="1024128" y="1600200"/>
            <a:ext cx="3017520" cy="566928"/>
          </a:xfrm>
          <a:prstGeom prst="rect">
            <a:avLst/>
          </a:prstGeom>
          <a:noFill/>
          <a:ln/>
        </p:spPr>
        <p:txBody>
          <a:bodyPr wrap="square" lIns="0" tIns="0" rIns="0" bIns="0" rtlCol="0" anchor="ctr"/>
          <a:lstStyle/>
          <a:p>
            <a:pPr indent="0" marL="0">
              <a:buNone/>
            </a:pPr>
            <a:r>
              <a:rPr lang="en-US" sz="1500" b="1" dirty="0">
                <a:solidFill>
                  <a:schemeClr val="tx2"/>
                </a:solidFill>
              </a:rPr>
              <a:t>Fixed-Share</a:t>
            </a:r>
            <a:endParaRPr lang="en-US" sz="1500" dirty="0"/>
          </a:p>
        </p:txBody>
      </p:sp>
      <p:sp>
        <p:nvSpPr>
          <p:cNvPr id="5" name="Text 3"/>
          <p:cNvSpPr txBox="1"/>
          <p:nvPr/>
        </p:nvSpPr>
        <p:spPr>
          <a:xfrm>
            <a:off x="1024128" y="2203704"/>
            <a:ext cx="3017520" cy="777240"/>
          </a:xfrm>
          <a:prstGeom prst="rect">
            <a:avLst/>
          </a:prstGeom>
          <a:noFill/>
          <a:ln/>
        </p:spPr>
        <p:txBody>
          <a:bodyPr wrap="square" lIns="0" tIns="0" rIns="0" bIns="0" rtlCol="0" anchor="ctr"/>
          <a:lstStyle/>
          <a:p>
            <a:pPr indent="0" marL="0">
              <a:buNone/>
            </a:pPr>
            <a:r>
              <a:rPr lang="en-US" sz="1250" dirty="0">
                <a:solidFill>
                  <a:schemeClr val="accent5"/>
                </a:solidFill>
              </a:rPr>
              <a:t>every α &gt; 0 loses; the step already does the forgetting</a:t>
            </a:r>
            <a:endParaRPr lang="en-US" sz="1250" dirty="0"/>
          </a:p>
        </p:txBody>
      </p:sp>
      <p:sp>
        <p:nvSpPr>
          <p:cNvPr id="6" name="neg-1"/>
          <p:cNvSpPr/>
          <p:nvPr/>
        </p:nvSpPr>
        <p:spPr>
          <a:xfrm>
            <a:off x="4297680" y="1673352"/>
            <a:ext cx="237744" cy="237744"/>
          </a:xfrm>
          <a:prstGeom prst="ellipse">
            <a:avLst/>
          </a:prstGeom>
          <a:solidFill>
            <a:schemeClr val="accent4"/>
          </a:solidFill>
          <a:ln/>
        </p:spPr>
      </p:sp>
      <p:sp>
        <p:nvSpPr>
          <p:cNvPr id="7" name="Text 5"/>
          <p:cNvSpPr txBox="1"/>
          <p:nvPr/>
        </p:nvSpPr>
        <p:spPr>
          <a:xfrm>
            <a:off x="4681728" y="1600200"/>
            <a:ext cx="3017520" cy="566928"/>
          </a:xfrm>
          <a:prstGeom prst="rect">
            <a:avLst/>
          </a:prstGeom>
          <a:noFill/>
          <a:ln/>
        </p:spPr>
        <p:txBody>
          <a:bodyPr wrap="square" lIns="0" tIns="0" rIns="0" bIns="0" rtlCol="0" anchor="ctr"/>
          <a:lstStyle/>
          <a:p>
            <a:pPr indent="0" marL="0">
              <a:buNone/>
            </a:pPr>
            <a:r>
              <a:rPr lang="en-US" sz="1500" b="1" dirty="0">
                <a:solidFill>
                  <a:schemeClr val="tx2"/>
                </a:solidFill>
              </a:rPr>
              <a:t>Per-expert step clock</a:t>
            </a:r>
            <a:endParaRPr lang="en-US" sz="1500" dirty="0"/>
          </a:p>
        </p:txBody>
      </p:sp>
      <p:sp>
        <p:nvSpPr>
          <p:cNvPr id="8" name="Text 6"/>
          <p:cNvSpPr txBox="1"/>
          <p:nvPr/>
        </p:nvSpPr>
        <p:spPr>
          <a:xfrm>
            <a:off x="4681728" y="2203704"/>
            <a:ext cx="3017520" cy="777240"/>
          </a:xfrm>
          <a:prstGeom prst="rect">
            <a:avLst/>
          </a:prstGeom>
          <a:noFill/>
          <a:ln/>
        </p:spPr>
        <p:txBody>
          <a:bodyPr wrap="square" lIns="0" tIns="0" rIns="0" bIns="0" rtlCol="0" anchor="ctr"/>
          <a:lstStyle/>
          <a:p>
            <a:pPr indent="0" marL="0">
              <a:buNone/>
            </a:pPr>
            <a:r>
              <a:rPr lang="en-US" sz="1250" dirty="0">
                <a:solidFill>
                  <a:schemeClr val="accent5"/>
                </a:solidFill>
              </a:rPr>
              <a:t>better on train, −0.00073 on the tail: textbook overfitting</a:t>
            </a:r>
            <a:endParaRPr lang="en-US" sz="1250" dirty="0"/>
          </a:p>
        </p:txBody>
      </p:sp>
      <p:sp>
        <p:nvSpPr>
          <p:cNvPr id="9" name="neg-2"/>
          <p:cNvSpPr/>
          <p:nvPr/>
        </p:nvSpPr>
        <p:spPr>
          <a:xfrm>
            <a:off x="7955280" y="1673352"/>
            <a:ext cx="237744" cy="237744"/>
          </a:xfrm>
          <a:prstGeom prst="ellipse">
            <a:avLst/>
          </a:prstGeom>
          <a:solidFill>
            <a:schemeClr val="accent4"/>
          </a:solidFill>
          <a:ln/>
        </p:spPr>
      </p:sp>
      <p:sp>
        <p:nvSpPr>
          <p:cNvPr id="10" name="Text 8"/>
          <p:cNvSpPr txBox="1"/>
          <p:nvPr/>
        </p:nvSpPr>
        <p:spPr>
          <a:xfrm>
            <a:off x="8339328" y="1600200"/>
            <a:ext cx="3017520" cy="566928"/>
          </a:xfrm>
          <a:prstGeom prst="rect">
            <a:avLst/>
          </a:prstGeom>
          <a:noFill/>
          <a:ln/>
        </p:spPr>
        <p:txBody>
          <a:bodyPr wrap="square" lIns="0" tIns="0" rIns="0" bIns="0" rtlCol="0" anchor="ctr"/>
          <a:lstStyle/>
          <a:p>
            <a:pPr indent="0" marL="0">
              <a:buNone/>
            </a:pPr>
            <a:r>
              <a:rPr lang="en-US" sz="1500" b="1" dirty="0">
                <a:solidFill>
                  <a:schemeClr val="tx2"/>
                </a:solidFill>
              </a:rPr>
              <a:t>Markov kernels on the weights</a:t>
            </a:r>
            <a:endParaRPr lang="en-US" sz="1500" dirty="0"/>
          </a:p>
        </p:txBody>
      </p:sp>
      <p:sp>
        <p:nvSpPr>
          <p:cNvPr id="11" name="Text 9"/>
          <p:cNvSpPr txBox="1"/>
          <p:nvPr/>
        </p:nvSpPr>
        <p:spPr>
          <a:xfrm>
            <a:off x="8339328" y="2203704"/>
            <a:ext cx="3017520" cy="777240"/>
          </a:xfrm>
          <a:prstGeom prst="rect">
            <a:avLst/>
          </a:prstGeom>
          <a:noFill/>
          <a:ln/>
        </p:spPr>
        <p:txBody>
          <a:bodyPr wrap="square" lIns="0" tIns="0" rIns="0" bIns="0" rtlCol="0" anchor="ctr"/>
          <a:lstStyle/>
          <a:p>
            <a:pPr indent="0" marL="0">
              <a:buNone/>
            </a:pPr>
            <a:r>
              <a:rPr lang="en-US" sz="1250" dirty="0">
                <a:solidFill>
                  <a:schemeClr val="accent5"/>
                </a:solidFill>
              </a:rPr>
              <a:t>every kernel selects α = 0 and ties exactly</a:t>
            </a:r>
            <a:endParaRPr lang="en-US" sz="1250" dirty="0"/>
          </a:p>
        </p:txBody>
      </p:sp>
      <p:sp>
        <p:nvSpPr>
          <p:cNvPr id="12" name="neg-3"/>
          <p:cNvSpPr/>
          <p:nvPr/>
        </p:nvSpPr>
        <p:spPr>
          <a:xfrm>
            <a:off x="640080" y="3136392"/>
            <a:ext cx="237744" cy="237744"/>
          </a:xfrm>
          <a:prstGeom prst="ellipse">
            <a:avLst/>
          </a:prstGeom>
          <a:solidFill>
            <a:schemeClr val="accent4"/>
          </a:solidFill>
          <a:ln/>
        </p:spPr>
      </p:sp>
      <p:sp>
        <p:nvSpPr>
          <p:cNvPr id="13" name="Text 11"/>
          <p:cNvSpPr txBox="1"/>
          <p:nvPr/>
        </p:nvSpPr>
        <p:spPr>
          <a:xfrm>
            <a:off x="1024128" y="3063240"/>
            <a:ext cx="3017520" cy="566928"/>
          </a:xfrm>
          <a:prstGeom prst="rect">
            <a:avLst/>
          </a:prstGeom>
          <a:noFill/>
          <a:ln/>
        </p:spPr>
        <p:txBody>
          <a:bodyPr wrap="square" lIns="0" tIns="0" rIns="0" bIns="0" rtlCol="0" anchor="ctr"/>
          <a:lstStyle/>
          <a:p>
            <a:pPr indent="0" marL="0">
              <a:buNone/>
            </a:pPr>
            <a:r>
              <a:rPr lang="en-US" sz="1500" b="1" dirty="0">
                <a:solidFill>
                  <a:schemeClr val="tx2"/>
                </a:solidFill>
              </a:rPr>
              <a:t>Latent market regimes</a:t>
            </a:r>
            <a:endParaRPr lang="en-US" sz="1500" dirty="0"/>
          </a:p>
        </p:txBody>
      </p:sp>
      <p:sp>
        <p:nvSpPr>
          <p:cNvPr id="14" name="Text 12"/>
          <p:cNvSpPr txBox="1"/>
          <p:nvPr/>
        </p:nvSpPr>
        <p:spPr>
          <a:xfrm>
            <a:off x="1024128" y="3666744"/>
            <a:ext cx="3017520" cy="777240"/>
          </a:xfrm>
          <a:prstGeom prst="rect">
            <a:avLst/>
          </a:prstGeom>
          <a:noFill/>
          <a:ln/>
        </p:spPr>
        <p:txBody>
          <a:bodyPr wrap="square" lIns="0" tIns="0" rIns="0" bIns="0" rtlCol="0" anchor="ctr"/>
          <a:lstStyle/>
          <a:p>
            <a:pPr indent="0" marL="0">
              <a:buNone/>
            </a:pPr>
            <a:r>
              <a:rPr lang="en-US" sz="1250" dirty="0">
                <a:solidFill>
                  <a:schemeClr val="accent5"/>
                </a:solidFill>
              </a:rPr>
              <a:t>τ = 0 selected, belief sd 0.0000: the chain provably does nothing</a:t>
            </a:r>
            <a:endParaRPr lang="en-US" sz="1250" dirty="0"/>
          </a:p>
        </p:txBody>
      </p:sp>
      <p:sp>
        <p:nvSpPr>
          <p:cNvPr id="15" name="neg-4"/>
          <p:cNvSpPr/>
          <p:nvPr/>
        </p:nvSpPr>
        <p:spPr>
          <a:xfrm>
            <a:off x="4297680" y="3136392"/>
            <a:ext cx="237744" cy="237744"/>
          </a:xfrm>
          <a:prstGeom prst="ellipse">
            <a:avLst/>
          </a:prstGeom>
          <a:solidFill>
            <a:schemeClr val="accent4"/>
          </a:solidFill>
          <a:ln/>
        </p:spPr>
      </p:sp>
      <p:sp>
        <p:nvSpPr>
          <p:cNvPr id="16" name="Text 14"/>
          <p:cNvSpPr txBox="1"/>
          <p:nvPr/>
        </p:nvSpPr>
        <p:spPr>
          <a:xfrm>
            <a:off x="4681728" y="3063240"/>
            <a:ext cx="3017520" cy="566928"/>
          </a:xfrm>
          <a:prstGeom prst="rect">
            <a:avLst/>
          </a:prstGeom>
          <a:noFill/>
          <a:ln/>
        </p:spPr>
        <p:txBody>
          <a:bodyPr wrap="square" lIns="0" tIns="0" rIns="0" bIns="0" rtlCol="0" anchor="ctr"/>
          <a:lstStyle/>
          <a:p>
            <a:pPr indent="0" marL="0">
              <a:buNone/>
            </a:pPr>
            <a:r>
              <a:rPr lang="en-US" sz="1500" b="1" dirty="0">
                <a:solidFill>
                  <a:schemeClr val="tx2"/>
                </a:solidFill>
              </a:rPr>
              <a:t>Bandit, one-point estimator</a:t>
            </a:r>
            <a:endParaRPr lang="en-US" sz="1500" dirty="0"/>
          </a:p>
        </p:txBody>
      </p:sp>
      <p:sp>
        <p:nvSpPr>
          <p:cNvPr id="17" name="Text 15"/>
          <p:cNvSpPr txBox="1"/>
          <p:nvPr/>
        </p:nvSpPr>
        <p:spPr>
          <a:xfrm>
            <a:off x="4681728" y="3666744"/>
            <a:ext cx="3017520" cy="777240"/>
          </a:xfrm>
          <a:prstGeom prst="rect">
            <a:avLst/>
          </a:prstGeom>
          <a:noFill/>
          <a:ln/>
        </p:spPr>
        <p:txBody>
          <a:bodyPr wrap="square" lIns="0" tIns="0" rIns="0" bIns="0" rtlCol="0" anchor="ctr"/>
          <a:lstStyle/>
          <a:p>
            <a:pPr indent="0" marL="0">
              <a:buNone/>
            </a:pPr>
            <a:r>
              <a:rPr lang="en-US" sz="1250" dirty="0">
                <a:solidFill>
                  <a:schemeClr val="accent5"/>
                </a:solidFill>
              </a:rPr>
              <a:t>alignment with the true gradient is +0.0001; the horizon is too short</a:t>
            </a:r>
            <a:endParaRPr lang="en-US" sz="1250" dirty="0"/>
          </a:p>
        </p:txBody>
      </p:sp>
      <p:sp>
        <p:nvSpPr>
          <p:cNvPr id="18" name="neg-5"/>
          <p:cNvSpPr/>
          <p:nvPr/>
        </p:nvSpPr>
        <p:spPr>
          <a:xfrm>
            <a:off x="7955280" y="3136392"/>
            <a:ext cx="237744" cy="237744"/>
          </a:xfrm>
          <a:prstGeom prst="ellipse">
            <a:avLst/>
          </a:prstGeom>
          <a:solidFill>
            <a:schemeClr val="accent4"/>
          </a:solidFill>
          <a:ln/>
        </p:spPr>
      </p:sp>
      <p:sp>
        <p:nvSpPr>
          <p:cNvPr id="19" name="Text 17"/>
          <p:cNvSpPr txBox="1"/>
          <p:nvPr/>
        </p:nvSpPr>
        <p:spPr>
          <a:xfrm>
            <a:off x="8339328" y="3063240"/>
            <a:ext cx="3017520" cy="566928"/>
          </a:xfrm>
          <a:prstGeom prst="rect">
            <a:avLst/>
          </a:prstGeom>
          <a:noFill/>
          <a:ln/>
        </p:spPr>
        <p:txBody>
          <a:bodyPr wrap="square" lIns="0" tIns="0" rIns="0" bIns="0" rtlCol="0" anchor="ctr"/>
          <a:lstStyle/>
          <a:p>
            <a:pPr indent="0" marL="0">
              <a:buNone/>
            </a:pPr>
            <a:r>
              <a:rPr lang="en-US" sz="1500" b="1" dirty="0">
                <a:solidFill>
                  <a:schemeClr val="tx2"/>
                </a:solidFill>
              </a:rPr>
              <a:t>Bayesian / MCMC Kelly</a:t>
            </a:r>
            <a:endParaRPr lang="en-US" sz="1500" dirty="0"/>
          </a:p>
        </p:txBody>
      </p:sp>
      <p:sp>
        <p:nvSpPr>
          <p:cNvPr id="20" name="Text 18"/>
          <p:cNvSpPr txBox="1"/>
          <p:nvPr/>
        </p:nvSpPr>
        <p:spPr>
          <a:xfrm>
            <a:off x="8339328" y="3666744"/>
            <a:ext cx="3017520" cy="777240"/>
          </a:xfrm>
          <a:prstGeom prst="rect">
            <a:avLst/>
          </a:prstGeom>
          <a:noFill/>
          <a:ln/>
        </p:spPr>
        <p:txBody>
          <a:bodyPr wrap="square" lIns="0" tIns="0" rIns="0" bIns="0" rtlCol="0" anchor="ctr"/>
          <a:lstStyle/>
          <a:p>
            <a:pPr indent="0" marL="0">
              <a:buNone/>
            </a:pPr>
            <a:r>
              <a:rPr lang="en-US" sz="1250" dirty="0">
                <a:solidFill>
                  <a:schemeClr val="accent5"/>
                </a:solidFill>
              </a:rPr>
              <a:t>6 ties, 2 significant losses, zero wins</a:t>
            </a:r>
            <a:endParaRPr lang="en-US" sz="1250" dirty="0"/>
          </a:p>
        </p:txBody>
      </p:sp>
      <p:sp>
        <p:nvSpPr>
          <p:cNvPr id="21" name="neg-6"/>
          <p:cNvSpPr/>
          <p:nvPr/>
        </p:nvSpPr>
        <p:spPr>
          <a:xfrm>
            <a:off x="640080" y="4599432"/>
            <a:ext cx="237744" cy="237744"/>
          </a:xfrm>
          <a:prstGeom prst="ellipse">
            <a:avLst/>
          </a:prstGeom>
          <a:solidFill>
            <a:schemeClr val="accent4"/>
          </a:solidFill>
          <a:ln/>
        </p:spPr>
      </p:sp>
      <p:sp>
        <p:nvSpPr>
          <p:cNvPr id="22" name="Text 20"/>
          <p:cNvSpPr txBox="1"/>
          <p:nvPr/>
        </p:nvSpPr>
        <p:spPr>
          <a:xfrm>
            <a:off x="1024128" y="4526280"/>
            <a:ext cx="3017520" cy="566928"/>
          </a:xfrm>
          <a:prstGeom prst="rect">
            <a:avLst/>
          </a:prstGeom>
          <a:noFill/>
          <a:ln/>
        </p:spPr>
        <p:txBody>
          <a:bodyPr wrap="square" lIns="0" tIns="0" rIns="0" bIns="0" rtlCol="0" anchor="ctr"/>
          <a:lstStyle/>
          <a:p>
            <a:pPr indent="0" marL="0">
              <a:buNone/>
            </a:pPr>
            <a:r>
              <a:rPr lang="en-US" sz="1500" b="1" dirty="0">
                <a:solidFill>
                  <a:schemeClr val="tx2"/>
                </a:solidFill>
              </a:rPr>
              <a:t>Per-league specialisation</a:t>
            </a:r>
            <a:endParaRPr lang="en-US" sz="1500" dirty="0"/>
          </a:p>
        </p:txBody>
      </p:sp>
      <p:sp>
        <p:nvSpPr>
          <p:cNvPr id="23" name="Text 21"/>
          <p:cNvSpPr txBox="1"/>
          <p:nvPr/>
        </p:nvSpPr>
        <p:spPr>
          <a:xfrm>
            <a:off x="1024128" y="5129784"/>
            <a:ext cx="3017520" cy="777240"/>
          </a:xfrm>
          <a:prstGeom prst="rect">
            <a:avLst/>
          </a:prstGeom>
          <a:noFill/>
          <a:ln/>
        </p:spPr>
        <p:txBody>
          <a:bodyPr wrap="square" lIns="0" tIns="0" rIns="0" bIns="0" rtlCol="0" anchor="ctr"/>
          <a:lstStyle/>
          <a:p>
            <a:pPr indent="0" marL="0">
              <a:buNone/>
            </a:pPr>
            <a:r>
              <a:rPr lang="en-US" sz="1250" dirty="0">
                <a:solidFill>
                  <a:schemeClr val="accent5"/>
                </a:solidFill>
              </a:rPr>
              <a:t>loses in all six leagues tested</a:t>
            </a:r>
            <a:endParaRPr lang="en-US" sz="1250" dirty="0"/>
          </a:p>
        </p:txBody>
      </p:sp>
      <p:sp>
        <p:nvSpPr>
          <p:cNvPr id="24" name="neg-7"/>
          <p:cNvSpPr/>
          <p:nvPr/>
        </p:nvSpPr>
        <p:spPr>
          <a:xfrm>
            <a:off x="4297680" y="4599432"/>
            <a:ext cx="237744" cy="237744"/>
          </a:xfrm>
          <a:prstGeom prst="ellipse">
            <a:avLst/>
          </a:prstGeom>
          <a:solidFill>
            <a:schemeClr val="accent4"/>
          </a:solidFill>
          <a:ln/>
        </p:spPr>
      </p:sp>
      <p:sp>
        <p:nvSpPr>
          <p:cNvPr id="25" name="Text 23"/>
          <p:cNvSpPr txBox="1"/>
          <p:nvPr/>
        </p:nvSpPr>
        <p:spPr>
          <a:xfrm>
            <a:off x="4681728" y="4526280"/>
            <a:ext cx="3017520" cy="566928"/>
          </a:xfrm>
          <a:prstGeom prst="rect">
            <a:avLst/>
          </a:prstGeom>
          <a:noFill/>
          <a:ln/>
        </p:spPr>
        <p:txBody>
          <a:bodyPr wrap="square" lIns="0" tIns="0" rIns="0" bIns="0" rtlCol="0" anchor="ctr"/>
          <a:lstStyle/>
          <a:p>
            <a:pPr indent="0" marL="0">
              <a:buNone/>
            </a:pPr>
            <a:r>
              <a:rPr lang="en-US" sz="1500" b="1" dirty="0">
                <a:solidFill>
                  <a:schemeClr val="tx2"/>
                </a:solidFill>
              </a:rPr>
              <a:t>AdaGrad</a:t>
            </a:r>
            <a:endParaRPr lang="en-US" sz="1500" dirty="0"/>
          </a:p>
        </p:txBody>
      </p:sp>
      <p:sp>
        <p:nvSpPr>
          <p:cNvPr id="26" name="Text 24"/>
          <p:cNvSpPr txBox="1"/>
          <p:nvPr/>
        </p:nvSpPr>
        <p:spPr>
          <a:xfrm>
            <a:off x="4681728" y="5129784"/>
            <a:ext cx="3017520" cy="777240"/>
          </a:xfrm>
          <a:prstGeom prst="rect">
            <a:avLst/>
          </a:prstGeom>
          <a:noFill/>
          <a:ln/>
        </p:spPr>
        <p:txBody>
          <a:bodyPr wrap="square" lIns="0" tIns="0" rIns="0" bIns="0" rtlCol="0" anchor="ctr"/>
          <a:lstStyle/>
          <a:p>
            <a:pPr indent="0" marL="0">
              <a:buNone/>
            </a:pPr>
            <a:r>
              <a:rPr lang="en-US" sz="1250" dirty="0">
                <a:solidFill>
                  <a:schemeClr val="accent5"/>
                </a:solidFill>
              </a:rPr>
              <a:t>recovers 20% of the hand-tuned gain at best</a:t>
            </a:r>
            <a:endParaRPr lang="en-US" sz="1250" dirty="0"/>
          </a:p>
        </p:txBody>
      </p:sp>
      <p:sp>
        <p:nvSpPr>
          <p:cNvPr id="27" name="neg-8"/>
          <p:cNvSpPr/>
          <p:nvPr/>
        </p:nvSpPr>
        <p:spPr>
          <a:xfrm>
            <a:off x="7955280" y="4599432"/>
            <a:ext cx="237744" cy="237744"/>
          </a:xfrm>
          <a:prstGeom prst="ellipse">
            <a:avLst/>
          </a:prstGeom>
          <a:solidFill>
            <a:schemeClr val="accent4"/>
          </a:solidFill>
          <a:ln/>
        </p:spPr>
      </p:sp>
      <p:sp>
        <p:nvSpPr>
          <p:cNvPr id="28" name="Text 26"/>
          <p:cNvSpPr txBox="1"/>
          <p:nvPr/>
        </p:nvSpPr>
        <p:spPr>
          <a:xfrm>
            <a:off x="8339328" y="4526280"/>
            <a:ext cx="3017520" cy="566928"/>
          </a:xfrm>
          <a:prstGeom prst="rect">
            <a:avLst/>
          </a:prstGeom>
          <a:noFill/>
          <a:ln/>
        </p:spPr>
        <p:txBody>
          <a:bodyPr wrap="square" lIns="0" tIns="0" rIns="0" bIns="0" rtlCol="0" anchor="ctr"/>
          <a:lstStyle/>
          <a:p>
            <a:pPr indent="0" marL="0">
              <a:buNone/>
            </a:pPr>
            <a:r>
              <a:rPr lang="en-US" sz="1500" b="1" dirty="0">
                <a:solidFill>
                  <a:schemeClr val="tx2"/>
                </a:solidFill>
              </a:rPr>
              <a:t>Joint step + calibration sweep</a:t>
            </a:r>
            <a:endParaRPr lang="en-US" sz="1500" dirty="0"/>
          </a:p>
        </p:txBody>
      </p:sp>
      <p:sp>
        <p:nvSpPr>
          <p:cNvPr id="29" name="Text 27"/>
          <p:cNvSpPr txBox="1"/>
          <p:nvPr/>
        </p:nvSpPr>
        <p:spPr>
          <a:xfrm>
            <a:off x="8339328" y="5129784"/>
            <a:ext cx="3017520" cy="777240"/>
          </a:xfrm>
          <a:prstGeom prst="rect">
            <a:avLst/>
          </a:prstGeom>
          <a:noFill/>
          <a:ln/>
        </p:spPr>
        <p:txBody>
          <a:bodyPr wrap="square" lIns="0" tIns="0" rIns="0" bIns="0" rtlCol="0" anchor="ctr"/>
          <a:lstStyle/>
          <a:p>
            <a:pPr indent="0" marL="0">
              <a:buNone/>
            </a:pPr>
            <a:r>
              <a:rPr lang="en-US" sz="1250" dirty="0">
                <a:solidFill>
                  <a:schemeClr val="accent5"/>
                </a:solidFill>
              </a:rPr>
              <a:t>no interaction at all, and train selection then picks a worse step</a:t>
            </a:r>
            <a:endParaRPr lang="en-US" sz="1250" dirty="0"/>
          </a:p>
        </p:txBody>
      </p:sp>
      <p:sp>
        <p:nvSpPr>
          <p:cNvPr id="30" name="Text 28"/>
          <p:cNvSpPr txBox="1"/>
          <p:nvPr/>
        </p:nvSpPr>
        <p:spPr>
          <a:xfrm>
            <a:off x="640080" y="5943600"/>
            <a:ext cx="10881360" cy="640080"/>
          </a:xfrm>
          <a:prstGeom prst="rect">
            <a:avLst/>
          </a:prstGeom>
          <a:noFill/>
          <a:ln/>
        </p:spPr>
        <p:txBody>
          <a:bodyPr wrap="square" rtlCol="0" anchor="ctr"/>
          <a:lstStyle/>
          <a:p>
            <a:pPr indent="0" marL="0">
              <a:buNone/>
            </a:pPr>
            <a:r>
              <a:rPr lang="en-US" sz="1500" dirty="0">
                <a:solidFill>
                  <a:schemeClr val="tx1"/>
                </a:solidFill>
              </a:rPr>
              <a:t>A pattern across them: once the step size is tuned, no further movement of mass over the experts buys anything. The step and the leak control the same quantity.</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914400" y="2286000"/>
            <a:ext cx="1828800" cy="1097280"/>
          </a:xfrm>
          <a:prstGeom prst="rect">
            <a:avLst/>
          </a:prstGeom>
          <a:noFill/>
          <a:ln/>
        </p:spPr>
        <p:txBody>
          <a:bodyPr wrap="square" rtlCol="0" anchor="ctr"/>
          <a:lstStyle/>
          <a:p>
            <a:pPr algn="l" indent="0" marL="0">
              <a:buNone/>
            </a:pPr>
            <a:r>
              <a:rPr lang="en-US" sz="6800" b="1" dirty="0">
                <a:solidFill>
                  <a:srgbClr val="6FA3D6"/>
                </a:solidFill>
              </a:rPr>
              <a:t>05</a:t>
            </a:r>
            <a:endParaRPr lang="en-US" sz="6800" dirty="0"/>
          </a:p>
        </p:txBody>
      </p:sp>
      <p:sp>
        <p:nvSpPr>
          <p:cNvPr id="3" name="Text 0"/>
          <p:cNvSpPr/>
          <p:nvPr>
            <p:ph idx="101" type="title" hasCustomPrompt="1"/>
          </p:nvPr>
        </p:nvSpPr>
        <p:spPr>
          <a:xfrm>
            <a:off x="2834640" y="2286000"/>
            <a:ext cx="8412480" cy="1097280"/>
          </a:xfrm>
          <a:prstGeom prst="rect">
            <a:avLst/>
          </a:prstGeom>
          <a:noFill/>
          <a:ln/>
        </p:spPr>
        <p:txBody>
          <a:bodyPr wrap="square" rtlCol="0" anchor="ctr"/>
          <a:lstStyle/>
          <a:p>
            <a:pPr algn="l" indent="0" marL="0">
              <a:buNone/>
            </a:pPr>
            <a:r>
              <a:rPr lang="en-US" sz="3600" b="1" dirty="0">
                <a:solidFill>
                  <a:schemeClr val="bg1"/>
                </a:solidFill>
              </a:rPr>
              <a:t>What the numbers mean</a:t>
            </a:r>
            <a:endParaRPr lang="en-US" sz="3600" dirty="0"/>
          </a:p>
        </p:txBody>
      </p:sp>
      <p:sp>
        <p:nvSpPr>
          <p:cNvPr id="4" name="Text 0"/>
          <p:cNvSpPr/>
          <p:nvPr>
            <p:ph idx="102" type="body" hasCustomPrompt="1"/>
          </p:nvPr>
        </p:nvSpPr>
        <p:spPr>
          <a:xfrm>
            <a:off x="2834640" y="3474720"/>
            <a:ext cx="8412480" cy="1097280"/>
          </a:xfrm>
          <a:prstGeom prst="rect">
            <a:avLst/>
          </a:prstGeom>
          <a:noFill/>
          <a:ln/>
        </p:spPr>
        <p:txBody>
          <a:bodyPr wrap="square" rtlCol="0" anchor="t"/>
          <a:lstStyle/>
          <a:p>
            <a:pPr algn="l" indent="0" marL="0">
              <a:buNone/>
            </a:pPr>
            <a:r>
              <a:rPr lang="en-US" sz="1600" dirty="0">
                <a:solidFill>
                  <a:srgbClr val="CBD5E1"/>
                </a:solidFill>
              </a:rPr>
              <a:t>Why the ranking of forecasters turns out to be a ranking of business models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The odds are not a property of the match</a:t>
            </a:r>
            <a:endParaRPr lang="en-US" sz="3000" dirty="0"/>
          </a:p>
        </p:txBody>
      </p:sp>
      <p:sp>
        <p:nvSpPr>
          <p:cNvPr id="3" name="Text 1"/>
          <p:cNvSpPr txBox="1"/>
          <p:nvPr/>
        </p:nvSpPr>
        <p:spPr>
          <a:xfrm>
            <a:off x="640080" y="1481328"/>
            <a:ext cx="5852160" cy="457200"/>
          </a:xfrm>
          <a:prstGeom prst="rect">
            <a:avLst/>
          </a:prstGeom>
          <a:noFill/>
          <a:ln/>
        </p:spPr>
        <p:txBody>
          <a:bodyPr wrap="square" lIns="0" tIns="0" rIns="0" bIns="0" rtlCol="0" anchor="ctr"/>
          <a:lstStyle/>
          <a:p>
            <a:pPr indent="0" marL="0">
              <a:buNone/>
            </a:pPr>
            <a:r>
              <a:rPr lang="en-US" sz="1600" b="1" dirty="0">
                <a:solidFill>
                  <a:schemeClr val="accent1"/>
                </a:solidFill>
              </a:rPr>
              <a:t>Remove Pinnacle and the "probability" changes</a:t>
            </a:r>
            <a:endParaRPr lang="en-US" sz="1600" dirty="0"/>
          </a:p>
        </p:txBody>
      </p:sp>
      <p:sp>
        <p:nvSpPr>
          <p:cNvPr id="4" name="Text 2"/>
          <p:cNvSpPr txBox="1"/>
          <p:nvPr/>
        </p:nvSpPr>
        <p:spPr>
          <a:xfrm>
            <a:off x="6675120" y="1481328"/>
            <a:ext cx="4846320" cy="822960"/>
          </a:xfrm>
          <a:prstGeom prst="rect">
            <a:avLst/>
          </a:prstGeom>
          <a:noFill/>
          <a:ln/>
        </p:spPr>
        <p:txBody>
          <a:bodyPr wrap="square" lIns="0" tIns="0" rIns="0" bIns="0" rtlCol="0" anchor="ctr"/>
          <a:lstStyle/>
          <a:p>
            <a:pPr indent="0" marL="0">
              <a:buNone/>
            </a:pPr>
            <a:r>
              <a:rPr lang="en-US" sz="1350" dirty="0">
                <a:solidFill>
                  <a:schemeClr val="accent5"/>
                </a:solidFill>
              </a:rPr>
              <a:t>What was measured was not knowledge about football but position in the market.</a:t>
            </a:r>
            <a:endParaRPr lang="en-US" sz="1350" dirty="0"/>
          </a:p>
        </p:txBody>
      </p:sp>
      <p:sp>
        <p:nvSpPr>
          <p:cNvPr id="5" name="Text 3"/>
          <p:cNvSpPr txBox="1"/>
          <p:nvPr/>
        </p:nvSpPr>
        <p:spPr>
          <a:xfrm>
            <a:off x="640080" y="2670048"/>
            <a:ext cx="5852160" cy="457200"/>
          </a:xfrm>
          <a:prstGeom prst="rect">
            <a:avLst/>
          </a:prstGeom>
          <a:noFill/>
          <a:ln/>
        </p:spPr>
        <p:txBody>
          <a:bodyPr wrap="square" lIns="0" tIns="0" rIns="0" bIns="0" rtlCol="0" anchor="ctr"/>
          <a:lstStyle/>
          <a:p>
            <a:pPr indent="0" marL="0">
              <a:buNone/>
            </a:pPr>
            <a:r>
              <a:rPr lang="en-US" sz="1600" b="1" dirty="0">
                <a:solidFill>
                  <a:schemeClr val="accent1"/>
                </a:solidFill>
              </a:rPr>
              <a:t>Pinnacle leads because it does not ban winners</a:t>
            </a:r>
            <a:endParaRPr lang="en-US" sz="1600" dirty="0"/>
          </a:p>
        </p:txBody>
      </p:sp>
      <p:sp>
        <p:nvSpPr>
          <p:cNvPr id="6" name="Text 4"/>
          <p:cNvSpPr txBox="1"/>
          <p:nvPr/>
        </p:nvSpPr>
        <p:spPr>
          <a:xfrm>
            <a:off x="6675120" y="2670048"/>
            <a:ext cx="4846320" cy="822960"/>
          </a:xfrm>
          <a:prstGeom prst="rect">
            <a:avLst/>
          </a:prstGeom>
          <a:noFill/>
          <a:ln/>
        </p:spPr>
        <p:txBody>
          <a:bodyPr wrap="square" lIns="0" tIns="0" rIns="0" bIns="0" rtlCol="0" anchor="ctr"/>
          <a:lstStyle/>
          <a:p>
            <a:pPr indent="0" marL="0">
              <a:buNone/>
            </a:pPr>
            <a:r>
              <a:rPr lang="en-US" sz="1350" dirty="0">
                <a:solidFill>
                  <a:schemeClr val="accent5"/>
                </a:solidFill>
              </a:rPr>
              <a:t>Low margin, and informed bettors are allowed to correct its price instead of being shut out.</a:t>
            </a:r>
            <a:endParaRPr lang="en-US" sz="1350" dirty="0"/>
          </a:p>
        </p:txBody>
      </p:sp>
      <p:sp>
        <p:nvSpPr>
          <p:cNvPr id="7" name="Text 5"/>
          <p:cNvSpPr txBox="1"/>
          <p:nvPr/>
        </p:nvSpPr>
        <p:spPr>
          <a:xfrm>
            <a:off x="640080" y="3858768"/>
            <a:ext cx="5852160" cy="457200"/>
          </a:xfrm>
          <a:prstGeom prst="rect">
            <a:avLst/>
          </a:prstGeom>
          <a:noFill/>
          <a:ln/>
        </p:spPr>
        <p:txBody>
          <a:bodyPr wrap="square" lIns="0" tIns="0" rIns="0" bIns="0" rtlCol="0" anchor="ctr"/>
          <a:lstStyle/>
          <a:p>
            <a:pPr indent="0" marL="0">
              <a:buNone/>
            </a:pPr>
            <a:r>
              <a:rPr lang="en-US" sz="1600" b="1" dirty="0">
                <a:solidFill>
                  <a:schemeClr val="accent1"/>
                </a:solidFill>
              </a:rPr>
              <a:t>In 2025-26 the best forecaster is not a bookmaker</a:t>
            </a:r>
            <a:endParaRPr lang="en-US" sz="1600" dirty="0"/>
          </a:p>
        </p:txBody>
      </p:sp>
      <p:sp>
        <p:nvSpPr>
          <p:cNvPr id="8" name="Text 6"/>
          <p:cNvSpPr txBox="1"/>
          <p:nvPr/>
        </p:nvSpPr>
        <p:spPr>
          <a:xfrm>
            <a:off x="6675120" y="3858768"/>
            <a:ext cx="4846320" cy="822960"/>
          </a:xfrm>
          <a:prstGeom prst="rect">
            <a:avLst/>
          </a:prstGeom>
          <a:noFill/>
          <a:ln/>
        </p:spPr>
        <p:txBody>
          <a:bodyPr wrap="square" lIns="0" tIns="0" rIns="0" bIns="0" rtlCol="0" anchor="ctr"/>
          <a:lstStyle/>
          <a:p>
            <a:pPr indent="0" marL="0">
              <a:buNone/>
            </a:pPr>
            <a:r>
              <a:rPr lang="en-US" sz="1350" dirty="0">
                <a:solidFill>
                  <a:schemeClr val="accent5"/>
                </a:solidFill>
              </a:rPr>
              <a:t>Betfair Exchange, a market price carrying no operator margin; when Pinnacle also quotes, the two cannot be told apart.</a:t>
            </a:r>
            <a:endParaRPr lang="en-US" sz="1350" dirty="0"/>
          </a:p>
        </p:txBody>
      </p:sp>
      <p:sp>
        <p:nvSpPr>
          <p:cNvPr id="9" name="Text 7"/>
          <p:cNvSpPr txBox="1"/>
          <p:nvPr/>
        </p:nvSpPr>
        <p:spPr>
          <a:xfrm>
            <a:off x="640080" y="5047488"/>
            <a:ext cx="5852160" cy="457200"/>
          </a:xfrm>
          <a:prstGeom prst="rect">
            <a:avLst/>
          </a:prstGeom>
          <a:noFill/>
          <a:ln/>
        </p:spPr>
        <p:txBody>
          <a:bodyPr wrap="square" lIns="0" tIns="0" rIns="0" bIns="0" rtlCol="0" anchor="ctr"/>
          <a:lstStyle/>
          <a:p>
            <a:pPr indent="0" marL="0">
              <a:buNone/>
            </a:pPr>
            <a:r>
              <a:rPr lang="en-US" sz="1600" b="1" dirty="0">
                <a:solidFill>
                  <a:schemeClr val="accent2"/>
                </a:solidFill>
              </a:rPr>
              <a:t>The market got dearer, not better</a:t>
            </a:r>
            <a:endParaRPr lang="en-US" sz="1600" dirty="0"/>
          </a:p>
        </p:txBody>
      </p:sp>
      <p:sp>
        <p:nvSpPr>
          <p:cNvPr id="10" name="Text 8"/>
          <p:cNvSpPr txBox="1"/>
          <p:nvPr/>
        </p:nvSpPr>
        <p:spPr>
          <a:xfrm>
            <a:off x="6675120" y="5047488"/>
            <a:ext cx="4846320" cy="822960"/>
          </a:xfrm>
          <a:prstGeom prst="rect">
            <a:avLst/>
          </a:prstGeom>
          <a:noFill/>
          <a:ln/>
        </p:spPr>
        <p:txBody>
          <a:bodyPr wrap="square" lIns="0" tIns="0" rIns="0" bIns="0" rtlCol="0" anchor="ctr"/>
          <a:lstStyle/>
          <a:p>
            <a:pPr indent="0" marL="0">
              <a:buNone/>
            </a:pPr>
            <a:r>
              <a:rPr lang="en-US" sz="1350" dirty="0">
                <a:solidFill>
                  <a:schemeClr val="accent5"/>
                </a:solidFill>
              </a:rPr>
              <a:t>Overround 4.42% → 6.00% (p = 0.0007) while no series shows a significant trend in log-loss.</a:t>
            </a:r>
            <a:endParaRPr lang="en-US" sz="1350" dirty="0"/>
          </a:p>
        </p:txBody>
      </p:sp>
      <p:sp>
        <p:nvSpPr>
          <p:cNvPr id="11" name="Text 9"/>
          <p:cNvSpPr txBox="1"/>
          <p:nvPr/>
        </p:nvSpPr>
        <p:spPr>
          <a:xfrm>
            <a:off x="640080" y="5760720"/>
            <a:ext cx="10881360" cy="731520"/>
          </a:xfrm>
          <a:prstGeom prst="rect">
            <a:avLst/>
          </a:prstGeom>
          <a:noFill/>
          <a:ln/>
        </p:spPr>
        <p:txBody>
          <a:bodyPr wrap="square" rtlCol="0" anchor="ctr"/>
          <a:lstStyle/>
          <a:p>
            <a:pPr indent="0" marL="0">
              <a:buNone/>
            </a:pPr>
            <a:r>
              <a:rPr lang="en-US" sz="1500" i="1" dirty="0">
                <a:solidFill>
                  <a:schemeClr val="tx1"/>
                </a:solidFill>
              </a:rPr>
              <a:t>Shin's parameter z IS the estimated share of informed bettors, a social quantity, entering the method as a nuisance parameter to be removed.</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914400" y="1737360"/>
            <a:ext cx="10332720" cy="2194560"/>
          </a:xfrm>
          <a:prstGeom prst="rect">
            <a:avLst/>
          </a:prstGeom>
          <a:noFill/>
          <a:ln/>
        </p:spPr>
        <p:txBody>
          <a:bodyPr wrap="square" rtlCol="0" anchor="ctr"/>
          <a:lstStyle/>
          <a:p>
            <a:pPr algn="l" indent="0" marL="0">
              <a:buNone/>
            </a:pPr>
            <a:r>
              <a:rPr lang="en-US" sz="3400" b="1" dirty="0">
                <a:solidFill>
                  <a:schemeClr val="bg1"/>
                </a:solidFill>
              </a:rPr>
              <a:t>The edge exists where it cannot be used</a:t>
            </a:r>
            <a:endParaRPr lang="en-US" sz="3400" dirty="0"/>
          </a:p>
        </p:txBody>
      </p:sp>
      <p:sp>
        <p:nvSpPr>
          <p:cNvPr id="3" name="Text 0"/>
          <p:cNvSpPr/>
          <p:nvPr>
            <p:ph idx="101" type="body" hasCustomPrompt="1"/>
          </p:nvPr>
        </p:nvSpPr>
        <p:spPr>
          <a:xfrm>
            <a:off x="914400" y="4114800"/>
            <a:ext cx="10332720" cy="1645920"/>
          </a:xfrm>
          <a:prstGeom prst="rect">
            <a:avLst/>
          </a:prstGeom>
          <a:noFill/>
          <a:ln/>
        </p:spPr>
        <p:txBody>
          <a:bodyPr wrap="square" rtlCol="0" anchor="t"/>
          <a:lstStyle/>
          <a:p>
            <a:pPr algn="l" indent="0" marL="0">
              <a:buNone/>
            </a:pPr>
            <a:r>
              <a:rPr lang="en-US" sz="1700" dirty="0">
                <a:solidFill>
                  <a:srgbClr val="CBD5E1"/>
                </a:solidFill>
              </a:rPr>
              <a:t>The significant profits are against two recreational-facing houses. Against the one house that does NOT exclude winning players, the simulation loses significantly. The sharp house has the right price because it lets informed money correct it; the soft ones have the wrong price because they drive that money away. Account restrictions are not measured here: the data are prices, not customer outcomes.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Conclusions</a:t>
            </a:r>
            <a:endParaRPr lang="en-US" sz="3000" dirty="0"/>
          </a:p>
        </p:txBody>
      </p:sp>
      <p:sp>
        <p:nvSpPr>
          <p:cNvPr id="3" name="cc-0"/>
          <p:cNvSpPr/>
          <p:nvPr/>
        </p:nvSpPr>
        <p:spPr>
          <a:xfrm>
            <a:off x="640080" y="1554480"/>
            <a:ext cx="256032" cy="256032"/>
          </a:xfrm>
          <a:prstGeom prst="ellipse">
            <a:avLst/>
          </a:prstGeom>
          <a:solidFill>
            <a:schemeClr val="accent3"/>
          </a:solidFill>
          <a:ln/>
        </p:spPr>
      </p:sp>
      <p:sp>
        <p:nvSpPr>
          <p:cNvPr id="4" name="Text 2"/>
          <p:cNvSpPr txBox="1"/>
          <p:nvPr/>
        </p:nvSpPr>
        <p:spPr>
          <a:xfrm>
            <a:off x="1078992" y="1463040"/>
            <a:ext cx="3931920" cy="411480"/>
          </a:xfrm>
          <a:prstGeom prst="rect">
            <a:avLst/>
          </a:prstGeom>
          <a:noFill/>
          <a:ln/>
        </p:spPr>
        <p:txBody>
          <a:bodyPr wrap="square" lIns="0" tIns="0" rIns="0" bIns="0" rtlCol="0" anchor="t"/>
          <a:lstStyle/>
          <a:p>
            <a:pPr indent="0" marL="0">
              <a:buNone/>
            </a:pPr>
            <a:r>
              <a:rPr lang="en-US" sz="1600" b="1" dirty="0">
                <a:solidFill>
                  <a:schemeClr val="tx2"/>
                </a:solidFill>
              </a:rPr>
              <a:t>The framework applies</a:t>
            </a:r>
            <a:endParaRPr lang="en-US" sz="1600" dirty="0"/>
          </a:p>
        </p:txBody>
      </p:sp>
      <p:sp>
        <p:nvSpPr>
          <p:cNvPr id="5" name="Text 3"/>
          <p:cNvSpPr txBox="1"/>
          <p:nvPr/>
        </p:nvSpPr>
        <p:spPr>
          <a:xfrm>
            <a:off x="5166360" y="1463040"/>
            <a:ext cx="6355080" cy="777240"/>
          </a:xfrm>
          <a:prstGeom prst="rect">
            <a:avLst/>
          </a:prstGeom>
          <a:noFill/>
          <a:ln/>
        </p:spPr>
        <p:txBody>
          <a:bodyPr wrap="square" lIns="0" tIns="0" rIns="0" bIns="0" rtlCol="0" anchor="t"/>
          <a:lstStyle/>
          <a:p>
            <a:pPr indent="0" marL="0">
              <a:buNone/>
            </a:pPr>
            <a:r>
              <a:rPr lang="en-US" sz="1350" dirty="0">
                <a:solidFill>
                  <a:schemeClr val="accent5"/>
                </a:solidFill>
              </a:rPr>
              <a:t>An online mixture of published odds beats the uniform average and almost every individual bookmaker, with no distributional assumption.</a:t>
            </a:r>
            <a:endParaRPr lang="en-US" sz="1350" dirty="0"/>
          </a:p>
        </p:txBody>
      </p:sp>
      <p:sp>
        <p:nvSpPr>
          <p:cNvPr id="6" name="cc-1"/>
          <p:cNvSpPr/>
          <p:nvPr/>
        </p:nvSpPr>
        <p:spPr>
          <a:xfrm>
            <a:off x="640080" y="2496312"/>
            <a:ext cx="256032" cy="256032"/>
          </a:xfrm>
          <a:prstGeom prst="ellipse">
            <a:avLst/>
          </a:prstGeom>
          <a:solidFill>
            <a:schemeClr val="accent1"/>
          </a:solidFill>
          <a:ln/>
        </p:spPr>
      </p:sp>
      <p:sp>
        <p:nvSpPr>
          <p:cNvPr id="7" name="Text 5"/>
          <p:cNvSpPr txBox="1"/>
          <p:nvPr/>
        </p:nvSpPr>
        <p:spPr>
          <a:xfrm>
            <a:off x="1078992" y="2404872"/>
            <a:ext cx="3931920" cy="411480"/>
          </a:xfrm>
          <a:prstGeom prst="rect">
            <a:avLst/>
          </a:prstGeom>
          <a:noFill/>
          <a:ln/>
        </p:spPr>
        <p:txBody>
          <a:bodyPr wrap="square" lIns="0" tIns="0" rIns="0" bIns="0" rtlCol="0" anchor="t"/>
          <a:lstStyle/>
          <a:p>
            <a:pPr indent="0" marL="0">
              <a:buNone/>
            </a:pPr>
            <a:r>
              <a:rPr lang="en-US" sz="1600" b="1" dirty="0">
                <a:solidFill>
                  <a:schemeClr val="tx2"/>
                </a:solidFill>
              </a:rPr>
              <a:t>It reaches the market's edge</a:t>
            </a:r>
            <a:endParaRPr lang="en-US" sz="1600" dirty="0"/>
          </a:p>
        </p:txBody>
      </p:sp>
      <p:sp>
        <p:nvSpPr>
          <p:cNvPr id="8" name="Text 6"/>
          <p:cNvSpPr txBox="1"/>
          <p:nvPr/>
        </p:nvSpPr>
        <p:spPr>
          <a:xfrm>
            <a:off x="5166360" y="2404872"/>
            <a:ext cx="6355080" cy="777240"/>
          </a:xfrm>
          <a:prstGeom prst="rect">
            <a:avLst/>
          </a:prstGeom>
          <a:noFill/>
          <a:ln/>
        </p:spPr>
        <p:txBody>
          <a:bodyPr wrap="square" lIns="0" tIns="0" rIns="0" bIns="0" rtlCol="0" anchor="t"/>
          <a:lstStyle/>
          <a:p>
            <a:pPr indent="0" marL="0">
              <a:buNone/>
            </a:pPr>
            <a:r>
              <a:rPr lang="en-US" sz="1350" dirty="0">
                <a:solidFill>
                  <a:schemeClr val="accent5"/>
                </a:solidFill>
              </a:rPr>
              <a:t>Level with the sharpest bookmaker, but behind an exchange with no operator margin.</a:t>
            </a:r>
            <a:endParaRPr lang="en-US" sz="1350" dirty="0"/>
          </a:p>
        </p:txBody>
      </p:sp>
      <p:sp>
        <p:nvSpPr>
          <p:cNvPr id="9" name="cc-2"/>
          <p:cNvSpPr/>
          <p:nvPr/>
        </p:nvSpPr>
        <p:spPr>
          <a:xfrm>
            <a:off x="640080" y="3438144"/>
            <a:ext cx="256032" cy="256032"/>
          </a:xfrm>
          <a:prstGeom prst="ellipse">
            <a:avLst/>
          </a:prstGeom>
          <a:solidFill>
            <a:schemeClr val="accent4"/>
          </a:solidFill>
          <a:ln/>
        </p:spPr>
      </p:sp>
      <p:sp>
        <p:nvSpPr>
          <p:cNvPr id="10" name="Text 8"/>
          <p:cNvSpPr txBox="1"/>
          <p:nvPr/>
        </p:nvSpPr>
        <p:spPr>
          <a:xfrm>
            <a:off x="1078992" y="3346704"/>
            <a:ext cx="3931920" cy="411480"/>
          </a:xfrm>
          <a:prstGeom prst="rect">
            <a:avLst/>
          </a:prstGeom>
          <a:noFill/>
          <a:ln/>
        </p:spPr>
        <p:txBody>
          <a:bodyPr wrap="square" lIns="0" tIns="0" rIns="0" bIns="0" rtlCol="0" anchor="t"/>
          <a:lstStyle/>
          <a:p>
            <a:pPr indent="0" marL="0">
              <a:buNone/>
            </a:pPr>
            <a:r>
              <a:rPr lang="en-US" sz="1600" b="1" dirty="0">
                <a:solidFill>
                  <a:schemeClr val="tx2"/>
                </a:solidFill>
              </a:rPr>
              <a:t>Part of the gain is geometry</a:t>
            </a:r>
            <a:endParaRPr lang="en-US" sz="1600" dirty="0"/>
          </a:p>
        </p:txBody>
      </p:sp>
      <p:sp>
        <p:nvSpPr>
          <p:cNvPr id="11" name="Text 9"/>
          <p:cNvSpPr txBox="1"/>
          <p:nvPr/>
        </p:nvSpPr>
        <p:spPr>
          <a:xfrm>
            <a:off x="5166360" y="3346704"/>
            <a:ext cx="6355080" cy="777240"/>
          </a:xfrm>
          <a:prstGeom prst="rect">
            <a:avLst/>
          </a:prstGeom>
          <a:noFill/>
          <a:ln/>
        </p:spPr>
        <p:txBody>
          <a:bodyPr wrap="square" lIns="0" tIns="0" rIns="0" bIns="0" rtlCol="0" anchor="t"/>
          <a:lstStyle/>
          <a:p>
            <a:pPr indent="0" marL="0">
              <a:buNone/>
            </a:pPr>
            <a:r>
              <a:rPr lang="en-US" sz="1350" dirty="0">
                <a:solidFill>
                  <a:schemeClr val="accent5"/>
                </a:solidFill>
              </a:rPr>
              <a:t>42% of the margin over uniform, isolated with a zero-step control. Future comparisons should carry one.</a:t>
            </a:r>
            <a:endParaRPr lang="en-US" sz="1350" dirty="0"/>
          </a:p>
        </p:txBody>
      </p:sp>
      <p:sp>
        <p:nvSpPr>
          <p:cNvPr id="12" name="cc-3"/>
          <p:cNvSpPr/>
          <p:nvPr/>
        </p:nvSpPr>
        <p:spPr>
          <a:xfrm>
            <a:off x="640080" y="4379976"/>
            <a:ext cx="256032" cy="256032"/>
          </a:xfrm>
          <a:prstGeom prst="ellipse">
            <a:avLst/>
          </a:prstGeom>
          <a:solidFill>
            <a:schemeClr val="accent1"/>
          </a:solidFill>
          <a:ln/>
        </p:spPr>
      </p:sp>
      <p:sp>
        <p:nvSpPr>
          <p:cNvPr id="13" name="Text 11"/>
          <p:cNvSpPr txBox="1"/>
          <p:nvPr/>
        </p:nvSpPr>
        <p:spPr>
          <a:xfrm>
            <a:off x="1078992" y="4288536"/>
            <a:ext cx="3931920" cy="411480"/>
          </a:xfrm>
          <a:prstGeom prst="rect">
            <a:avLst/>
          </a:prstGeom>
          <a:noFill/>
          <a:ln/>
        </p:spPr>
        <p:txBody>
          <a:bodyPr wrap="square" lIns="0" tIns="0" rIns="0" bIns="0" rtlCol="0" anchor="t"/>
          <a:lstStyle/>
          <a:p>
            <a:pPr indent="0" marL="0">
              <a:buNone/>
            </a:pPr>
            <a:r>
              <a:rPr lang="en-US" sz="1600" b="1" dirty="0">
                <a:solidFill>
                  <a:schemeClr val="tx2"/>
                </a:solidFill>
              </a:rPr>
              <a:t>Heterogeneity is a precondition</a:t>
            </a:r>
            <a:endParaRPr lang="en-US" sz="1600" dirty="0"/>
          </a:p>
        </p:txBody>
      </p:sp>
      <p:sp>
        <p:nvSpPr>
          <p:cNvPr id="14" name="Text 12"/>
          <p:cNvSpPr txBox="1"/>
          <p:nvPr/>
        </p:nvSpPr>
        <p:spPr>
          <a:xfrm>
            <a:off x="5166360" y="4288536"/>
            <a:ext cx="6355080" cy="777240"/>
          </a:xfrm>
          <a:prstGeom prst="rect">
            <a:avLst/>
          </a:prstGeom>
          <a:noFill/>
          <a:ln/>
        </p:spPr>
        <p:txBody>
          <a:bodyPr wrap="square" lIns="0" tIns="0" rIns="0" bIns="0" rtlCol="0" anchor="t"/>
          <a:lstStyle/>
          <a:p>
            <a:pPr indent="0" marL="0">
              <a:buNone/>
            </a:pPr>
            <a:r>
              <a:rPr lang="en-US" sz="1350" dirty="0">
                <a:solidFill>
                  <a:schemeClr val="accent5"/>
                </a:solidFill>
              </a:rPr>
              <a:t>Learned weighting pays only when the experts are produced by different processes.</a:t>
            </a:r>
            <a:endParaRPr lang="en-US" sz="1350" dirty="0"/>
          </a:p>
        </p:txBody>
      </p:sp>
      <p:sp>
        <p:nvSpPr>
          <p:cNvPr id="15" name="cc-4"/>
          <p:cNvSpPr/>
          <p:nvPr/>
        </p:nvSpPr>
        <p:spPr>
          <a:xfrm>
            <a:off x="640080" y="5321808"/>
            <a:ext cx="256032" cy="256032"/>
          </a:xfrm>
          <a:prstGeom prst="ellipse">
            <a:avLst/>
          </a:prstGeom>
          <a:solidFill>
            <a:schemeClr val="accent2"/>
          </a:solidFill>
          <a:ln/>
        </p:spPr>
      </p:sp>
      <p:sp>
        <p:nvSpPr>
          <p:cNvPr id="16" name="Text 14"/>
          <p:cNvSpPr txBox="1"/>
          <p:nvPr/>
        </p:nvSpPr>
        <p:spPr>
          <a:xfrm>
            <a:off x="1078992" y="5230368"/>
            <a:ext cx="3931920" cy="411480"/>
          </a:xfrm>
          <a:prstGeom prst="rect">
            <a:avLst/>
          </a:prstGeom>
          <a:noFill/>
          <a:ln/>
        </p:spPr>
        <p:txBody>
          <a:bodyPr wrap="square" lIns="0" tIns="0" rIns="0" bIns="0" rtlCol="0" anchor="t"/>
          <a:lstStyle/>
          <a:p>
            <a:pPr indent="0" marL="0">
              <a:buNone/>
            </a:pPr>
            <a:r>
              <a:rPr lang="en-US" sz="1600" b="1" dirty="0">
                <a:solidFill>
                  <a:schemeClr val="tx2"/>
                </a:solidFill>
              </a:rPr>
              <a:t>Better prediction is not profit</a:t>
            </a:r>
            <a:endParaRPr lang="en-US" sz="1600" dirty="0"/>
          </a:p>
        </p:txBody>
      </p:sp>
      <p:sp>
        <p:nvSpPr>
          <p:cNvPr id="17" name="Text 15"/>
          <p:cNvSpPr txBox="1"/>
          <p:nvPr/>
        </p:nvSpPr>
        <p:spPr>
          <a:xfrm>
            <a:off x="5166360" y="5230368"/>
            <a:ext cx="6355080" cy="777240"/>
          </a:xfrm>
          <a:prstGeom prst="rect">
            <a:avLst/>
          </a:prstGeom>
          <a:noFill/>
          <a:ln/>
        </p:spPr>
        <p:txBody>
          <a:bodyPr wrap="square" lIns="0" tIns="0" rIns="0" bIns="0" rtlCol="0" anchor="t"/>
          <a:lstStyle/>
          <a:p>
            <a:pPr indent="0" marL="0">
              <a:buNone/>
            </a:pPr>
            <a:r>
              <a:rPr lang="en-US" sz="1350" dirty="0">
                <a:solidFill>
                  <a:schemeClr val="accent5"/>
                </a:solidFill>
              </a:rPr>
              <a:t>The quality gained falls short of the margin, and the edge sits where access is controlled.</a:t>
            </a:r>
            <a:endParaRPr lang="en-US" sz="13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Future work</a:t>
            </a:r>
            <a:endParaRPr lang="en-US" sz="3000" dirty="0"/>
          </a:p>
        </p:txBody>
      </p:sp>
      <p:sp>
        <p:nvSpPr>
          <p:cNvPr id="3" name="circle-1"/>
          <p:cNvSpPr/>
          <p:nvPr/>
        </p:nvSpPr>
        <p:spPr>
          <a:xfrm>
            <a:off x="640080" y="1600200"/>
            <a:ext cx="566928" cy="566928"/>
          </a:xfrm>
          <a:prstGeom prst="ellipse">
            <a:avLst/>
          </a:prstGeom>
          <a:solidFill>
            <a:schemeClr val="accent1"/>
          </a:solidFill>
          <a:ln/>
        </p:spPr>
      </p:sp>
      <p:sp>
        <p:nvSpPr>
          <p:cNvPr id="4" name="Text 2"/>
          <p:cNvSpPr txBox="1"/>
          <p:nvPr/>
        </p:nvSpPr>
        <p:spPr>
          <a:xfrm>
            <a:off x="640080" y="1600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5" name="Text 3"/>
          <p:cNvSpPr txBox="1"/>
          <p:nvPr/>
        </p:nvSpPr>
        <p:spPr>
          <a:xfrm>
            <a:off x="1508760" y="1554480"/>
            <a:ext cx="10058400" cy="411480"/>
          </a:xfrm>
          <a:prstGeom prst="rect">
            <a:avLst/>
          </a:prstGeom>
          <a:noFill/>
          <a:ln/>
        </p:spPr>
        <p:txBody>
          <a:bodyPr wrap="square" lIns="0" tIns="0" rIns="0" bIns="0" rtlCol="0" anchor="ctr"/>
          <a:lstStyle/>
          <a:p>
            <a:pPr indent="0" marL="0">
              <a:buNone/>
            </a:pPr>
            <a:r>
              <a:rPr lang="en-US" sz="1800" b="1" dirty="0">
                <a:solidFill>
                  <a:schemeClr val="tx2"/>
                </a:solidFill>
              </a:rPr>
              <a:t>A live odds feed</a:t>
            </a:r>
            <a:endParaRPr lang="en-US" sz="1800" dirty="0"/>
          </a:p>
        </p:txBody>
      </p:sp>
      <p:sp>
        <p:nvSpPr>
          <p:cNvPr id="6" name="Text 4"/>
          <p:cNvSpPr txBox="1"/>
          <p:nvPr/>
        </p:nvSpPr>
        <p:spPr>
          <a:xfrm>
            <a:off x="1508760" y="1975104"/>
            <a:ext cx="10058400" cy="1051560"/>
          </a:xfrm>
          <a:prstGeom prst="rect">
            <a:avLst/>
          </a:prstGeom>
          <a:noFill/>
          <a:ln/>
        </p:spPr>
        <p:txBody>
          <a:bodyPr wrap="square" lIns="0" tIns="0" rIns="0" bIns="0" rtlCol="0" anchor="ctr"/>
          <a:lstStyle/>
          <a:p>
            <a:pPr indent="0" marL="0">
              <a:buNone/>
            </a:pPr>
            <a:r>
              <a:rPr lang="en-US" sz="1350" dirty="0">
                <a:solidFill>
                  <a:schemeClr val="accent5"/>
                </a:solidFill>
              </a:rPr>
              <a:t>Every result here says what the method WOULD have done. The three stages are online and causal, the state is one weight vector plus two scalars, so it runs in real time against a streaming API. That turns "a statistical edge exists" into "an exploitable edge exists", and records the price trajectory rather than two snapshots.</a:t>
            </a:r>
            <a:endParaRPr lang="en-US" sz="1350" dirty="0"/>
          </a:p>
        </p:txBody>
      </p:sp>
      <p:sp>
        <p:nvSpPr>
          <p:cNvPr id="7" name="circle-2"/>
          <p:cNvSpPr/>
          <p:nvPr/>
        </p:nvSpPr>
        <p:spPr>
          <a:xfrm>
            <a:off x="640080" y="3200400"/>
            <a:ext cx="566928" cy="566928"/>
          </a:xfrm>
          <a:prstGeom prst="ellipse">
            <a:avLst/>
          </a:prstGeom>
          <a:solidFill>
            <a:schemeClr val="accent1"/>
          </a:solidFill>
          <a:ln/>
        </p:spPr>
      </p:sp>
      <p:sp>
        <p:nvSpPr>
          <p:cNvPr id="8" name="Text 6"/>
          <p:cNvSpPr txBox="1"/>
          <p:nvPr/>
        </p:nvSpPr>
        <p:spPr>
          <a:xfrm>
            <a:off x="640080" y="32004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9" name="Text 7"/>
          <p:cNvSpPr txBox="1"/>
          <p:nvPr/>
        </p:nvSpPr>
        <p:spPr>
          <a:xfrm>
            <a:off x="1508760" y="3154680"/>
            <a:ext cx="10058400" cy="411480"/>
          </a:xfrm>
          <a:prstGeom prst="rect">
            <a:avLst/>
          </a:prstGeom>
          <a:noFill/>
          <a:ln/>
        </p:spPr>
        <p:txBody>
          <a:bodyPr wrap="square" lIns="0" tIns="0" rIns="0" bIns="0" rtlCol="0" anchor="ctr"/>
          <a:lstStyle/>
          <a:p>
            <a:pPr indent="0" marL="0">
              <a:buNone/>
            </a:pPr>
            <a:r>
              <a:rPr lang="en-US" sz="1800" b="1" dirty="0">
                <a:solidFill>
                  <a:schemeClr val="tx2"/>
                </a:solidFill>
              </a:rPr>
              <a:t>A second sport</a:t>
            </a:r>
            <a:endParaRPr lang="en-US" sz="1800" dirty="0"/>
          </a:p>
        </p:txBody>
      </p:sp>
      <p:sp>
        <p:nvSpPr>
          <p:cNvPr id="10" name="Text 8"/>
          <p:cNvSpPr txBox="1"/>
          <p:nvPr/>
        </p:nvSpPr>
        <p:spPr>
          <a:xfrm>
            <a:off x="1508760" y="3575304"/>
            <a:ext cx="10058400" cy="1051560"/>
          </a:xfrm>
          <a:prstGeom prst="rect">
            <a:avLst/>
          </a:prstGeom>
          <a:noFill/>
          <a:ln/>
        </p:spPr>
        <p:txBody>
          <a:bodyPr wrap="square" lIns="0" tIns="0" rIns="0" bIns="0" rtlCol="0" anchor="ctr"/>
          <a:lstStyle/>
          <a:p>
            <a:pPr indent="0" marL="0">
              <a:buNone/>
            </a:pPr>
            <a:r>
              <a:rPr lang="en-US" sz="1350" dirty="0">
                <a:solidFill>
                  <a:schemeClr val="accent5"/>
                </a:solidFill>
              </a:rPr>
              <a:t>Basketball or tennis would show whether the framework generalises. The cost is a data pipeline; the algorithms do not change. A two-outcome sport is of particular interest.</a:t>
            </a:r>
            <a:endParaRPr lang="en-US" sz="1350" dirty="0"/>
          </a:p>
        </p:txBody>
      </p:sp>
      <p:sp>
        <p:nvSpPr>
          <p:cNvPr id="11" name="circle-3"/>
          <p:cNvSpPr/>
          <p:nvPr/>
        </p:nvSpPr>
        <p:spPr>
          <a:xfrm>
            <a:off x="640080" y="4800600"/>
            <a:ext cx="566928" cy="566928"/>
          </a:xfrm>
          <a:prstGeom prst="ellipse">
            <a:avLst/>
          </a:prstGeom>
          <a:solidFill>
            <a:schemeClr val="accent1"/>
          </a:solidFill>
          <a:ln/>
        </p:spPr>
      </p:sp>
      <p:sp>
        <p:nvSpPr>
          <p:cNvPr id="12" name="Text 10"/>
          <p:cNvSpPr txBox="1"/>
          <p:nvPr/>
        </p:nvSpPr>
        <p:spPr>
          <a:xfrm>
            <a:off x="640080" y="48006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3" name="Text 11"/>
          <p:cNvSpPr txBox="1"/>
          <p:nvPr/>
        </p:nvSpPr>
        <p:spPr>
          <a:xfrm>
            <a:off x="1508760" y="4754880"/>
            <a:ext cx="10058400" cy="411480"/>
          </a:xfrm>
          <a:prstGeom prst="rect">
            <a:avLst/>
          </a:prstGeom>
          <a:noFill/>
          <a:ln/>
        </p:spPr>
        <p:txBody>
          <a:bodyPr wrap="square" lIns="0" tIns="0" rIns="0" bIns="0" rtlCol="0" anchor="ctr"/>
          <a:lstStyle/>
          <a:p>
            <a:pPr indent="0" marL="0">
              <a:buNone/>
            </a:pPr>
            <a:r>
              <a:rPr lang="en-US" sz="1800" b="1" dirty="0">
                <a:solidFill>
                  <a:schemeClr val="tx2"/>
                </a:solidFill>
              </a:rPr>
              <a:t>Bayesian Model Averaging as a baseline</a:t>
            </a:r>
            <a:endParaRPr lang="en-US" sz="1800" dirty="0"/>
          </a:p>
        </p:txBody>
      </p:sp>
      <p:sp>
        <p:nvSpPr>
          <p:cNvPr id="14" name="Text 12"/>
          <p:cNvSpPr txBox="1"/>
          <p:nvPr/>
        </p:nvSpPr>
        <p:spPr>
          <a:xfrm>
            <a:off x="1508760" y="5175504"/>
            <a:ext cx="10058400" cy="1051560"/>
          </a:xfrm>
          <a:prstGeom prst="rect">
            <a:avLst/>
          </a:prstGeom>
          <a:noFill/>
          <a:ln/>
        </p:spPr>
        <p:txBody>
          <a:bodyPr wrap="square" lIns="0" tIns="0" rIns="0" bIns="0" rtlCol="0" anchor="ctr"/>
          <a:lstStyle/>
          <a:p>
            <a:pPr indent="0" marL="0">
              <a:buNone/>
            </a:pPr>
            <a:r>
              <a:rPr lang="en-US" sz="1350" dirty="0">
                <a:solidFill>
                  <a:schemeClr val="accent5"/>
                </a:solidFill>
              </a:rPr>
              <a:t>An empirical point of comparison against the online algorithms, and more light on why the Aggregating Algorithm underperforms here.</a:t>
            </a:r>
            <a:endParaRPr lang="en-US" sz="13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914400" y="2103120"/>
            <a:ext cx="10332720" cy="1737360"/>
          </a:xfrm>
          <a:prstGeom prst="rect">
            <a:avLst/>
          </a:prstGeom>
          <a:noFill/>
          <a:ln/>
        </p:spPr>
        <p:txBody>
          <a:bodyPr wrap="square" rtlCol="0" anchor="b"/>
          <a:lstStyle/>
          <a:p>
            <a:pPr algn="ctr"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914400" y="3977640"/>
            <a:ext cx="10332720" cy="1463040"/>
          </a:xfrm>
          <a:prstGeom prst="rect">
            <a:avLst/>
          </a:prstGeom>
          <a:noFill/>
          <a:ln/>
        </p:spPr>
        <p:txBody>
          <a:bodyPr wrap="square" rtlCol="0" anchor="t"/>
          <a:lstStyle/>
          <a:p>
            <a:pPr algn="ctr" indent="0" marL="0">
              <a:buNone/>
            </a:pPr>
            <a:r>
              <a:rPr lang="en-US" sz="1700" dirty="0">
                <a:solidFill>
                  <a:srgbClr val="CBD5E1"/>
                </a:solidFill>
              </a:rPr>
              <a:t>Questions</a:t>
            </a:r>
            <a:endParaRPr lang="en-US" sz="1700" dirty="0"/>
          </a:p>
        </p:txBody>
      </p:sp>
    </p:spTree>
  </p:cSld>
  <p:clrMapOvr>
    <a:masterClrMapping/>
  </p:clrMapOvr>
</p:sld>
</file>

<file path=ppt/theme/theme1.xml><?xml version="1.0" encoding="utf-8"?>
<a:theme xmlns:a="http://schemas.openxmlformats.org/drawingml/2006/main" name="OCO Defence">
  <a:themeElements>
    <a:clrScheme name="OCO Defence">
      <a:dk1>
        <a:srgbClr val="111827"/>
      </a:dk1>
      <a:lt1>
        <a:srgbClr val="FFFFFF"/>
      </a:lt1>
      <a:dk2>
        <a:srgbClr val="16213E"/>
      </a:dk2>
      <a:lt2>
        <a:srgbClr val="F2F5F9"/>
      </a:lt2>
      <a:accent1>
        <a:srgbClr val="0F4C81"/>
      </a:accent1>
      <a:accent2>
        <a:srgbClr val="C1121F"/>
      </a:accent2>
      <a:accent3>
        <a:srgbClr val="2F7D5C"/>
      </a:accent3>
      <a:accent4>
        <a:srgbClr val="D98324"/>
      </a:accent4>
      <a:accent5>
        <a:srgbClr val="5C6B8A"/>
      </a:accent5>
      <a:accent6>
        <a:srgbClr val="94A3B8"/>
      </a:accent6>
      <a:hlink>
        <a:srgbClr val="0F4C81"/>
      </a:hlink>
      <a:folHlink>
        <a:srgbClr val="5C6B8A"/>
      </a:folHlink>
    </a:clrScheme>
    <a:fontScheme name="OCO Def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Convex Optimization based tuning of Mixture of Experts</dc:title>
  <dc:subject>PptxGenJS Presentation</dc:subject>
  <dc:creator>Stefanos Mousadis</dc:creator>
  <cp:lastModifiedBy>Stefanos Mousadis</cp:lastModifiedBy>
  <cp:revision>1</cp:revision>
  <dcterms:created xsi:type="dcterms:W3CDTF">2026-10-14T17:21:22Z</dcterms:created>
  <dcterms:modified xsi:type="dcterms:W3CDTF">2026-10-14T17:21:22Z</dcterms:modified>
</cp:coreProperties>
</file>