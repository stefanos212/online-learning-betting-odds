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60aa91-57d8-becc-fc0f-c1c8bcc7e906}">
          <p14:sldIdLst>
            <p14:sldId id="256"/>
            <p14:sldId id="257"/>
            <p14:sldId id="258"/>
            <p14:sldId id="259"/>
            <p14:sldId id="260"/>
          </p14:sldIdLst>
        </p14:section>
        <p14:section name="Framework" id="{75e5ebe0-4951-cd48-f36c-defe41167968}">
          <p14:sldIdLst>
            <p14:sldId id="261"/>
            <p14:sldId id="262"/>
            <p14:sldId id="263"/>
            <p14:sldId id="264"/>
            <p14:sldId id="265"/>
            <p14:sldId id="266"/>
          </p14:sldIdLst>
        </p14:section>
        <p14:section name="Stages" id="{cf8fed6f-0e10-3b35-5505-85ea9f379e1d}">
          <p14:sldIdLst>
            <p14:sldId id="267"/>
            <p14:sldId id="268"/>
            <p14:sldId id="269"/>
          </p14:sldIdLst>
        </p14:section>
        <p14:section name="Protocol" id="{ebb92ac2-df4e-1328-f41c-07c1d1378a7b}">
          <p14:sldIdLst>
            <p14:sldId id="270"/>
            <p14:sldId id="271"/>
          </p14:sldIdLst>
        </p14:section>
        <p14:section name="Results" id="{b65eb017-462a-ce97-e130-b202e0f28e11}">
          <p14:sldIdLst>
            <p14:sldId id="272"/>
            <p14:sldId id="273"/>
            <p14:sldId id="274"/>
            <p14:sldId id="275"/>
            <p14:sldId id="276"/>
            <p14:sldId id="277"/>
            <p14:sldId id="278"/>
            <p14:sldId id="279"/>
            <p14:sldId id="280"/>
            <p14:sldId id="281"/>
          </p14:sldIdLst>
        </p14:section>
        <p14:section name="Meaning" id="{7a59979d-5222-1205-b5b2-ce66753cb088}">
          <p14:sldIdLst>
            <p14:sldId id="282"/>
            <p14:sldId id="283"/>
            <p14:sldId id="284"/>
          </p14:sldIdLst>
        </p14:section>
        <p14:section name="Close" id="{e62948e7-5c6b-0d90-cda2-6e0d51c1e33c}">
          <p14:sldIdLst>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OGD</c:v>
                </c:pt>
              </c:strCache>
            </c:strRef>
          </c:tx>
          <c:spPr>
            <a:solidFill>
              <a:srgbClr val="0F4C81"/>
            </a:solidFill>
            <a:ln w="38100" cap="flat">
              <a:solidFill>
                <a:srgbClr val="0F4C8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0F4C81"/>
              </a:solidFill>
              <a:ln w="9525" cap="flat">
                <a:solidFill>
                  <a:srgbClr val="0F4C81"/>
                </a:solidFill>
                <a:prstDash val="solid"/>
                <a:round/>
              </a:ln>
              <a:effectLst/>
            </c:spPr>
          </c:marker>
          <c:cat>
            <c:multiLvlStrRef>
              <c:f>Sheet1!$A$2:$A$16</c:f>
              <c:multiLvlStrCache>
                <c:ptCount val="15"/>
                <c:lvl>
                  <c:pt idx="0">
                    <c:v>1</c:v>
                  </c:pt>
                  <c:pt idx="1">
                    <c:v>2</c:v>
                  </c:pt>
                  <c:pt idx="2">
                    <c:v>5</c:v>
                  </c:pt>
                  <c:pt idx="3">
                    <c:v>10</c:v>
                  </c:pt>
                  <c:pt idx="4">
                    <c:v>25</c:v>
                  </c:pt>
                  <c:pt idx="5">
                    <c:v>50</c:v>
                  </c:pt>
                  <c:pt idx="6">
                    <c:v>75</c:v>
                  </c:pt>
                  <c:pt idx="7">
                    <c:v>90</c:v>
                  </c:pt>
                  <c:pt idx="8">
                    <c:v>100</c:v>
                  </c:pt>
                  <c:pt idx="9">
                    <c:v>110</c:v>
                  </c:pt>
                  <c:pt idx="10">
                    <c:v>125</c:v>
                  </c:pt>
                  <c:pt idx="11">
                    <c:v>150</c:v>
                  </c:pt>
                  <c:pt idx="12">
                    <c:v>200</c:v>
                  </c:pt>
                  <c:pt idx="13">
                    <c:v>500</c:v>
                  </c:pt>
                  <c:pt idx="14">
                    <c:v>1000</c:v>
                  </c:pt>
                </c:lvl>
              </c:multiLvlStrCache>
            </c:multiLvlStrRef>
          </c:cat>
          <c:val>
            <c:numRef>
              <c:f>Sheet1!$B$2:$B$16</c:f>
              <c:numCache>
                <c:formatCode>General</c:formatCode>
                <c:ptCount val="15"/>
                <c:pt idx="0">
                  <c:v>0.99803</c:v>
                </c:pt>
                <c:pt idx="1">
                  <c:v>0.998</c:v>
                </c:pt>
                <c:pt idx="2">
                  <c:v>0.99794</c:v>
                </c:pt>
                <c:pt idx="3">
                  <c:v>0.99789</c:v>
                </c:pt>
                <c:pt idx="4">
                  <c:v>0.9978</c:v>
                </c:pt>
                <c:pt idx="5">
                  <c:v>0.9977</c:v>
                </c:pt>
                <c:pt idx="6">
                  <c:v>0.99766</c:v>
                </c:pt>
                <c:pt idx="7">
                  <c:v>0.99765</c:v>
                </c:pt>
                <c:pt idx="8">
                  <c:v>0.99765</c:v>
                </c:pt>
                <c:pt idx="9">
                  <c:v>0.99765</c:v>
                </c:pt>
                <c:pt idx="10">
                  <c:v>0.99766</c:v>
                </c:pt>
                <c:pt idx="11">
                  <c:v>0.99769</c:v>
                </c:pt>
                <c:pt idx="12">
                  <c:v>0.99778</c:v>
                </c:pt>
                <c:pt idx="13">
                  <c:v>0.99858</c:v>
                </c:pt>
                <c:pt idx="14">
                  <c:v>0.99895</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C6B8A"/>
                    </a:solidFill>
                    <a:latin typeface="+mn-lt"/>
                  </a:defRPr>
                </a:pPr>
                <a:r>
                  <a:rPr sz="1200" b="0" i="0" u="none" strike="noStrike">
                    <a:solidFill>
                      <a:srgbClr val="5C6B8A"/>
                    </a:solidFill>
                    <a:latin typeface="+mn-lt"/>
                  </a:rPr>
                  <a:t>step multiplier (1 = textbook schedule)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5"/>
          <c:min val="0.9975"/>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decaying</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Sheet1!$A$2:$A$4</c:f>
              <c:multiLvlStrCache>
                <c:ptCount val="3"/>
                <c:lvl>
                  <c:pt idx="0">
                    <c:v>Hedge</c:v>
                  </c:pt>
                  <c:pt idx="1">
                    <c:v>OGD</c:v>
                  </c:pt>
                  <c:pt idx="2">
                    <c:v>FTRL</c:v>
                  </c:pt>
                </c:lvl>
              </c:multiLvlStrCache>
            </c:multiLvlStrRef>
          </c:cat>
          <c:val>
            <c:numRef>
              <c:f>Sheet1!$B$2:$B$4</c:f>
              <c:numCache>
                <c:formatCode>General</c:formatCode>
                <c:ptCount val="3"/>
                <c:pt idx="0">
                  <c:v>0.99883</c:v>
                </c:pt>
                <c:pt idx="1">
                  <c:v>0.99765</c:v>
                </c:pt>
                <c:pt idx="2">
                  <c:v>0.99889</c:v>
                </c:pt>
              </c:numCache>
            </c:numRef>
          </c:val>
        </c:ser>
        <c:ser>
          <c:idx val="1"/>
          <c:order val="1"/>
          <c:tx>
            <c:strRef>
              <c:f>Sheet1!$C$1</c:f>
              <c:strCache>
                <c:ptCount val="1"/>
                <c:pt idx="0">
                  <c:v>constant</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Sheet1!$A$2:$A$4</c:f>
              <c:multiLvlStrCache>
                <c:ptCount val="3"/>
                <c:lvl>
                  <c:pt idx="0">
                    <c:v>Hedge</c:v>
                  </c:pt>
                  <c:pt idx="1">
                    <c:v>OGD</c:v>
                  </c:pt>
                  <c:pt idx="2">
                    <c:v>FTRL</c:v>
                  </c:pt>
                </c:lvl>
              </c:multiLvlStrCache>
            </c:multiLvlStrRef>
          </c:cat>
          <c:val>
            <c:numRef>
              <c:f>Sheet1!$C$2:$C$4</c:f>
              <c:numCache>
                <c:formatCode>General</c:formatCode>
                <c:ptCount val="3"/>
                <c:pt idx="0">
                  <c:v>0.99892</c:v>
                </c:pt>
                <c:pt idx="1">
                  <c:v>0.99795</c:v>
                </c:pt>
                <c:pt idx="2">
                  <c:v>0.99879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2"/>
          <c:min val="0.997"/>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calibrated log-loss</c:v>
                </c:pt>
              </c:strCache>
            </c:strRef>
          </c:tx>
          <c:spPr>
            <a:solidFill>
              <a:srgbClr val="C1121F"/>
            </a:solidFill>
            <a:effectLst/>
          </c:spPr>
          <c:invertIfNegative val="0"/>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1121F"/>
              </a:solidFill>
              <a:effectLst/>
            </c:spPr>
          </c:dPt>
          <c:dPt>
            <c:idx val="1"/>
            <c:invertIfNegative val="0"/>
            <c:bubble3D val="0"/>
            <c:spPr>
              <a:solidFill>
                <a:srgbClr val="0F4C81"/>
              </a:solidFill>
              <a:effectLst/>
            </c:spPr>
          </c:dPt>
          <c:dPt>
            <c:idx val="2"/>
            <c:invertIfNegative val="0"/>
            <c:bubble3D val="0"/>
            <c:spPr>
              <a:solidFill>
                <a:srgbClr val="0F4C81"/>
              </a:solidFill>
              <a:effectLst/>
            </c:spPr>
          </c:dPt>
          <c:dPt>
            <c:idx val="3"/>
            <c:invertIfNegative val="0"/>
            <c:bubble3D val="0"/>
            <c:spPr>
              <a:solidFill>
                <a:srgbClr val="0F4C81"/>
              </a:solidFill>
              <a:effectLst/>
            </c:spPr>
          </c:dPt>
          <c:dPt>
            <c:idx val="4"/>
            <c:invertIfNegative val="0"/>
            <c:bubble3D val="0"/>
            <c:spPr>
              <a:solidFill>
                <a:srgbClr val="0F4C81"/>
              </a:solidFill>
              <a:effectLst/>
            </c:spPr>
          </c:dPt>
          <c:dPt>
            <c:idx val="5"/>
            <c:invertIfNegative val="0"/>
            <c:bubble3D val="0"/>
            <c:spPr>
              <a:solidFill>
                <a:srgbClr val="C1121F"/>
              </a:solidFill>
              <a:effectLst/>
            </c:spPr>
          </c:dPt>
          <c:dPt>
            <c:idx val="6"/>
            <c:invertIfNegative val="0"/>
            <c:bubble3D val="0"/>
            <c:spPr>
              <a:solidFill>
                <a:srgbClr val="C1121F"/>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PSC</c:v>
                  </c:pt>
                  <c:pt idx="1">
                    <c:v>OGD</c:v>
                  </c:pt>
                  <c:pt idx="2">
                    <c:v>Hedge</c:v>
                  </c:pt>
                  <c:pt idx="3">
                    <c:v>FTRL</c:v>
                  </c:pt>
                  <c:pt idx="4">
                    <c:v>Uniform average</c:v>
                  </c:pt>
                  <c:pt idx="5">
                    <c:v>VC_BV</c:v>
                  </c:pt>
                  <c:pt idx="6">
                    <c:v>WH</c:v>
                  </c:pt>
                  <c:pt idx="7">
                    <c:v>PS</c:v>
                  </c:pt>
                  <c:pt idx="8">
                    <c:v>IW</c:v>
                  </c:pt>
                </c:lvl>
              </c:multiLvlStrCache>
            </c:multiLvlStrRef>
          </c:cat>
          <c:val>
            <c:numRef>
              <c:f>Sheet1!$B$2:$B$10</c:f>
              <c:numCache>
                <c:formatCode>General</c:formatCode>
                <c:ptCount val="9"/>
                <c:pt idx="0">
                  <c:v>0.99685</c:v>
                </c:pt>
                <c:pt idx="1">
                  <c:v>0.99693</c:v>
                </c:pt>
                <c:pt idx="2">
                  <c:v>0.99773</c:v>
                </c:pt>
                <c:pt idx="3">
                  <c:v>0.99774</c:v>
                </c:pt>
                <c:pt idx="4">
                  <c:v>0.99813</c:v>
                </c:pt>
                <c:pt idx="5">
                  <c:v>1.00026</c:v>
                </c:pt>
                <c:pt idx="6">
                  <c:v>1.00048</c:v>
                </c:pt>
                <c:pt idx="7">
                  <c:v>1.00055</c:v>
                </c:pt>
                <c:pt idx="8">
                  <c:v>1.00061</c:v>
                </c:pt>
              </c:numCache>
            </c:numRef>
          </c:val>
        </c:ser>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12"/>
          <c:min val="0.9965"/>
        </c:scaling>
        <c:delete val="0"/>
        <c:axPos val="b"/>
        <c:majorGridlines>
          <c:spPr>
            <a:ln w="1270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opening (13)</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Sheet1!$B$2:$B$5</c:f>
              <c:numCache>
                <c:formatCode>General</c:formatCode>
                <c:ptCount val="4"/>
                <c:pt idx="0">
                  <c:v>1.00076</c:v>
                </c:pt>
                <c:pt idx="1">
                  <c:v>1.00088</c:v>
                </c:pt>
                <c:pt idx="2">
                  <c:v>1.00088</c:v>
                </c:pt>
                <c:pt idx="3">
                  <c:v>1.0008</c:v>
                </c:pt>
              </c:numCache>
            </c:numRef>
          </c:val>
        </c:ser>
        <c:ser>
          <c:idx val="1"/>
          <c:order val="1"/>
          <c:tx>
            <c:strRef>
              <c:f>Sheet1!$C$1</c:f>
              <c:strCache>
                <c:ptCount val="1"/>
                <c:pt idx="0">
                  <c:v>all (26)</c:v>
                </c:pt>
              </c:strCache>
            </c:strRef>
          </c:tx>
          <c:spPr>
            <a:solidFill>
              <a:srgbClr val="5C6B8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Sheet1!$C$2:$C$5</c:f>
              <c:numCache>
                <c:formatCode>General</c:formatCode>
                <c:ptCount val="4"/>
                <c:pt idx="0">
                  <c:v>0.99745</c:v>
                </c:pt>
                <c:pt idx="1">
                  <c:v>0.99842</c:v>
                </c:pt>
                <c:pt idx="2">
                  <c:v>0.99843</c:v>
                </c:pt>
                <c:pt idx="3">
                  <c:v>0.99886</c:v>
                </c:pt>
              </c:numCache>
            </c:numRef>
          </c:val>
        </c:ser>
        <c:ser>
          <c:idx val="2"/>
          <c:order val="2"/>
          <c:tx>
            <c:strRef>
              <c:f>Sheet1!$D$1</c:f>
              <c:strCache>
                <c:ptCount val="1"/>
                <c:pt idx="0">
                  <c:v>closing (13)</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Sheet1!$D$2:$D$5</c:f>
              <c:numCache>
                <c:formatCode>General</c:formatCode>
                <c:ptCount val="4"/>
                <c:pt idx="0">
                  <c:v>0.99722</c:v>
                </c:pt>
                <c:pt idx="1">
                  <c:v>0.99762</c:v>
                </c:pt>
                <c:pt idx="2">
                  <c:v>0.99761</c:v>
                </c:pt>
                <c:pt idx="3">
                  <c:v>0.99748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2"/>
          <c:min val="0.99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closing advantage</c:v>
                </c:pt>
              </c:strCache>
            </c:strRef>
          </c:tx>
          <c:spPr>
            <a:solidFill>
              <a:srgbClr val="C7D2DE"/>
            </a:solidFill>
            <a:effectLst/>
          </c:spPr>
          <c:invertIfNegative val="0"/>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7D2DE"/>
              </a:solidFill>
              <a:effectLst/>
            </c:spPr>
          </c:dPt>
          <c:dPt>
            <c:idx val="1"/>
            <c:invertIfNegative val="0"/>
            <c:bubble3D val="0"/>
            <c:spPr>
              <a:solidFill>
                <a:srgbClr val="9FB3C8"/>
              </a:solidFill>
              <a:effectLst/>
            </c:spPr>
          </c:dPt>
          <c:dPt>
            <c:idx val="2"/>
            <c:invertIfNegative val="0"/>
            <c:bubble3D val="0"/>
            <c:spPr>
              <a:solidFill>
                <a:srgbClr val="6E8CA8"/>
              </a:solidFill>
              <a:effectLst/>
            </c:spPr>
          </c:dPt>
          <c:dPt>
            <c:idx val="3"/>
            <c:invertIfNegative val="0"/>
            <c:bubble3D val="0"/>
            <c:spPr>
              <a:solidFill>
                <a:srgbClr val="3D6B8E"/>
              </a:solidFill>
              <a:effectLst/>
            </c:spPr>
          </c:dPt>
          <c:dPt>
            <c:idx val="4"/>
            <c:invertIfNegative val="0"/>
            <c:bubble3D val="0"/>
            <c:spPr>
              <a:solidFill>
                <a:srgbClr val="0F4C81"/>
              </a:solidFill>
              <a:effectLst/>
            </c:spPr>
          </c:dPt>
          <c:cat>
            <c:multiLvlStrRef>
              <c:f>Sheet1!$A$2:$A$6</c:f>
              <c:multiLvlStrCache>
                <c:ptCount val="5"/>
                <c:lvl>
                  <c:pt idx="0">
                    <c:v>Q1
quiet</c:v>
                  </c:pt>
                  <c:pt idx="1">
                    <c:v>Q2</c:v>
                  </c:pt>
                  <c:pt idx="2">
                    <c:v>Q3</c:v>
                  </c:pt>
                  <c:pt idx="3">
                    <c:v>Q4</c:v>
                  </c:pt>
                  <c:pt idx="4">
                    <c:v>Q5
noisy</c:v>
                  </c:pt>
                </c:lvl>
              </c:multiLvlStrCache>
            </c:multiLvlStrRef>
          </c:cat>
          <c:val>
            <c:numRef>
              <c:f>Sheet1!$B$2:$B$6</c:f>
              <c:numCache>
                <c:formatCode>General</c:formatCode>
                <c:ptCount val="5"/>
                <c:pt idx="0">
                  <c:v>0.0004386258771955</c:v>
                </c:pt>
                <c:pt idx="1">
                  <c:v>0.0007151847052722</c:v>
                </c:pt>
                <c:pt idx="2">
                  <c:v>0.0019983758222999</c:v>
                </c:pt>
                <c:pt idx="3">
                  <c:v>0.0045231329698202</c:v>
                </c:pt>
                <c:pt idx="4">
                  <c:v>0.0115806553449734</c:v>
                </c:pt>
              </c:numCache>
            </c:numRef>
          </c:val>
        </c:ser>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log10 growth</c:v>
                </c:pt>
              </c:strCache>
            </c:strRef>
          </c:tx>
          <c:spPr>
            <a:solidFill>
              <a:srgbClr val="2F7D5C"/>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2F7D5C"/>
              </a:solidFill>
              <a:effectLst/>
            </c:spPr>
          </c:dPt>
          <c:dPt>
            <c:idx val="1"/>
            <c:invertIfNegative val="0"/>
            <c:bubble3D val="0"/>
            <c:spPr>
              <a:solidFill>
                <a:srgbClr val="2F7D5C"/>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94A3B8"/>
              </a:solidFill>
              <a:effectLst/>
            </c:spPr>
          </c:dPt>
          <c:dPt>
            <c:idx val="8"/>
            <c:invertIfNegative val="0"/>
            <c:bubble3D val="0"/>
            <c:spPr>
              <a:solidFill>
                <a:srgbClr val="C1121F"/>
              </a:solidFill>
              <a:effectLst/>
            </c:spPr>
          </c:dPt>
          <c:cat>
            <c:multiLvlStrRef>
              <c:f>Sheet1!$A$2:$A$10</c:f>
              <c:multiLvlStrCache>
                <c:ptCount val="9"/>
                <c:lvl>
                  <c:pt idx="0">
                    <c:v>WHC</c:v>
                  </c:pt>
                  <c:pt idx="1">
                    <c:v>IW</c:v>
                  </c:pt>
                  <c:pt idx="2">
                    <c:v>BWC</c:v>
                  </c:pt>
                  <c:pt idx="3">
                    <c:v>WH</c:v>
                  </c:pt>
                  <c:pt idx="4">
                    <c:v>BW</c:v>
                  </c:pt>
                  <c:pt idx="5">
                    <c:v>VC_BVC</c:v>
                  </c:pt>
                  <c:pt idx="6">
                    <c:v>B365C</c:v>
                  </c:pt>
                  <c:pt idx="7">
                    <c:v>PS</c:v>
                  </c:pt>
                  <c:pt idx="8">
                    <c:v>PSC</c:v>
                  </c:pt>
                </c:lvl>
              </c:multiLvlStrCache>
            </c:multiLvlStrRef>
          </c:cat>
          <c:val>
            <c:numRef>
              <c:f>Sheet1!$B$2:$B$10</c:f>
              <c:numCache>
                <c:formatCode>General</c:formatCode>
                <c:ptCount val="9"/>
                <c:pt idx="0">
                  <c:v>1.586</c:v>
                </c:pt>
                <c:pt idx="1">
                  <c:v>0.897</c:v>
                </c:pt>
                <c:pt idx="2">
                  <c:v>0.258</c:v>
                </c:pt>
                <c:pt idx="3">
                  <c:v>0.14</c:v>
                </c:pt>
                <c:pt idx="4">
                  <c:v>0.037</c:v>
                </c:pt>
                <c:pt idx="5">
                  <c:v>-0.125</c:v>
                </c:pt>
                <c:pt idx="6">
                  <c:v>-0.237</c:v>
                </c:pt>
                <c:pt idx="7">
                  <c:v>-0.585</c:v>
                </c:pt>
                <c:pt idx="8">
                  <c:v>-3.699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2"/>
          <c:min val="-4"/>
        </c:scaling>
        <c:delete val="0"/>
        <c:axPos val="l"/>
        <c:majorGridlines>
          <c:spPr>
            <a:ln w="12700" cap="flat">
              <a:solidFill>
                <a:srgbClr val="E2E8F0"/>
              </a:solidFill>
              <a:prstDash val="solid"/>
              <a:round/>
            </a:ln>
          </c:spPr>
        </c:majorGridlines>
        <c:title>
          <c:tx>
            <c:rich>
              <a:bodyPr/>
              <a:lstStyle/>
              <a:p>
                <a:pPr>
                  <a:defRPr sz="1200" b="0" i="0" u="none" strike="noStrike">
                    <a:solidFill>
                      <a:srgbClr val="5C6B8A"/>
                    </a:solidFill>
                    <a:latin typeface="+mn-lt"/>
                  </a:defRPr>
                </a:pPr>
                <a:r>
                  <a:rPr sz="1200" b="0" i="0" u="none" strike="noStrike">
                    <a:solidFill>
                      <a:srgbClr val="5C6B8A"/>
                    </a:solidFill>
                    <a:latin typeface="+mn-lt"/>
                  </a:rPr>
                  <a:t>log10 (final bankroll / stake)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name the problem in one sentence before the first slide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thesis in one question. Stress what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 0.001 improvement in log-loss against this baseline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recur all the way through: they explain Sleeping Experts, de-vigging and the Kelly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fourth one now; it is the part examiners usually find most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the static-comparator idea here. It pays off in the negative results and in the closing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blue cells are quotes. Point at a gap: that expert's weight does not move while it sleeps.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derive the bounds. The committee knows them; the point is the structural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for later: z being a social quantity is the hinge of the closing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methodological spine: theory is kept where it predicts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uniformity: this is what makes the thesis one piece of work rather than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single lesson of the thesis: a regret bound is only as useful as its comparator.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exists because breaking it produced a wrong conclusion at some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lesson worth saying aloud: the first sweep stopped at ×1 and called it optimal. ×1 was the grid's edge, not a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on this chart. Hedge and OGD lose significantly; FTRL wins significantly.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Note the caveat: at a 70% coverage floor only one closing bookmaker survives, so this is mostly a comparison against opening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view the most generally useful finding: it tells anyone applying this elsewhere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for the obvious objection: match difficulty is NOT monotone across the quintiles, so this is not 'harder matches, bigger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Betfair line is the one an examiner will press on, so state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Bankrolls across rows are not comparable: the bet counts differ by an order of magnitude.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high point. Any comparison against a uniform baseline should now carry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negative results are a real part of the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measured and evidential. Every line is one of our own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limit of the evidence explicitly; it is the honest version and it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roughly fifteen seconds each. Do not add anything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feed is the one that answers the thesis's own main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lstStyle>
            <a:lvl1pPr algn="ctr" indent="0" marL="0">
              <a:buNone/>
              <a:defRPr lang="en-US" sz="1700" dirty="0">
                <a:solidFill>
                  <a:srgbClr val="CBD5E1"/>
                </a:solidFill>
              </a:defRPr>
            </a:lvl1pPr>
          </a:lstStyle>
          <a:p>
            <a:pPr algn="ct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lstStyle>
            <a:lvl1pPr algn="l" indent="0" marL="0">
              <a:buNone/>
              <a:defRPr lang="en-US" sz="6800" b="1" dirty="0">
                <a:solidFill>
                  <a:srgbClr val="6FA3D6"/>
                </a:solidFill>
              </a:defRPr>
            </a:lvl1pPr>
          </a:lstStyle>
          <a:p>
            <a:pPr algn="l" indent="0" marL="0">
              <a:buNone/>
            </a:pP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lstStyle>
            <a:lvl1pPr algn="l" indent="0" marL="0">
              <a:buNone/>
              <a:defRPr lang="en-US" sz="1600" dirty="0">
                <a:solidFill>
                  <a:srgbClr val="CBD5E1"/>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ph idx="101" type="body" hasCustomPrompt="1"/>
          </p:nvPr>
        </p:nvSpPr>
        <p:spPr>
          <a:xfrm>
            <a:off x="640080" y="1371600"/>
            <a:ext cx="10881360" cy="4754880"/>
          </a:xfrm>
          <a:prstGeom prst="rect">
            <a:avLst/>
          </a:prstGeom>
          <a:noFill/>
          <a:ln/>
        </p:spPr>
        <p:txBody>
          <a:bodyPr wrap="square" rtlCol="0"/>
          <a:lstStyle>
            <a:lvl1pPr algn="l" indent="0" marL="0">
              <a:buNone/>
              <a:defRPr lang="en-US" sz="1600" dirty="0">
                <a:solidFill>
                  <a:schemeClr val="tx1"/>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ANVA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lstStyle>
            <a:lvl1pPr algn="l" indent="0" marL="0">
              <a:buNone/>
              <a:defRPr lang="en-US" sz="1700" dirty="0">
                <a:solidFill>
                  <a:srgbClr val="CBD5E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Online Convex Optimization based tuning</a:t>
            </a:r>
            <a:endParaRPr lang="en-US" sz="4000" dirty="0"/>
          </a:p>
          <a:p>
            <a:pPr algn="ctr" indent="0" marL="0">
              <a:buNone/>
            </a:pPr>
            <a:r>
              <a:rPr lang="en-US" sz="4000" b="1" dirty="0">
                <a:solidFill>
                  <a:schemeClr val="bg1"/>
                </a:solidFill>
              </a:rPr>
              <a:t>of Mixture of Experts</a:t>
            </a:r>
            <a:endParaRPr lang="en-US" sz="4000" dirty="0"/>
          </a:p>
          <a:p>
            <a:pPr algn="ctr" indent="0" marL="0">
              <a:buNone/>
            </a:pPr>
            <a:r>
              <a:rPr lang="en-US" sz="4000" b="1" dirty="0">
                <a:solidFill>
                  <a:schemeClr val="bg1"/>
                </a:solidFill>
              </a:rPr>
              <a:t>for Sports Outcome Prediction</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900" b="1" dirty="0">
                <a:solidFill>
                  <a:srgbClr val="FFFFFF"/>
                </a:solidFill>
              </a:rPr>
              <a:t>Stefanos Mousadis</a:t>
            </a:r>
            <a:endParaRPr lang="en-US" sz="1700" dirty="0"/>
          </a:p>
          <a:p>
            <a:pPr algn="ctr" indent="0" marL="0">
              <a:buNone/>
            </a:pPr>
            <a:r>
              <a:rPr lang="en-US" sz="1700" dirty="0">
                <a:solidFill>
                  <a:srgbClr val="CBD5E1"/>
                </a:solidFill>
              </a:rPr>
              <a:t>Supervisor: Prof. Thrasyvoulos Spyropoulos</a:t>
            </a:r>
            <a:endParaRPr lang="en-US" sz="1700" dirty="0"/>
          </a:p>
          <a:p>
            <a:pPr algn="ctr" indent="0" marL="0">
              <a:buNone/>
            </a:pPr>
            <a:r>
              <a:rPr lang="en-US" sz="1700" dirty="0">
                <a:solidFill>
                  <a:srgbClr val="CBD5E1"/>
                </a:solidFill>
              </a:rPr>
              <a:t>School of Electrical and Computer Engineering · Technical University of Crete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Can a mixture of bookmakers beat</a:t>
            </a:r>
            <a:endParaRPr lang="en-US" sz="3400" dirty="0"/>
          </a:p>
          <a:p>
            <a:pPr algn="l" indent="0" marL="0">
              <a:buNone/>
            </a:pPr>
            <a:r>
              <a:rPr lang="en-US" sz="3400" b="1" dirty="0">
                <a:solidFill>
                  <a:schemeClr val="bg1"/>
                </a:solidFill>
              </a:rPr>
              <a:t>the bookmakers themselves?</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No model of football. No team form, no injuries, no home advantage. Only the prices the market publishes, combined online, match by match.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baseline is unusually strong</a:t>
            </a:r>
            <a:endParaRPr lang="en-US" sz="3000" dirty="0"/>
          </a:p>
        </p:txBody>
      </p:sp>
      <p:sp>
        <p:nvSpPr>
          <p:cNvPr id="3" name="Text 1"/>
          <p:cNvSpPr txBox="1"/>
          <p:nvPr/>
        </p:nvSpPr>
        <p:spPr>
          <a:xfrm>
            <a:off x="6400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26</a:t>
            </a:r>
            <a:endParaRPr lang="en-US" sz="4800" dirty="0"/>
          </a:p>
        </p:txBody>
      </p:sp>
      <p:sp>
        <p:nvSpPr>
          <p:cNvPr id="4" name="Text 2"/>
          <p:cNvSpPr txBox="1"/>
          <p:nvPr/>
        </p:nvSpPr>
        <p:spPr>
          <a:xfrm>
            <a:off x="6400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bookmakers, each already a</a:t>
            </a:r>
            <a:endParaRPr lang="en-US" sz="1300" dirty="0"/>
          </a:p>
          <a:p>
            <a:pPr algn="l" indent="0" marL="0">
              <a:buNone/>
            </a:pPr>
            <a:r>
              <a:rPr lang="en-US" sz="1300" dirty="0">
                <a:solidFill>
                  <a:schemeClr val="accent5"/>
                </a:solidFill>
              </a:rPr>
              <a:t>professional forecaster</a:t>
            </a:r>
            <a:endParaRPr lang="en-US" sz="1300" dirty="0"/>
          </a:p>
        </p:txBody>
      </p:sp>
      <p:sp>
        <p:nvSpPr>
          <p:cNvPr id="5" name="Text 3"/>
          <p:cNvSpPr txBox="1"/>
          <p:nvPr/>
        </p:nvSpPr>
        <p:spPr>
          <a:xfrm>
            <a:off x="42976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76,584</a:t>
            </a:r>
            <a:endParaRPr lang="en-US" sz="4800" dirty="0"/>
          </a:p>
        </p:txBody>
      </p:sp>
      <p:sp>
        <p:nvSpPr>
          <p:cNvPr id="6" name="Text 4"/>
          <p:cNvSpPr txBox="1"/>
          <p:nvPr/>
        </p:nvSpPr>
        <p:spPr>
          <a:xfrm>
            <a:off x="42976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matches, 22 leagues,</a:t>
            </a:r>
            <a:endParaRPr lang="en-US" sz="1300" dirty="0"/>
          </a:p>
          <a:p>
            <a:pPr algn="l" indent="0" marL="0">
              <a:buNone/>
            </a:pPr>
            <a:r>
              <a:rPr lang="en-US" sz="1300" dirty="0">
                <a:solidFill>
                  <a:schemeClr val="accent5"/>
                </a:solidFill>
              </a:rPr>
              <a:t>10 seasons</a:t>
            </a:r>
            <a:endParaRPr lang="en-US" sz="1300" dirty="0"/>
          </a:p>
        </p:txBody>
      </p:sp>
      <p:sp>
        <p:nvSpPr>
          <p:cNvPr id="7" name="Text 5"/>
          <p:cNvSpPr txBox="1"/>
          <p:nvPr/>
        </p:nvSpPr>
        <p:spPr>
          <a:xfrm>
            <a:off x="8046720" y="1554480"/>
            <a:ext cx="3474720" cy="914400"/>
          </a:xfrm>
          <a:prstGeom prst="rect">
            <a:avLst/>
          </a:prstGeom>
          <a:noFill/>
          <a:ln/>
        </p:spPr>
        <p:txBody>
          <a:bodyPr wrap="square" lIns="0" tIns="0" rIns="0" bIns="0" rtlCol="0" anchor="b"/>
          <a:lstStyle/>
          <a:p>
            <a:pPr algn="l" indent="0" marL="0">
              <a:buNone/>
            </a:pPr>
            <a:r>
              <a:rPr lang="en-US" sz="4800" b="1" dirty="0">
                <a:solidFill>
                  <a:schemeClr val="accent2"/>
                </a:solidFill>
              </a:rPr>
              <a:t>4.4 → 6.0%</a:t>
            </a:r>
            <a:endParaRPr lang="en-US" sz="4800" dirty="0"/>
          </a:p>
        </p:txBody>
      </p:sp>
      <p:sp>
        <p:nvSpPr>
          <p:cNvPr id="8" name="Text 6"/>
          <p:cNvSpPr txBox="1"/>
          <p:nvPr/>
        </p:nvSpPr>
        <p:spPr>
          <a:xfrm>
            <a:off x="8046720" y="2468880"/>
            <a:ext cx="3474720" cy="822960"/>
          </a:xfrm>
          <a:prstGeom prst="rect">
            <a:avLst/>
          </a:prstGeom>
          <a:noFill/>
          <a:ln/>
        </p:spPr>
        <p:txBody>
          <a:bodyPr wrap="square" lIns="0" tIns="0" rIns="0" bIns="0" rtlCol="0" anchor="t"/>
          <a:lstStyle/>
          <a:p>
            <a:pPr algn="l" indent="0" marL="0">
              <a:buNone/>
            </a:pPr>
            <a:r>
              <a:rPr lang="en-US" sz="1300" dirty="0">
                <a:solidFill>
                  <a:schemeClr val="accent5"/>
                </a:solidFill>
              </a:rPr>
              <a:t>the margin they charge,</a:t>
            </a:r>
            <a:endParaRPr lang="en-US" sz="1300" dirty="0"/>
          </a:p>
          <a:p>
            <a:pPr algn="l" indent="0" marL="0">
              <a:buNone/>
            </a:pPr>
            <a:r>
              <a:rPr lang="en-US" sz="1300" dirty="0">
                <a:solidFill>
                  <a:schemeClr val="accent5"/>
                </a:solidFill>
              </a:rPr>
              <a:t>and it rose over the decade</a:t>
            </a:r>
            <a:endParaRPr lang="en-US" sz="1300" dirty="0"/>
          </a:p>
        </p:txBody>
      </p:sp>
      <p:sp>
        <p:nvSpPr>
          <p:cNvPr id="9" name="note"/>
          <p:cNvSpPr/>
          <p:nvPr/>
        </p:nvSpPr>
        <p:spPr>
          <a:xfrm>
            <a:off x="640080" y="3931920"/>
            <a:ext cx="10881360" cy="1737360"/>
          </a:xfrm>
          <a:prstGeom prst="roundRect">
            <a:avLst>
              <a:gd name="adj" fmla="val 4211"/>
            </a:avLst>
          </a:prstGeom>
          <a:solidFill>
            <a:srgbClr val="F2F5F9"/>
          </a:solidFill>
          <a:ln w="12700">
            <a:solidFill>
              <a:srgbClr val="E2E8F0"/>
            </a:solidFill>
            <a:prstDash val="solid"/>
          </a:ln>
        </p:spPr>
      </p:sp>
      <p:sp>
        <p:nvSpPr>
          <p:cNvPr id="10" name="Text 8"/>
          <p:cNvSpPr txBox="1"/>
          <p:nvPr/>
        </p:nvSpPr>
        <p:spPr>
          <a:xfrm>
            <a:off x="960120" y="4160520"/>
            <a:ext cx="10241280" cy="1280160"/>
          </a:xfrm>
          <a:prstGeom prst="rect">
            <a:avLst/>
          </a:prstGeom>
          <a:noFill/>
          <a:ln/>
        </p:spPr>
        <p:txBody>
          <a:bodyPr wrap="square" rtlCol="0" anchor="ctr"/>
          <a:lstStyle/>
          <a:p>
            <a:pPr indent="0" marL="0">
              <a:buNone/>
            </a:pPr>
            <a:r>
              <a:rPr lang="en-US" sz="1500" b="1" dirty="0">
                <a:solidFill>
                  <a:schemeClr val="tx1"/>
                </a:solidFill>
              </a:rPr>
              <a:t>Beating a bookmaker is not beating a naive baseline. </a:t>
            </a:r>
            <a:pPr indent="0" marL="0">
              <a:buNone/>
            </a:pPr>
            <a:r>
              <a:rPr lang="en-US" sz="1500" dirty="0">
                <a:solidFill>
                  <a:schemeClr val="tx1"/>
                </a:solidFill>
              </a:rPr>
              <a:t>Each expert is a firm with analysts, a risk desk and a live order flow correcting its prices. The published odds already aggregate everything the market knows.</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obstacles that shape every design choice</a:t>
            </a:r>
            <a:endParaRPr lang="en-US" sz="3000" dirty="0"/>
          </a:p>
        </p:txBody>
      </p:sp>
      <p:sp>
        <p:nvSpPr>
          <p:cNvPr id="3" name="circle-1"/>
          <p:cNvSpPr/>
          <p:nvPr/>
        </p:nvSpPr>
        <p:spPr>
          <a:xfrm>
            <a:off x="640080" y="1600200"/>
            <a:ext cx="566928" cy="566928"/>
          </a:xfrm>
          <a:prstGeom prst="ellipse">
            <a:avLst/>
          </a:prstGeom>
          <a:solidFill>
            <a:schemeClr val="accent1"/>
          </a:solidFill>
          <a:ln/>
        </p:spPr>
      </p:sp>
      <p:sp>
        <p:nvSpPr>
          <p:cNvPr id="4" name="Text 2"/>
          <p:cNvSpPr txBox="1"/>
          <p:nvPr/>
        </p:nvSpPr>
        <p:spPr>
          <a:xfrm>
            <a:off x="640080" y="1600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08760"/>
            <a:ext cx="10058400" cy="411480"/>
          </a:xfrm>
          <a:prstGeom prst="rect">
            <a:avLst/>
          </a:prstGeom>
          <a:noFill/>
          <a:ln/>
        </p:spPr>
        <p:txBody>
          <a:bodyPr wrap="square" lIns="0" tIns="0" rIns="0" bIns="0" rtlCol="0" anchor="ctr"/>
          <a:lstStyle/>
          <a:p>
            <a:pPr indent="0" marL="0">
              <a:buNone/>
            </a:pPr>
            <a:r>
              <a:rPr lang="en-US" sz="1900" b="1" dirty="0">
                <a:solidFill>
                  <a:schemeClr val="tx2"/>
                </a:solidFill>
              </a:rPr>
              <a:t>Partial coverage</a:t>
            </a:r>
            <a:endParaRPr lang="en-US" sz="1900" dirty="0"/>
          </a:p>
        </p:txBody>
      </p:sp>
      <p:sp>
        <p:nvSpPr>
          <p:cNvPr id="6" name="Text 4"/>
          <p:cNvSpPr txBox="1"/>
          <p:nvPr/>
        </p:nvSpPr>
        <p:spPr>
          <a:xfrm>
            <a:off x="1508760" y="1947672"/>
            <a:ext cx="10058400" cy="868680"/>
          </a:xfrm>
          <a:prstGeom prst="rect">
            <a:avLst/>
          </a:prstGeom>
          <a:noFill/>
          <a:ln/>
        </p:spPr>
        <p:txBody>
          <a:bodyPr wrap="square" lIns="0" tIns="0" rIns="0" bIns="0" rtlCol="0" anchor="ctr"/>
          <a:lstStyle/>
          <a:p>
            <a:pPr indent="0" marL="0">
              <a:buNone/>
            </a:pPr>
            <a:r>
              <a:rPr lang="en-US" sz="1500" dirty="0">
                <a:solidFill>
                  <a:schemeClr val="accent5"/>
                </a:solidFill>
              </a:rPr>
              <a:t>No bookmaker quotes every match. Coverage runs from 6.9% to 99.8%, so the standard expert-advice algorithms do not apply as written.</a:t>
            </a:r>
            <a:endParaRPr lang="en-US" sz="1500" dirty="0"/>
          </a:p>
        </p:txBody>
      </p:sp>
      <p:sp>
        <p:nvSpPr>
          <p:cNvPr id="7" name="circle-2"/>
          <p:cNvSpPr/>
          <p:nvPr/>
        </p:nvSpPr>
        <p:spPr>
          <a:xfrm>
            <a:off x="640080" y="3108960"/>
            <a:ext cx="566928" cy="566928"/>
          </a:xfrm>
          <a:prstGeom prst="ellipse">
            <a:avLst/>
          </a:prstGeom>
          <a:solidFill>
            <a:schemeClr val="accent1"/>
          </a:solidFill>
          <a:ln/>
        </p:spPr>
      </p:sp>
      <p:sp>
        <p:nvSpPr>
          <p:cNvPr id="8" name="Text 6"/>
          <p:cNvSpPr txBox="1"/>
          <p:nvPr/>
        </p:nvSpPr>
        <p:spPr>
          <a:xfrm>
            <a:off x="64008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017520"/>
            <a:ext cx="10058400" cy="411480"/>
          </a:xfrm>
          <a:prstGeom prst="rect">
            <a:avLst/>
          </a:prstGeom>
          <a:noFill/>
          <a:ln/>
        </p:spPr>
        <p:txBody>
          <a:bodyPr wrap="square" lIns="0" tIns="0" rIns="0" bIns="0" rtlCol="0" anchor="ctr"/>
          <a:lstStyle/>
          <a:p>
            <a:pPr indent="0" marL="0">
              <a:buNone/>
            </a:pPr>
            <a:r>
              <a:rPr lang="en-US" sz="1900" b="1" dirty="0">
                <a:solidFill>
                  <a:schemeClr val="tx2"/>
                </a:solidFill>
              </a:rPr>
              <a:t>Odds are not probabilities</a:t>
            </a:r>
            <a:endParaRPr lang="en-US" sz="1900" dirty="0"/>
          </a:p>
        </p:txBody>
      </p:sp>
      <p:sp>
        <p:nvSpPr>
          <p:cNvPr id="10" name="Text 8"/>
          <p:cNvSpPr txBox="1"/>
          <p:nvPr/>
        </p:nvSpPr>
        <p:spPr>
          <a:xfrm>
            <a:off x="1508760" y="3456432"/>
            <a:ext cx="10058400" cy="868680"/>
          </a:xfrm>
          <a:prstGeom prst="rect">
            <a:avLst/>
          </a:prstGeom>
          <a:noFill/>
          <a:ln/>
        </p:spPr>
        <p:txBody>
          <a:bodyPr wrap="square" lIns="0" tIns="0" rIns="0" bIns="0" rtlCol="0" anchor="ctr"/>
          <a:lstStyle/>
          <a:p>
            <a:pPr indent="0" marL="0">
              <a:buNone/>
            </a:pPr>
            <a:r>
              <a:rPr lang="en-US" sz="1500" dirty="0">
                <a:solidFill>
                  <a:schemeClr val="accent5"/>
                </a:solidFill>
              </a:rPr>
              <a:t>They carry a margin, so they sum to more than one. Removing it is a modelling decision, not arithmetic.</a:t>
            </a:r>
            <a:endParaRPr lang="en-US" sz="1500" dirty="0"/>
          </a:p>
        </p:txBody>
      </p:sp>
      <p:sp>
        <p:nvSpPr>
          <p:cNvPr id="11" name="circle-3"/>
          <p:cNvSpPr/>
          <p:nvPr/>
        </p:nvSpPr>
        <p:spPr>
          <a:xfrm>
            <a:off x="640080" y="4617720"/>
            <a:ext cx="566928" cy="566928"/>
          </a:xfrm>
          <a:prstGeom prst="ellipse">
            <a:avLst/>
          </a:prstGeom>
          <a:solidFill>
            <a:schemeClr val="accent1"/>
          </a:solidFill>
          <a:ln/>
        </p:spPr>
      </p:sp>
      <p:sp>
        <p:nvSpPr>
          <p:cNvPr id="12" name="Text 10"/>
          <p:cNvSpPr txBox="1"/>
          <p:nvPr/>
        </p:nvSpPr>
        <p:spPr>
          <a:xfrm>
            <a:off x="640080" y="4617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526280"/>
            <a:ext cx="10058400" cy="411480"/>
          </a:xfrm>
          <a:prstGeom prst="rect">
            <a:avLst/>
          </a:prstGeom>
          <a:noFill/>
          <a:ln/>
        </p:spPr>
        <p:txBody>
          <a:bodyPr wrap="square" lIns="0" tIns="0" rIns="0" bIns="0" rtlCol="0" anchor="ctr"/>
          <a:lstStyle/>
          <a:p>
            <a:pPr indent="0" marL="0">
              <a:buNone/>
            </a:pPr>
            <a:r>
              <a:rPr lang="en-US" sz="1900" b="1" dirty="0">
                <a:solidFill>
                  <a:schemeClr val="tx2"/>
                </a:solidFill>
              </a:rPr>
              <a:t>The best log-loss is not the objective</a:t>
            </a:r>
            <a:endParaRPr lang="en-US" sz="1900" dirty="0"/>
          </a:p>
        </p:txBody>
      </p:sp>
      <p:sp>
        <p:nvSpPr>
          <p:cNvPr id="14" name="Text 12"/>
          <p:cNvSpPr txBox="1"/>
          <p:nvPr/>
        </p:nvSpPr>
        <p:spPr>
          <a:xfrm>
            <a:off x="1508760" y="4965192"/>
            <a:ext cx="10058400" cy="868680"/>
          </a:xfrm>
          <a:prstGeom prst="rect">
            <a:avLst/>
          </a:prstGeom>
          <a:noFill/>
          <a:ln/>
        </p:spPr>
        <p:txBody>
          <a:bodyPr wrap="square" lIns="0" tIns="0" rIns="0" bIns="0" rtlCol="0" anchor="ctr"/>
          <a:lstStyle/>
          <a:p>
            <a:pPr indent="0" marL="0">
              <a:buNone/>
            </a:pPr>
            <a:r>
              <a:rPr lang="en-US" sz="1500" dirty="0">
                <a:solidFill>
                  <a:schemeClr val="accent5"/>
                </a:solidFill>
              </a:rPr>
              <a:t>A better forecast only pays if the gain exceeds the margin. Accuracy and profit are different questions.</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What this thesis contributes</a:t>
            </a:r>
            <a:endParaRPr lang="en-US" sz="3000" dirty="0"/>
          </a:p>
        </p:txBody>
      </p:sp>
      <p:sp>
        <p:nvSpPr>
          <p:cNvPr id="3" name="contrib-0"/>
          <p:cNvSpPr/>
          <p:nvPr/>
        </p:nvSpPr>
        <p:spPr>
          <a:xfrm>
            <a:off x="640080" y="1554480"/>
            <a:ext cx="5212080" cy="1828800"/>
          </a:xfrm>
          <a:prstGeom prst="roundRect">
            <a:avLst>
              <a:gd name="adj" fmla="val 4000"/>
            </a:avLst>
          </a:prstGeom>
          <a:solidFill>
            <a:srgbClr val="F2F5F9"/>
          </a:solidFill>
          <a:ln w="12700">
            <a:solidFill>
              <a:srgbClr val="E2E8F0"/>
            </a:solidFill>
            <a:prstDash val="solid"/>
          </a:ln>
        </p:spPr>
      </p:sp>
      <p:sp>
        <p:nvSpPr>
          <p:cNvPr id="4" name="dot-0"/>
          <p:cNvSpPr/>
          <p:nvPr/>
        </p:nvSpPr>
        <p:spPr>
          <a:xfrm>
            <a:off x="960120" y="1874520"/>
            <a:ext cx="457200" cy="457200"/>
          </a:xfrm>
          <a:prstGeom prst="ellipse">
            <a:avLst/>
          </a:prstGeom>
          <a:solidFill>
            <a:schemeClr val="accent1"/>
          </a:solidFill>
          <a:ln/>
        </p:spPr>
      </p:sp>
      <p:sp>
        <p:nvSpPr>
          <p:cNvPr id="5" name="Text 3"/>
          <p:cNvSpPr txBox="1"/>
          <p:nvPr/>
        </p:nvSpPr>
        <p:spPr>
          <a:xfrm>
            <a:off x="1600200" y="1828800"/>
            <a:ext cx="3931920" cy="548640"/>
          </a:xfrm>
          <a:prstGeom prst="rect">
            <a:avLst/>
          </a:prstGeom>
          <a:noFill/>
          <a:ln/>
        </p:spPr>
        <p:txBody>
          <a:bodyPr wrap="square" lIns="0" tIns="0" rIns="0" bIns="0" rtlCol="0" anchor="ctr"/>
          <a:lstStyle/>
          <a:p>
            <a:pPr indent="0" marL="0">
              <a:buNone/>
            </a:pPr>
            <a:r>
              <a:rPr lang="en-US" sz="1700" b="1" dirty="0">
                <a:solidFill>
                  <a:schemeClr val="tx2"/>
                </a:solidFill>
              </a:rPr>
              <a:t>Three OCO stages, end to end</a:t>
            </a:r>
            <a:endParaRPr lang="en-US" sz="1700" dirty="0"/>
          </a:p>
        </p:txBody>
      </p:sp>
      <p:sp>
        <p:nvSpPr>
          <p:cNvPr id="6" name="Text 4"/>
          <p:cNvSpPr txBox="1"/>
          <p:nvPr/>
        </p:nvSpPr>
        <p:spPr>
          <a:xfrm>
            <a:off x="960120" y="2468880"/>
            <a:ext cx="4572000" cy="777240"/>
          </a:xfrm>
          <a:prstGeom prst="rect">
            <a:avLst/>
          </a:prstGeom>
          <a:noFill/>
          <a:ln/>
        </p:spPr>
        <p:txBody>
          <a:bodyPr wrap="square" lIns="0" tIns="0" rIns="0" bIns="0" rtlCol="0" anchor="ctr"/>
          <a:lstStyle/>
          <a:p>
            <a:pPr indent="0" marL="0">
              <a:buNone/>
            </a:pPr>
            <a:r>
              <a:rPr lang="en-US" sz="1400" dirty="0">
                <a:solidFill>
                  <a:schemeClr val="accent5"/>
                </a:solidFill>
              </a:rPr>
              <a:t>Weighting, calibration and stake size, each a convex online problem, each causal.</a:t>
            </a:r>
            <a:endParaRPr lang="en-US" sz="1400" dirty="0"/>
          </a:p>
        </p:txBody>
      </p:sp>
      <p:sp>
        <p:nvSpPr>
          <p:cNvPr id="7" name="contrib-1"/>
          <p:cNvSpPr/>
          <p:nvPr/>
        </p:nvSpPr>
        <p:spPr>
          <a:xfrm>
            <a:off x="6217920" y="1554480"/>
            <a:ext cx="5212080" cy="1828800"/>
          </a:xfrm>
          <a:prstGeom prst="roundRect">
            <a:avLst>
              <a:gd name="adj" fmla="val 4000"/>
            </a:avLst>
          </a:prstGeom>
          <a:solidFill>
            <a:srgbClr val="F2F5F9"/>
          </a:solidFill>
          <a:ln w="12700">
            <a:solidFill>
              <a:srgbClr val="E2E8F0"/>
            </a:solidFill>
            <a:prstDash val="solid"/>
          </a:ln>
        </p:spPr>
      </p:sp>
      <p:sp>
        <p:nvSpPr>
          <p:cNvPr id="8" name="dot-1"/>
          <p:cNvSpPr/>
          <p:nvPr/>
        </p:nvSpPr>
        <p:spPr>
          <a:xfrm>
            <a:off x="6537960" y="1874520"/>
            <a:ext cx="457200" cy="457200"/>
          </a:xfrm>
          <a:prstGeom prst="ellipse">
            <a:avLst/>
          </a:prstGeom>
          <a:solidFill>
            <a:schemeClr val="accent1"/>
          </a:solidFill>
          <a:ln/>
        </p:spPr>
      </p:sp>
      <p:sp>
        <p:nvSpPr>
          <p:cNvPr id="9" name="Text 7"/>
          <p:cNvSpPr txBox="1"/>
          <p:nvPr/>
        </p:nvSpPr>
        <p:spPr>
          <a:xfrm>
            <a:off x="7178040" y="1828800"/>
            <a:ext cx="3931920" cy="548640"/>
          </a:xfrm>
          <a:prstGeom prst="rect">
            <a:avLst/>
          </a:prstGeom>
          <a:noFill/>
          <a:ln/>
        </p:spPr>
        <p:txBody>
          <a:bodyPr wrap="square" lIns="0" tIns="0" rIns="0" bIns="0" rtlCol="0" anchor="ctr"/>
          <a:lstStyle/>
          <a:p>
            <a:pPr indent="0" marL="0">
              <a:buNone/>
            </a:pPr>
            <a:r>
              <a:rPr lang="en-US" sz="1700" b="1" dirty="0">
                <a:solidFill>
                  <a:schemeClr val="tx2"/>
                </a:solidFill>
              </a:rPr>
              <a:t>Every comparison tested</a:t>
            </a:r>
            <a:endParaRPr lang="en-US" sz="1700" dirty="0"/>
          </a:p>
        </p:txBody>
      </p:sp>
      <p:sp>
        <p:nvSpPr>
          <p:cNvPr id="10" name="Text 8"/>
          <p:cNvSpPr txBox="1"/>
          <p:nvPr/>
        </p:nvSpPr>
        <p:spPr>
          <a:xfrm>
            <a:off x="6537960" y="2468880"/>
            <a:ext cx="4572000" cy="777240"/>
          </a:xfrm>
          <a:prstGeom prst="rect">
            <a:avLst/>
          </a:prstGeom>
          <a:noFill/>
          <a:ln/>
        </p:spPr>
        <p:txBody>
          <a:bodyPr wrap="square" lIns="0" tIns="0" rIns="0" bIns="0" rtlCol="0" anchor="ctr"/>
          <a:lstStyle/>
          <a:p>
            <a:pPr indent="0" marL="0">
              <a:buNone/>
            </a:pPr>
            <a:r>
              <a:rPr lang="en-US" sz="1400" dirty="0">
                <a:solidFill>
                  <a:schemeClr val="accent5"/>
                </a:solidFill>
              </a:rPr>
              <a:t>Moving block bootstrap on every claim, because consecutive matches are not independent.</a:t>
            </a:r>
            <a:endParaRPr lang="en-US" sz="1400" dirty="0"/>
          </a:p>
        </p:txBody>
      </p:sp>
      <p:sp>
        <p:nvSpPr>
          <p:cNvPr id="11" name="contrib-2"/>
          <p:cNvSpPr/>
          <p:nvPr/>
        </p:nvSpPr>
        <p:spPr>
          <a:xfrm>
            <a:off x="640080" y="3703320"/>
            <a:ext cx="5212080" cy="1828800"/>
          </a:xfrm>
          <a:prstGeom prst="roundRect">
            <a:avLst>
              <a:gd name="adj" fmla="val 4000"/>
            </a:avLst>
          </a:prstGeom>
          <a:solidFill>
            <a:srgbClr val="F2F5F9"/>
          </a:solidFill>
          <a:ln w="12700">
            <a:solidFill>
              <a:srgbClr val="E2E8F0"/>
            </a:solidFill>
            <a:prstDash val="solid"/>
          </a:ln>
        </p:spPr>
      </p:sp>
      <p:sp>
        <p:nvSpPr>
          <p:cNvPr id="12" name="dot-2"/>
          <p:cNvSpPr/>
          <p:nvPr/>
        </p:nvSpPr>
        <p:spPr>
          <a:xfrm>
            <a:off x="960120" y="4023360"/>
            <a:ext cx="457200" cy="457200"/>
          </a:xfrm>
          <a:prstGeom prst="ellipse">
            <a:avLst/>
          </a:prstGeom>
          <a:solidFill>
            <a:schemeClr val="accent1"/>
          </a:solidFill>
          <a:ln/>
        </p:spPr>
      </p:sp>
      <p:sp>
        <p:nvSpPr>
          <p:cNvPr id="13" name="Text 11"/>
          <p:cNvSpPr txBox="1"/>
          <p:nvPr/>
        </p:nvSpPr>
        <p:spPr>
          <a:xfrm>
            <a:off x="1600200" y="3977640"/>
            <a:ext cx="3931920" cy="548640"/>
          </a:xfrm>
          <a:prstGeom prst="rect">
            <a:avLst/>
          </a:prstGeom>
          <a:noFill/>
          <a:ln/>
        </p:spPr>
        <p:txBody>
          <a:bodyPr wrap="square" lIns="0" tIns="0" rIns="0" bIns="0" rtlCol="0" anchor="ctr"/>
          <a:lstStyle/>
          <a:p>
            <a:pPr indent="0" marL="0">
              <a:buNone/>
            </a:pPr>
            <a:r>
              <a:rPr lang="en-US" sz="1700" b="1" dirty="0">
                <a:solidFill>
                  <a:schemeClr val="tx2"/>
                </a:solidFill>
              </a:rPr>
              <a:t>A deployment test</a:t>
            </a:r>
            <a:endParaRPr lang="en-US" sz="1700" dirty="0"/>
          </a:p>
        </p:txBody>
      </p:sp>
      <p:sp>
        <p:nvSpPr>
          <p:cNvPr id="14" name="Text 12"/>
          <p:cNvSpPr txBox="1"/>
          <p:nvPr/>
        </p:nvSpPr>
        <p:spPr>
          <a:xfrm>
            <a:off x="960120" y="4617720"/>
            <a:ext cx="4572000" cy="777240"/>
          </a:xfrm>
          <a:prstGeom prst="rect">
            <a:avLst/>
          </a:prstGeom>
          <a:noFill/>
          <a:ln/>
        </p:spPr>
        <p:txBody>
          <a:bodyPr wrap="square" lIns="0" tIns="0" rIns="0" bIns="0" rtlCol="0" anchor="ctr"/>
          <a:lstStyle/>
          <a:p>
            <a:pPr indent="0" marL="0">
              <a:buNone/>
            </a:pPr>
            <a:r>
              <a:rPr lang="en-US" sz="1400" dirty="0">
                <a:solidFill>
                  <a:schemeClr val="accent5"/>
                </a:solidFill>
              </a:rPr>
              <a:t>A real date cut: what a model fitted through 2024 does in 2025-26.</a:t>
            </a:r>
            <a:endParaRPr lang="en-US" sz="1400" dirty="0"/>
          </a:p>
        </p:txBody>
      </p:sp>
      <p:sp>
        <p:nvSpPr>
          <p:cNvPr id="15" name="contrib-3"/>
          <p:cNvSpPr/>
          <p:nvPr/>
        </p:nvSpPr>
        <p:spPr>
          <a:xfrm>
            <a:off x="6217920" y="3703320"/>
            <a:ext cx="5212080" cy="1828800"/>
          </a:xfrm>
          <a:prstGeom prst="roundRect">
            <a:avLst>
              <a:gd name="adj" fmla="val 4000"/>
            </a:avLst>
          </a:prstGeom>
          <a:solidFill>
            <a:srgbClr val="F2F5F9"/>
          </a:solidFill>
          <a:ln w="12700">
            <a:solidFill>
              <a:srgbClr val="E2E8F0"/>
            </a:solidFill>
            <a:prstDash val="solid"/>
          </a:ln>
        </p:spPr>
      </p:sp>
      <p:sp>
        <p:nvSpPr>
          <p:cNvPr id="16" name="dot-3"/>
          <p:cNvSpPr/>
          <p:nvPr/>
        </p:nvSpPr>
        <p:spPr>
          <a:xfrm>
            <a:off x="6537960" y="4023360"/>
            <a:ext cx="457200" cy="457200"/>
          </a:xfrm>
          <a:prstGeom prst="ellipse">
            <a:avLst/>
          </a:prstGeom>
          <a:solidFill>
            <a:schemeClr val="accent4"/>
          </a:solidFill>
          <a:ln/>
        </p:spPr>
      </p:sp>
      <p:sp>
        <p:nvSpPr>
          <p:cNvPr id="17" name="Text 15"/>
          <p:cNvSpPr txBox="1"/>
          <p:nvPr/>
        </p:nvSpPr>
        <p:spPr>
          <a:xfrm>
            <a:off x="7178040" y="3977640"/>
            <a:ext cx="3931920" cy="548640"/>
          </a:xfrm>
          <a:prstGeom prst="rect">
            <a:avLst/>
          </a:prstGeom>
          <a:noFill/>
          <a:ln/>
        </p:spPr>
        <p:txBody>
          <a:bodyPr wrap="square" lIns="0" tIns="0" rIns="0" bIns="0" rtlCol="0" anchor="ctr"/>
          <a:lstStyle/>
          <a:p>
            <a:pPr indent="0" marL="0">
              <a:buNone/>
            </a:pPr>
            <a:r>
              <a:rPr lang="en-US" sz="1700" b="1" dirty="0">
                <a:solidFill>
                  <a:schemeClr val="tx2"/>
                </a:solidFill>
              </a:rPr>
              <a:t>Negative results that bound the method</a:t>
            </a:r>
            <a:endParaRPr lang="en-US" sz="1700" dirty="0"/>
          </a:p>
        </p:txBody>
      </p:sp>
      <p:sp>
        <p:nvSpPr>
          <p:cNvPr id="18" name="Text 16"/>
          <p:cNvSpPr txBox="1"/>
          <p:nvPr/>
        </p:nvSpPr>
        <p:spPr>
          <a:xfrm>
            <a:off x="6537960" y="4617720"/>
            <a:ext cx="4572000" cy="777240"/>
          </a:xfrm>
          <a:prstGeom prst="rect">
            <a:avLst/>
          </a:prstGeom>
          <a:noFill/>
          <a:ln/>
        </p:spPr>
        <p:txBody>
          <a:bodyPr wrap="square" lIns="0" tIns="0" rIns="0" bIns="0" rtlCol="0" anchor="ctr"/>
          <a:lstStyle/>
          <a:p>
            <a:pPr indent="0" marL="0">
              <a:buNone/>
            </a:pPr>
            <a:r>
              <a:rPr lang="en-US" sz="1400" dirty="0">
                <a:solidFill>
                  <a:schemeClr val="accent5"/>
                </a:solidFill>
              </a:rPr>
              <a:t>Nine ideas tried and rejected, including one that overturns how the main result should be read.</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nchor="ctr"/>
          <a:lstStyle/>
          <a:p>
            <a:pPr algn="l" indent="0" marL="0">
              <a:buNone/>
            </a:pPr>
            <a:r>
              <a:rPr lang="en-US" sz="6800" b="1" dirty="0">
                <a:solidFill>
                  <a:srgbClr val="6FA3D6"/>
                </a:solidFill>
              </a:rPr>
              <a:t>01</a:t>
            </a: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nchor="ctr"/>
          <a:lstStyle/>
          <a:p>
            <a:pPr algn="l" indent="0" marL="0">
              <a:buNone/>
            </a:pPr>
            <a:r>
              <a:rPr lang="en-US" sz="3600" b="1" dirty="0">
                <a:solidFill>
                  <a:schemeClr val="bg1"/>
                </a:solidFill>
              </a:rPr>
              <a:t>The framework</a:t>
            </a: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nchor="t"/>
          <a:lstStyle/>
          <a:p>
            <a:pPr algn="l" indent="0" marL="0">
              <a:buNone/>
            </a:pPr>
            <a:r>
              <a:rPr lang="en-US" sz="1600" dirty="0">
                <a:solidFill>
                  <a:srgbClr val="CBD5E1"/>
                </a:solidFill>
              </a:rPr>
              <a:t>Online learning, regret, and the reduction that makes partial coverage tractable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Online learning: no training phase</a:t>
            </a:r>
            <a:endParaRPr lang="en-US" sz="3000" dirty="0"/>
          </a:p>
        </p:txBody>
      </p:sp>
      <p:sp>
        <p:nvSpPr>
          <p:cNvPr id="3" name="loop"/>
          <p:cNvSpPr/>
          <p:nvPr/>
        </p:nvSpPr>
        <p:spPr>
          <a:xfrm>
            <a:off x="640080" y="1463040"/>
            <a:ext cx="5212080" cy="2194560"/>
          </a:xfrm>
          <a:prstGeom prst="roundRect">
            <a:avLst>
              <a:gd name="adj" fmla="val 3333"/>
            </a:avLst>
          </a:prstGeom>
          <a:solidFill>
            <a:srgbClr val="F2F5F9"/>
          </a:solidFill>
          <a:ln w="12700">
            <a:solidFill>
              <a:srgbClr val="E2E8F0"/>
            </a:solidFill>
            <a:prstDash val="solid"/>
          </a:ln>
        </p:spPr>
      </p:sp>
      <p:sp>
        <p:nvSpPr>
          <p:cNvPr id="4" name="Text 2"/>
          <p:cNvSpPr txBox="1"/>
          <p:nvPr/>
        </p:nvSpPr>
        <p:spPr>
          <a:xfrm>
            <a:off x="960120" y="1645920"/>
            <a:ext cx="4572000" cy="365760"/>
          </a:xfrm>
          <a:prstGeom prst="rect">
            <a:avLst/>
          </a:prstGeom>
          <a:noFill/>
          <a:ln/>
        </p:spPr>
        <p:txBody>
          <a:bodyPr wrap="square" lIns="0" tIns="0" rIns="0" bIns="0" rtlCol="0" anchor="ctr"/>
          <a:lstStyle/>
          <a:p>
            <a:pPr indent="0" marL="0">
              <a:buNone/>
            </a:pPr>
            <a:r>
              <a:rPr lang="en-US" sz="1600" b="1" dirty="0">
                <a:solidFill>
                  <a:schemeClr val="tx2"/>
                </a:solidFill>
              </a:rPr>
              <a:t>The protocol</a:t>
            </a:r>
            <a:endParaRPr lang="en-US" sz="1600" dirty="0"/>
          </a:p>
        </p:txBody>
      </p:sp>
      <p:sp>
        <p:nvSpPr>
          <p:cNvPr id="5" name="Text 3"/>
          <p:cNvSpPr txBox="1"/>
          <p:nvPr/>
        </p:nvSpPr>
        <p:spPr>
          <a:xfrm>
            <a:off x="960120" y="2057400"/>
            <a:ext cx="4572000" cy="1463040"/>
          </a:xfrm>
          <a:prstGeom prst="rect">
            <a:avLst/>
          </a:prstGeom>
          <a:noFill/>
          <a:ln/>
        </p:spPr>
        <p:txBody>
          <a:bodyPr wrap="square" rtlCol="0" anchor="ctr"/>
          <a:lstStyle/>
          <a:p>
            <a:pPr marL="342900" indent="-342900">
              <a:spcAft>
                <a:spcPts val="1000"/>
              </a:spcAft>
              <a:buSzPct val="100000"/>
              <a:buChar char="•"/>
            </a:pPr>
            <a:r>
              <a:rPr lang="en-US" sz="1400" dirty="0">
                <a:solidFill>
                  <a:schemeClr val="tx1"/>
                </a:solidFill>
              </a:rPr>
              <a:t>predict from rounds 1..t−1 only</a:t>
            </a:r>
            <a:endParaRPr lang="en-US" sz="1400" dirty="0"/>
          </a:p>
          <a:p>
            <a:pPr marL="342900" indent="-342900">
              <a:spcAft>
                <a:spcPts val="1000"/>
              </a:spcAft>
              <a:buSzPct val="100000"/>
              <a:buChar char="•"/>
            </a:pPr>
            <a:r>
              <a:rPr lang="en-US" sz="1400" dirty="0">
                <a:solidFill>
                  <a:schemeClr val="tx1"/>
                </a:solidFill>
              </a:rPr>
              <a:t>the outcome is revealed</a:t>
            </a:r>
            <a:endParaRPr lang="en-US" sz="1400" dirty="0"/>
          </a:p>
          <a:p>
            <a:pPr marL="342900" indent="-342900">
              <a:spcAft>
                <a:spcPts val="1000"/>
              </a:spcAft>
              <a:buSzPct val="100000"/>
              <a:buChar char="•"/>
            </a:pPr>
            <a:r>
              <a:rPr lang="en-US" sz="1400" dirty="0">
                <a:solidFill>
                  <a:schemeClr val="tx1"/>
                </a:solidFill>
              </a:rPr>
              <a:t>a loss is incurred</a:t>
            </a:r>
            <a:endParaRPr lang="en-US" sz="1400" dirty="0"/>
          </a:p>
          <a:p>
            <a:pPr marL="342900" indent="-342900">
              <a:spcAft>
                <a:spcPts val="1000"/>
              </a:spcAft>
              <a:buSzPct val="100000"/>
              <a:buChar char="•"/>
            </a:pPr>
            <a:r>
              <a:rPr lang="en-US" sz="1400" dirty="0">
                <a:solidFill>
                  <a:schemeClr val="tx1"/>
                </a:solidFill>
              </a:rPr>
              <a:t>the state is updated</a:t>
            </a:r>
            <a:endParaRPr lang="en-US" sz="1400" dirty="0"/>
          </a:p>
        </p:txBody>
      </p:sp>
      <p:sp>
        <p:nvSpPr>
          <p:cNvPr id="6" name="regret"/>
          <p:cNvSpPr/>
          <p:nvPr/>
        </p:nvSpPr>
        <p:spPr>
          <a:xfrm>
            <a:off x="6309360" y="1463040"/>
            <a:ext cx="5212080" cy="2194560"/>
          </a:xfrm>
          <a:prstGeom prst="roundRect">
            <a:avLst>
              <a:gd name="adj" fmla="val 3333"/>
            </a:avLst>
          </a:prstGeom>
          <a:solidFill>
            <a:srgbClr val="F2F5F9"/>
          </a:solidFill>
          <a:ln w="12700">
            <a:solidFill>
              <a:srgbClr val="E2E8F0"/>
            </a:solidFill>
            <a:prstDash val="solid"/>
          </a:ln>
        </p:spPr>
      </p:sp>
      <p:sp>
        <p:nvSpPr>
          <p:cNvPr id="7" name="Text 5"/>
          <p:cNvSpPr txBox="1"/>
          <p:nvPr/>
        </p:nvSpPr>
        <p:spPr>
          <a:xfrm>
            <a:off x="6629400" y="1645920"/>
            <a:ext cx="4572000" cy="365760"/>
          </a:xfrm>
          <a:prstGeom prst="rect">
            <a:avLst/>
          </a:prstGeom>
          <a:noFill/>
          <a:ln/>
        </p:spPr>
        <p:txBody>
          <a:bodyPr wrap="square" lIns="0" tIns="0" rIns="0" bIns="0" rtlCol="0" anchor="ctr"/>
          <a:lstStyle/>
          <a:p>
            <a:pPr indent="0" marL="0">
              <a:buNone/>
            </a:pPr>
            <a:r>
              <a:rPr lang="en-US" sz="1600" b="1" dirty="0">
                <a:solidFill>
                  <a:schemeClr val="tx2"/>
                </a:solidFill>
              </a:rPr>
              <a:t>Regret</a:t>
            </a:r>
            <a:endParaRPr lang="en-US" sz="1600" dirty="0"/>
          </a:p>
        </p:txBody>
      </p:sp>
      <p:sp>
        <p:nvSpPr>
          <p:cNvPr id="8" name="Text 6"/>
          <p:cNvSpPr txBox="1"/>
          <p:nvPr/>
        </p:nvSpPr>
        <p:spPr>
          <a:xfrm>
            <a:off x="6629400" y="2057400"/>
            <a:ext cx="4572000" cy="1371600"/>
          </a:xfrm>
          <a:prstGeom prst="rect">
            <a:avLst/>
          </a:prstGeom>
          <a:noFill/>
          <a:ln/>
        </p:spPr>
        <p:txBody>
          <a:bodyPr wrap="square" lIns="0" tIns="0" rIns="0" bIns="0" rtlCol="0" anchor="ctr"/>
          <a:lstStyle/>
          <a:p>
            <a:pPr indent="0" marL="0">
              <a:buNone/>
            </a:pPr>
            <a:r>
              <a:rPr lang="en-US" sz="1400" dirty="0">
                <a:solidFill>
                  <a:schemeClr val="tx1"/>
                </a:solidFill>
              </a:rPr>
              <a:t>How much worse we did than the best FIXED weight vector, chosen with hindsight over the whole history.</a:t>
            </a:r>
            <a:endParaRPr lang="en-US" sz="1400" dirty="0"/>
          </a:p>
        </p:txBody>
      </p:sp>
      <p:sp>
        <p:nvSpPr>
          <p:cNvPr id="9" name="Text 7"/>
          <p:cNvSpPr txBox="1"/>
          <p:nvPr/>
        </p:nvSpPr>
        <p:spPr>
          <a:xfrm>
            <a:off x="640080" y="4023360"/>
            <a:ext cx="10881360" cy="1097280"/>
          </a:xfrm>
          <a:prstGeom prst="rect">
            <a:avLst/>
          </a:prstGeom>
          <a:noFill/>
          <a:ln/>
        </p:spPr>
        <p:txBody>
          <a:bodyPr wrap="square" rtlCol="0" anchor="ctr"/>
          <a:lstStyle/>
          <a:p>
            <a:pPr indent="0" marL="0">
              <a:buNone/>
            </a:pPr>
            <a:r>
              <a:rPr lang="en-US" sz="1600" b="1" dirty="0">
                <a:solidFill>
                  <a:schemeClr val="tx1"/>
                </a:solidFill>
              </a:rPr>
              <a:t>Every prediction is out of sample by construction. </a:t>
            </a:r>
            <a:pPr indent="0" marL="0">
              <a:buNone/>
            </a:pPr>
            <a:r>
              <a:rPr lang="en-US" sz="1600" dirty="0">
                <a:solidFill>
                  <a:schemeClr val="tx1"/>
                </a:solidFill>
              </a:rPr>
              <a:t>There is no train/test split to argue about, and the bounds hold for ANY sequence, including an adversarial one. That is the methodological gain over a batch model.</a:t>
            </a:r>
            <a:endParaRPr lang="en-US" sz="1600" dirty="0"/>
          </a:p>
        </p:txBody>
      </p:sp>
      <p:sp>
        <p:nvSpPr>
          <p:cNvPr id="10" name="Text 8"/>
          <p:cNvSpPr txBox="1"/>
          <p:nvPr/>
        </p:nvSpPr>
        <p:spPr>
          <a:xfrm>
            <a:off x="640080" y="5303520"/>
            <a:ext cx="10881360" cy="548640"/>
          </a:xfrm>
          <a:prstGeom prst="rect">
            <a:avLst/>
          </a:prstGeom>
          <a:noFill/>
          <a:ln/>
        </p:spPr>
        <p:txBody>
          <a:bodyPr wrap="square" rtlCol="0" anchor="ctr"/>
          <a:lstStyle/>
          <a:p>
            <a:pPr indent="0" marL="0">
              <a:buNone/>
            </a:pPr>
            <a:r>
              <a:rPr lang="en-US" sz="1500" i="1" dirty="0">
                <a:solidFill>
                  <a:schemeClr val="accent2"/>
                </a:solidFill>
              </a:rPr>
              <a:t>Keep the word "fixed" in mind. It returns at the end, and it is where the strongest theory fails.</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Sleeping Experts: the reduction that makes it work</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Not every bookmaker quotes every match, so at round t only the awake subset A(t) predicts.</a:t>
            </a:r>
            <a:endParaRPr lang="en-US" sz="1600" dirty="0"/>
          </a:p>
        </p:txBody>
      </p:sp>
      <p:sp>
        <p:nvSpPr>
          <p:cNvPr id="4" name="cell-0-0"/>
          <p:cNvSpPr/>
          <p:nvPr/>
        </p:nvSpPr>
        <p:spPr>
          <a:xfrm>
            <a:off x="640080" y="1920240"/>
            <a:ext cx="384048" cy="384048"/>
          </a:xfrm>
          <a:prstGeom prst="rect">
            <a:avLst/>
          </a:prstGeom>
          <a:solidFill>
            <a:srgbClr val="0F4C81"/>
          </a:solidFill>
          <a:ln w="12700">
            <a:solidFill>
              <a:srgbClr val="FFFFFF"/>
            </a:solidFill>
            <a:prstDash val="solid"/>
          </a:ln>
        </p:spPr>
      </p:sp>
      <p:sp>
        <p:nvSpPr>
          <p:cNvPr id="5" name="cell-0-1"/>
          <p:cNvSpPr/>
          <p:nvPr/>
        </p:nvSpPr>
        <p:spPr>
          <a:xfrm>
            <a:off x="1088136" y="1920240"/>
            <a:ext cx="384048" cy="384048"/>
          </a:xfrm>
          <a:prstGeom prst="rect">
            <a:avLst/>
          </a:prstGeom>
          <a:solidFill>
            <a:srgbClr val="0F4C81"/>
          </a:solidFill>
          <a:ln w="12700">
            <a:solidFill>
              <a:srgbClr val="FFFFFF"/>
            </a:solidFill>
            <a:prstDash val="solid"/>
          </a:ln>
        </p:spPr>
      </p:sp>
      <p:sp>
        <p:nvSpPr>
          <p:cNvPr id="6" name="cell-0-2"/>
          <p:cNvSpPr/>
          <p:nvPr/>
        </p:nvSpPr>
        <p:spPr>
          <a:xfrm>
            <a:off x="1536192" y="1920240"/>
            <a:ext cx="384048" cy="384048"/>
          </a:xfrm>
          <a:prstGeom prst="rect">
            <a:avLst/>
          </a:prstGeom>
          <a:solidFill>
            <a:srgbClr val="0F4C81"/>
          </a:solidFill>
          <a:ln w="12700">
            <a:solidFill>
              <a:srgbClr val="FFFFFF"/>
            </a:solidFill>
            <a:prstDash val="solid"/>
          </a:ln>
        </p:spPr>
      </p:sp>
      <p:sp>
        <p:nvSpPr>
          <p:cNvPr id="7" name="cell-0-3"/>
          <p:cNvSpPr/>
          <p:nvPr/>
        </p:nvSpPr>
        <p:spPr>
          <a:xfrm>
            <a:off x="1984248" y="1920240"/>
            <a:ext cx="384048" cy="384048"/>
          </a:xfrm>
          <a:prstGeom prst="rect">
            <a:avLst/>
          </a:prstGeom>
          <a:solidFill>
            <a:srgbClr val="0F4C81"/>
          </a:solidFill>
          <a:ln w="12700">
            <a:solidFill>
              <a:srgbClr val="FFFFFF"/>
            </a:solidFill>
            <a:prstDash val="solid"/>
          </a:ln>
        </p:spPr>
      </p:sp>
      <p:sp>
        <p:nvSpPr>
          <p:cNvPr id="8" name="cell-0-4"/>
          <p:cNvSpPr/>
          <p:nvPr/>
        </p:nvSpPr>
        <p:spPr>
          <a:xfrm>
            <a:off x="2432304" y="1920240"/>
            <a:ext cx="384048" cy="384048"/>
          </a:xfrm>
          <a:prstGeom prst="rect">
            <a:avLst/>
          </a:prstGeom>
          <a:solidFill>
            <a:srgbClr val="0F4C81"/>
          </a:solidFill>
          <a:ln w="12700">
            <a:solidFill>
              <a:srgbClr val="FFFFFF"/>
            </a:solidFill>
            <a:prstDash val="solid"/>
          </a:ln>
        </p:spPr>
      </p:sp>
      <p:sp>
        <p:nvSpPr>
          <p:cNvPr id="9" name="cell-0-5"/>
          <p:cNvSpPr/>
          <p:nvPr/>
        </p:nvSpPr>
        <p:spPr>
          <a:xfrm>
            <a:off x="2880360" y="1920240"/>
            <a:ext cx="384048" cy="384048"/>
          </a:xfrm>
          <a:prstGeom prst="rect">
            <a:avLst/>
          </a:prstGeom>
          <a:solidFill>
            <a:srgbClr val="0F4C81"/>
          </a:solidFill>
          <a:ln w="12700">
            <a:solidFill>
              <a:srgbClr val="FFFFFF"/>
            </a:solidFill>
            <a:prstDash val="solid"/>
          </a:ln>
        </p:spPr>
      </p:sp>
      <p:sp>
        <p:nvSpPr>
          <p:cNvPr id="10" name="cell-0-6"/>
          <p:cNvSpPr/>
          <p:nvPr/>
        </p:nvSpPr>
        <p:spPr>
          <a:xfrm>
            <a:off x="3328416" y="1920240"/>
            <a:ext cx="384048" cy="384048"/>
          </a:xfrm>
          <a:prstGeom prst="rect">
            <a:avLst/>
          </a:prstGeom>
          <a:solidFill>
            <a:srgbClr val="0F4C81"/>
          </a:solidFill>
          <a:ln w="12700">
            <a:solidFill>
              <a:srgbClr val="FFFFFF"/>
            </a:solidFill>
            <a:prstDash val="solid"/>
          </a:ln>
        </p:spPr>
      </p:sp>
      <p:sp>
        <p:nvSpPr>
          <p:cNvPr id="11" name="cell-0-7"/>
          <p:cNvSpPr/>
          <p:nvPr/>
        </p:nvSpPr>
        <p:spPr>
          <a:xfrm>
            <a:off x="3776472" y="1920240"/>
            <a:ext cx="384048" cy="384048"/>
          </a:xfrm>
          <a:prstGeom prst="rect">
            <a:avLst/>
          </a:prstGeom>
          <a:solidFill>
            <a:srgbClr val="0F4C81"/>
          </a:solidFill>
          <a:ln w="12700">
            <a:solidFill>
              <a:srgbClr val="FFFFFF"/>
            </a:solidFill>
            <a:prstDash val="solid"/>
          </a:ln>
        </p:spPr>
      </p:sp>
      <p:sp>
        <p:nvSpPr>
          <p:cNvPr id="12" name="cell-0-8"/>
          <p:cNvSpPr/>
          <p:nvPr/>
        </p:nvSpPr>
        <p:spPr>
          <a:xfrm>
            <a:off x="4224528" y="1920240"/>
            <a:ext cx="384048" cy="384048"/>
          </a:xfrm>
          <a:prstGeom prst="rect">
            <a:avLst/>
          </a:prstGeom>
          <a:solidFill>
            <a:srgbClr val="0F4C81"/>
          </a:solidFill>
          <a:ln w="12700">
            <a:solidFill>
              <a:srgbClr val="FFFFFF"/>
            </a:solidFill>
            <a:prstDash val="solid"/>
          </a:ln>
        </p:spPr>
      </p:sp>
      <p:sp>
        <p:nvSpPr>
          <p:cNvPr id="13" name="cell-0-9"/>
          <p:cNvSpPr/>
          <p:nvPr/>
        </p:nvSpPr>
        <p:spPr>
          <a:xfrm>
            <a:off x="4672584" y="1920240"/>
            <a:ext cx="384048" cy="384048"/>
          </a:xfrm>
          <a:prstGeom prst="rect">
            <a:avLst/>
          </a:prstGeom>
          <a:solidFill>
            <a:srgbClr val="0F4C81"/>
          </a:solidFill>
          <a:ln w="12700">
            <a:solidFill>
              <a:srgbClr val="FFFFFF"/>
            </a:solidFill>
            <a:prstDash val="solid"/>
          </a:ln>
        </p:spPr>
      </p:sp>
      <p:sp>
        <p:nvSpPr>
          <p:cNvPr id="14" name="cell-0-10"/>
          <p:cNvSpPr/>
          <p:nvPr/>
        </p:nvSpPr>
        <p:spPr>
          <a:xfrm>
            <a:off x="5120640" y="1920240"/>
            <a:ext cx="384048" cy="384048"/>
          </a:xfrm>
          <a:prstGeom prst="rect">
            <a:avLst/>
          </a:prstGeom>
          <a:solidFill>
            <a:srgbClr val="0F4C81"/>
          </a:solidFill>
          <a:ln w="12700">
            <a:solidFill>
              <a:srgbClr val="FFFFFF"/>
            </a:solidFill>
            <a:prstDash val="solid"/>
          </a:ln>
        </p:spPr>
      </p:sp>
      <p:sp>
        <p:nvSpPr>
          <p:cNvPr id="15" name="cell-0-11"/>
          <p:cNvSpPr/>
          <p:nvPr/>
        </p:nvSpPr>
        <p:spPr>
          <a:xfrm>
            <a:off x="5568696" y="1920240"/>
            <a:ext cx="384048" cy="384048"/>
          </a:xfrm>
          <a:prstGeom prst="rect">
            <a:avLst/>
          </a:prstGeom>
          <a:solidFill>
            <a:srgbClr val="0F4C81"/>
          </a:solidFill>
          <a:ln w="12700">
            <a:solidFill>
              <a:srgbClr val="FFFFFF"/>
            </a:solidFill>
            <a:prstDash val="solid"/>
          </a:ln>
        </p:spPr>
      </p:sp>
      <p:sp>
        <p:nvSpPr>
          <p:cNvPr id="16" name="cell-1-0"/>
          <p:cNvSpPr/>
          <p:nvPr/>
        </p:nvSpPr>
        <p:spPr>
          <a:xfrm>
            <a:off x="640080" y="2386584"/>
            <a:ext cx="384048" cy="384048"/>
          </a:xfrm>
          <a:prstGeom prst="rect">
            <a:avLst/>
          </a:prstGeom>
          <a:solidFill>
            <a:srgbClr val="E2E8F0"/>
          </a:solidFill>
          <a:ln w="12700">
            <a:solidFill>
              <a:srgbClr val="FFFFFF"/>
            </a:solidFill>
            <a:prstDash val="solid"/>
          </a:ln>
        </p:spPr>
      </p:sp>
      <p:sp>
        <p:nvSpPr>
          <p:cNvPr id="17" name="cell-1-1"/>
          <p:cNvSpPr/>
          <p:nvPr/>
        </p:nvSpPr>
        <p:spPr>
          <a:xfrm>
            <a:off x="1088136" y="2386584"/>
            <a:ext cx="384048" cy="384048"/>
          </a:xfrm>
          <a:prstGeom prst="rect">
            <a:avLst/>
          </a:prstGeom>
          <a:solidFill>
            <a:srgbClr val="E2E8F0"/>
          </a:solidFill>
          <a:ln w="12700">
            <a:solidFill>
              <a:srgbClr val="FFFFFF"/>
            </a:solidFill>
            <a:prstDash val="solid"/>
          </a:ln>
        </p:spPr>
      </p:sp>
      <p:sp>
        <p:nvSpPr>
          <p:cNvPr id="18" name="cell-1-2"/>
          <p:cNvSpPr/>
          <p:nvPr/>
        </p:nvSpPr>
        <p:spPr>
          <a:xfrm>
            <a:off x="1536192" y="2386584"/>
            <a:ext cx="384048" cy="384048"/>
          </a:xfrm>
          <a:prstGeom prst="rect">
            <a:avLst/>
          </a:prstGeom>
          <a:solidFill>
            <a:srgbClr val="0F4C81"/>
          </a:solidFill>
          <a:ln w="12700">
            <a:solidFill>
              <a:srgbClr val="FFFFFF"/>
            </a:solidFill>
            <a:prstDash val="solid"/>
          </a:ln>
        </p:spPr>
      </p:sp>
      <p:sp>
        <p:nvSpPr>
          <p:cNvPr id="19" name="cell-1-3"/>
          <p:cNvSpPr/>
          <p:nvPr/>
        </p:nvSpPr>
        <p:spPr>
          <a:xfrm>
            <a:off x="1984248" y="2386584"/>
            <a:ext cx="384048" cy="384048"/>
          </a:xfrm>
          <a:prstGeom prst="rect">
            <a:avLst/>
          </a:prstGeom>
          <a:solidFill>
            <a:srgbClr val="0F4C81"/>
          </a:solidFill>
          <a:ln w="12700">
            <a:solidFill>
              <a:srgbClr val="FFFFFF"/>
            </a:solidFill>
            <a:prstDash val="solid"/>
          </a:ln>
        </p:spPr>
      </p:sp>
      <p:sp>
        <p:nvSpPr>
          <p:cNvPr id="20" name="cell-1-4"/>
          <p:cNvSpPr/>
          <p:nvPr/>
        </p:nvSpPr>
        <p:spPr>
          <a:xfrm>
            <a:off x="2432304" y="2386584"/>
            <a:ext cx="384048" cy="384048"/>
          </a:xfrm>
          <a:prstGeom prst="rect">
            <a:avLst/>
          </a:prstGeom>
          <a:solidFill>
            <a:srgbClr val="0F4C81"/>
          </a:solidFill>
          <a:ln w="12700">
            <a:solidFill>
              <a:srgbClr val="FFFFFF"/>
            </a:solidFill>
            <a:prstDash val="solid"/>
          </a:ln>
        </p:spPr>
      </p:sp>
      <p:sp>
        <p:nvSpPr>
          <p:cNvPr id="21" name="cell-1-5"/>
          <p:cNvSpPr/>
          <p:nvPr/>
        </p:nvSpPr>
        <p:spPr>
          <a:xfrm>
            <a:off x="2880360" y="2386584"/>
            <a:ext cx="384048" cy="384048"/>
          </a:xfrm>
          <a:prstGeom prst="rect">
            <a:avLst/>
          </a:prstGeom>
          <a:solidFill>
            <a:srgbClr val="0F4C81"/>
          </a:solidFill>
          <a:ln w="12700">
            <a:solidFill>
              <a:srgbClr val="FFFFFF"/>
            </a:solidFill>
            <a:prstDash val="solid"/>
          </a:ln>
        </p:spPr>
      </p:sp>
      <p:sp>
        <p:nvSpPr>
          <p:cNvPr id="22" name="cell-1-6"/>
          <p:cNvSpPr/>
          <p:nvPr/>
        </p:nvSpPr>
        <p:spPr>
          <a:xfrm>
            <a:off x="3328416" y="2386584"/>
            <a:ext cx="384048" cy="384048"/>
          </a:xfrm>
          <a:prstGeom prst="rect">
            <a:avLst/>
          </a:prstGeom>
          <a:solidFill>
            <a:srgbClr val="0F4C81"/>
          </a:solidFill>
          <a:ln w="12700">
            <a:solidFill>
              <a:srgbClr val="FFFFFF"/>
            </a:solidFill>
            <a:prstDash val="solid"/>
          </a:ln>
        </p:spPr>
      </p:sp>
      <p:sp>
        <p:nvSpPr>
          <p:cNvPr id="23" name="cell-1-7"/>
          <p:cNvSpPr/>
          <p:nvPr/>
        </p:nvSpPr>
        <p:spPr>
          <a:xfrm>
            <a:off x="3776472" y="2386584"/>
            <a:ext cx="384048" cy="384048"/>
          </a:xfrm>
          <a:prstGeom prst="rect">
            <a:avLst/>
          </a:prstGeom>
          <a:solidFill>
            <a:srgbClr val="0F4C81"/>
          </a:solidFill>
          <a:ln w="12700">
            <a:solidFill>
              <a:srgbClr val="FFFFFF"/>
            </a:solidFill>
            <a:prstDash val="solid"/>
          </a:ln>
        </p:spPr>
      </p:sp>
      <p:sp>
        <p:nvSpPr>
          <p:cNvPr id="24" name="cell-1-8"/>
          <p:cNvSpPr/>
          <p:nvPr/>
        </p:nvSpPr>
        <p:spPr>
          <a:xfrm>
            <a:off x="4224528" y="2386584"/>
            <a:ext cx="384048" cy="384048"/>
          </a:xfrm>
          <a:prstGeom prst="rect">
            <a:avLst/>
          </a:prstGeom>
          <a:solidFill>
            <a:srgbClr val="0F4C81"/>
          </a:solidFill>
          <a:ln w="12700">
            <a:solidFill>
              <a:srgbClr val="FFFFFF"/>
            </a:solidFill>
            <a:prstDash val="solid"/>
          </a:ln>
        </p:spPr>
      </p:sp>
      <p:sp>
        <p:nvSpPr>
          <p:cNvPr id="25" name="cell-1-9"/>
          <p:cNvSpPr/>
          <p:nvPr/>
        </p:nvSpPr>
        <p:spPr>
          <a:xfrm>
            <a:off x="4672584" y="2386584"/>
            <a:ext cx="384048" cy="384048"/>
          </a:xfrm>
          <a:prstGeom prst="rect">
            <a:avLst/>
          </a:prstGeom>
          <a:solidFill>
            <a:srgbClr val="0F4C81"/>
          </a:solidFill>
          <a:ln w="12700">
            <a:solidFill>
              <a:srgbClr val="FFFFFF"/>
            </a:solidFill>
            <a:prstDash val="solid"/>
          </a:ln>
        </p:spPr>
      </p:sp>
      <p:sp>
        <p:nvSpPr>
          <p:cNvPr id="26" name="cell-1-10"/>
          <p:cNvSpPr/>
          <p:nvPr/>
        </p:nvSpPr>
        <p:spPr>
          <a:xfrm>
            <a:off x="5120640" y="2386584"/>
            <a:ext cx="384048" cy="384048"/>
          </a:xfrm>
          <a:prstGeom prst="rect">
            <a:avLst/>
          </a:prstGeom>
          <a:solidFill>
            <a:srgbClr val="0F4C81"/>
          </a:solidFill>
          <a:ln w="12700">
            <a:solidFill>
              <a:srgbClr val="FFFFFF"/>
            </a:solidFill>
            <a:prstDash val="solid"/>
          </a:ln>
        </p:spPr>
      </p:sp>
      <p:sp>
        <p:nvSpPr>
          <p:cNvPr id="27" name="cell-1-11"/>
          <p:cNvSpPr/>
          <p:nvPr/>
        </p:nvSpPr>
        <p:spPr>
          <a:xfrm>
            <a:off x="5568696" y="2386584"/>
            <a:ext cx="384048" cy="384048"/>
          </a:xfrm>
          <a:prstGeom prst="rect">
            <a:avLst/>
          </a:prstGeom>
          <a:solidFill>
            <a:srgbClr val="0F4C81"/>
          </a:solidFill>
          <a:ln w="12700">
            <a:solidFill>
              <a:srgbClr val="FFFFFF"/>
            </a:solidFill>
            <a:prstDash val="solid"/>
          </a:ln>
        </p:spPr>
      </p:sp>
      <p:sp>
        <p:nvSpPr>
          <p:cNvPr id="28" name="cell-2-0"/>
          <p:cNvSpPr/>
          <p:nvPr/>
        </p:nvSpPr>
        <p:spPr>
          <a:xfrm>
            <a:off x="640080" y="2852928"/>
            <a:ext cx="384048" cy="384048"/>
          </a:xfrm>
          <a:prstGeom prst="rect">
            <a:avLst/>
          </a:prstGeom>
          <a:solidFill>
            <a:srgbClr val="0F4C81"/>
          </a:solidFill>
          <a:ln w="12700">
            <a:solidFill>
              <a:srgbClr val="FFFFFF"/>
            </a:solidFill>
            <a:prstDash val="solid"/>
          </a:ln>
        </p:spPr>
      </p:sp>
      <p:sp>
        <p:nvSpPr>
          <p:cNvPr id="29" name="cell-2-1"/>
          <p:cNvSpPr/>
          <p:nvPr/>
        </p:nvSpPr>
        <p:spPr>
          <a:xfrm>
            <a:off x="1088136" y="2852928"/>
            <a:ext cx="384048" cy="384048"/>
          </a:xfrm>
          <a:prstGeom prst="rect">
            <a:avLst/>
          </a:prstGeom>
          <a:solidFill>
            <a:srgbClr val="0F4C81"/>
          </a:solidFill>
          <a:ln w="12700">
            <a:solidFill>
              <a:srgbClr val="FFFFFF"/>
            </a:solidFill>
            <a:prstDash val="solid"/>
          </a:ln>
        </p:spPr>
      </p:sp>
      <p:sp>
        <p:nvSpPr>
          <p:cNvPr id="30" name="cell-2-2"/>
          <p:cNvSpPr/>
          <p:nvPr/>
        </p:nvSpPr>
        <p:spPr>
          <a:xfrm>
            <a:off x="1536192" y="2852928"/>
            <a:ext cx="384048" cy="384048"/>
          </a:xfrm>
          <a:prstGeom prst="rect">
            <a:avLst/>
          </a:prstGeom>
          <a:solidFill>
            <a:srgbClr val="0F4C81"/>
          </a:solidFill>
          <a:ln w="12700">
            <a:solidFill>
              <a:srgbClr val="FFFFFF"/>
            </a:solidFill>
            <a:prstDash val="solid"/>
          </a:ln>
        </p:spPr>
      </p:sp>
      <p:sp>
        <p:nvSpPr>
          <p:cNvPr id="31" name="cell-2-3"/>
          <p:cNvSpPr/>
          <p:nvPr/>
        </p:nvSpPr>
        <p:spPr>
          <a:xfrm>
            <a:off x="1984248" y="2852928"/>
            <a:ext cx="384048" cy="384048"/>
          </a:xfrm>
          <a:prstGeom prst="rect">
            <a:avLst/>
          </a:prstGeom>
          <a:solidFill>
            <a:srgbClr val="0F4C81"/>
          </a:solidFill>
          <a:ln w="12700">
            <a:solidFill>
              <a:srgbClr val="FFFFFF"/>
            </a:solidFill>
            <a:prstDash val="solid"/>
          </a:ln>
        </p:spPr>
      </p:sp>
      <p:sp>
        <p:nvSpPr>
          <p:cNvPr id="32" name="cell-2-4"/>
          <p:cNvSpPr/>
          <p:nvPr/>
        </p:nvSpPr>
        <p:spPr>
          <a:xfrm>
            <a:off x="2432304" y="2852928"/>
            <a:ext cx="384048" cy="384048"/>
          </a:xfrm>
          <a:prstGeom prst="rect">
            <a:avLst/>
          </a:prstGeom>
          <a:solidFill>
            <a:srgbClr val="0F4C81"/>
          </a:solidFill>
          <a:ln w="12700">
            <a:solidFill>
              <a:srgbClr val="FFFFFF"/>
            </a:solidFill>
            <a:prstDash val="solid"/>
          </a:ln>
        </p:spPr>
      </p:sp>
      <p:sp>
        <p:nvSpPr>
          <p:cNvPr id="33" name="cell-2-5"/>
          <p:cNvSpPr/>
          <p:nvPr/>
        </p:nvSpPr>
        <p:spPr>
          <a:xfrm>
            <a:off x="2880360" y="2852928"/>
            <a:ext cx="384048" cy="384048"/>
          </a:xfrm>
          <a:prstGeom prst="rect">
            <a:avLst/>
          </a:prstGeom>
          <a:solidFill>
            <a:srgbClr val="0F4C81"/>
          </a:solidFill>
          <a:ln w="12700">
            <a:solidFill>
              <a:srgbClr val="FFFFFF"/>
            </a:solidFill>
            <a:prstDash val="solid"/>
          </a:ln>
        </p:spPr>
      </p:sp>
      <p:sp>
        <p:nvSpPr>
          <p:cNvPr id="34" name="cell-2-6"/>
          <p:cNvSpPr/>
          <p:nvPr/>
        </p:nvSpPr>
        <p:spPr>
          <a:xfrm>
            <a:off x="3328416" y="2852928"/>
            <a:ext cx="384048" cy="384048"/>
          </a:xfrm>
          <a:prstGeom prst="rect">
            <a:avLst/>
          </a:prstGeom>
          <a:solidFill>
            <a:srgbClr val="E2E8F0"/>
          </a:solidFill>
          <a:ln w="12700">
            <a:solidFill>
              <a:srgbClr val="FFFFFF"/>
            </a:solidFill>
            <a:prstDash val="solid"/>
          </a:ln>
        </p:spPr>
      </p:sp>
      <p:sp>
        <p:nvSpPr>
          <p:cNvPr id="35" name="cell-2-7"/>
          <p:cNvSpPr/>
          <p:nvPr/>
        </p:nvSpPr>
        <p:spPr>
          <a:xfrm>
            <a:off x="3776472" y="2852928"/>
            <a:ext cx="384048" cy="384048"/>
          </a:xfrm>
          <a:prstGeom prst="rect">
            <a:avLst/>
          </a:prstGeom>
          <a:solidFill>
            <a:srgbClr val="E2E8F0"/>
          </a:solidFill>
          <a:ln w="12700">
            <a:solidFill>
              <a:srgbClr val="FFFFFF"/>
            </a:solidFill>
            <a:prstDash val="solid"/>
          </a:ln>
        </p:spPr>
      </p:sp>
      <p:sp>
        <p:nvSpPr>
          <p:cNvPr id="36" name="cell-2-8"/>
          <p:cNvSpPr/>
          <p:nvPr/>
        </p:nvSpPr>
        <p:spPr>
          <a:xfrm>
            <a:off x="4224528" y="2852928"/>
            <a:ext cx="384048" cy="384048"/>
          </a:xfrm>
          <a:prstGeom prst="rect">
            <a:avLst/>
          </a:prstGeom>
          <a:solidFill>
            <a:srgbClr val="E2E8F0"/>
          </a:solidFill>
          <a:ln w="12700">
            <a:solidFill>
              <a:srgbClr val="FFFFFF"/>
            </a:solidFill>
            <a:prstDash val="solid"/>
          </a:ln>
        </p:spPr>
      </p:sp>
      <p:sp>
        <p:nvSpPr>
          <p:cNvPr id="37" name="cell-2-9"/>
          <p:cNvSpPr/>
          <p:nvPr/>
        </p:nvSpPr>
        <p:spPr>
          <a:xfrm>
            <a:off x="4672584" y="2852928"/>
            <a:ext cx="384048" cy="384048"/>
          </a:xfrm>
          <a:prstGeom prst="rect">
            <a:avLst/>
          </a:prstGeom>
          <a:solidFill>
            <a:srgbClr val="E2E8F0"/>
          </a:solidFill>
          <a:ln w="12700">
            <a:solidFill>
              <a:srgbClr val="FFFFFF"/>
            </a:solidFill>
            <a:prstDash val="solid"/>
          </a:ln>
        </p:spPr>
      </p:sp>
      <p:sp>
        <p:nvSpPr>
          <p:cNvPr id="38" name="cell-2-10"/>
          <p:cNvSpPr/>
          <p:nvPr/>
        </p:nvSpPr>
        <p:spPr>
          <a:xfrm>
            <a:off x="5120640" y="2852928"/>
            <a:ext cx="384048" cy="384048"/>
          </a:xfrm>
          <a:prstGeom prst="rect">
            <a:avLst/>
          </a:prstGeom>
          <a:solidFill>
            <a:srgbClr val="E2E8F0"/>
          </a:solidFill>
          <a:ln w="12700">
            <a:solidFill>
              <a:srgbClr val="FFFFFF"/>
            </a:solidFill>
            <a:prstDash val="solid"/>
          </a:ln>
        </p:spPr>
      </p:sp>
      <p:sp>
        <p:nvSpPr>
          <p:cNvPr id="39" name="cell-2-11"/>
          <p:cNvSpPr/>
          <p:nvPr/>
        </p:nvSpPr>
        <p:spPr>
          <a:xfrm>
            <a:off x="5568696" y="2852928"/>
            <a:ext cx="384048" cy="384048"/>
          </a:xfrm>
          <a:prstGeom prst="rect">
            <a:avLst/>
          </a:prstGeom>
          <a:solidFill>
            <a:srgbClr val="E2E8F0"/>
          </a:solidFill>
          <a:ln w="12700">
            <a:solidFill>
              <a:srgbClr val="FFFFFF"/>
            </a:solidFill>
            <a:prstDash val="solid"/>
          </a:ln>
        </p:spPr>
      </p:sp>
      <p:sp>
        <p:nvSpPr>
          <p:cNvPr id="40" name="cell-3-0"/>
          <p:cNvSpPr/>
          <p:nvPr/>
        </p:nvSpPr>
        <p:spPr>
          <a:xfrm>
            <a:off x="640080" y="3319272"/>
            <a:ext cx="384048" cy="384048"/>
          </a:xfrm>
          <a:prstGeom prst="rect">
            <a:avLst/>
          </a:prstGeom>
          <a:solidFill>
            <a:srgbClr val="0F4C81"/>
          </a:solidFill>
          <a:ln w="12700">
            <a:solidFill>
              <a:srgbClr val="FFFFFF"/>
            </a:solidFill>
            <a:prstDash val="solid"/>
          </a:ln>
        </p:spPr>
      </p:sp>
      <p:sp>
        <p:nvSpPr>
          <p:cNvPr id="41" name="cell-3-1"/>
          <p:cNvSpPr/>
          <p:nvPr/>
        </p:nvSpPr>
        <p:spPr>
          <a:xfrm>
            <a:off x="1088136" y="3319272"/>
            <a:ext cx="384048" cy="384048"/>
          </a:xfrm>
          <a:prstGeom prst="rect">
            <a:avLst/>
          </a:prstGeom>
          <a:solidFill>
            <a:srgbClr val="0F4C81"/>
          </a:solidFill>
          <a:ln w="12700">
            <a:solidFill>
              <a:srgbClr val="FFFFFF"/>
            </a:solidFill>
            <a:prstDash val="solid"/>
          </a:ln>
        </p:spPr>
      </p:sp>
      <p:sp>
        <p:nvSpPr>
          <p:cNvPr id="42" name="cell-3-2"/>
          <p:cNvSpPr/>
          <p:nvPr/>
        </p:nvSpPr>
        <p:spPr>
          <a:xfrm>
            <a:off x="1536192" y="3319272"/>
            <a:ext cx="384048" cy="384048"/>
          </a:xfrm>
          <a:prstGeom prst="rect">
            <a:avLst/>
          </a:prstGeom>
          <a:solidFill>
            <a:srgbClr val="0F4C81"/>
          </a:solidFill>
          <a:ln w="12700">
            <a:solidFill>
              <a:srgbClr val="FFFFFF"/>
            </a:solidFill>
            <a:prstDash val="solid"/>
          </a:ln>
        </p:spPr>
      </p:sp>
      <p:sp>
        <p:nvSpPr>
          <p:cNvPr id="43" name="cell-3-3"/>
          <p:cNvSpPr/>
          <p:nvPr/>
        </p:nvSpPr>
        <p:spPr>
          <a:xfrm>
            <a:off x="1984248" y="3319272"/>
            <a:ext cx="384048" cy="384048"/>
          </a:xfrm>
          <a:prstGeom prst="rect">
            <a:avLst/>
          </a:prstGeom>
          <a:solidFill>
            <a:srgbClr val="0F4C81"/>
          </a:solidFill>
          <a:ln w="12700">
            <a:solidFill>
              <a:srgbClr val="FFFFFF"/>
            </a:solidFill>
            <a:prstDash val="solid"/>
          </a:ln>
        </p:spPr>
      </p:sp>
      <p:sp>
        <p:nvSpPr>
          <p:cNvPr id="44" name="cell-3-4"/>
          <p:cNvSpPr/>
          <p:nvPr/>
        </p:nvSpPr>
        <p:spPr>
          <a:xfrm>
            <a:off x="2432304" y="3319272"/>
            <a:ext cx="384048" cy="384048"/>
          </a:xfrm>
          <a:prstGeom prst="rect">
            <a:avLst/>
          </a:prstGeom>
          <a:solidFill>
            <a:srgbClr val="0F4C81"/>
          </a:solidFill>
          <a:ln w="12700">
            <a:solidFill>
              <a:srgbClr val="FFFFFF"/>
            </a:solidFill>
            <a:prstDash val="solid"/>
          </a:ln>
        </p:spPr>
      </p:sp>
      <p:sp>
        <p:nvSpPr>
          <p:cNvPr id="45" name="cell-3-5"/>
          <p:cNvSpPr/>
          <p:nvPr/>
        </p:nvSpPr>
        <p:spPr>
          <a:xfrm>
            <a:off x="2880360" y="3319272"/>
            <a:ext cx="384048" cy="384048"/>
          </a:xfrm>
          <a:prstGeom prst="rect">
            <a:avLst/>
          </a:prstGeom>
          <a:solidFill>
            <a:srgbClr val="0F4C81"/>
          </a:solidFill>
          <a:ln w="12700">
            <a:solidFill>
              <a:srgbClr val="FFFFFF"/>
            </a:solidFill>
            <a:prstDash val="solid"/>
          </a:ln>
        </p:spPr>
      </p:sp>
      <p:sp>
        <p:nvSpPr>
          <p:cNvPr id="46" name="cell-3-6"/>
          <p:cNvSpPr/>
          <p:nvPr/>
        </p:nvSpPr>
        <p:spPr>
          <a:xfrm>
            <a:off x="3328416" y="3319272"/>
            <a:ext cx="384048" cy="384048"/>
          </a:xfrm>
          <a:prstGeom prst="rect">
            <a:avLst/>
          </a:prstGeom>
          <a:solidFill>
            <a:srgbClr val="0F4C81"/>
          </a:solidFill>
          <a:ln w="12700">
            <a:solidFill>
              <a:srgbClr val="FFFFFF"/>
            </a:solidFill>
            <a:prstDash val="solid"/>
          </a:ln>
        </p:spPr>
      </p:sp>
      <p:sp>
        <p:nvSpPr>
          <p:cNvPr id="47" name="cell-3-7"/>
          <p:cNvSpPr/>
          <p:nvPr/>
        </p:nvSpPr>
        <p:spPr>
          <a:xfrm>
            <a:off x="3776472" y="3319272"/>
            <a:ext cx="384048" cy="384048"/>
          </a:xfrm>
          <a:prstGeom prst="rect">
            <a:avLst/>
          </a:prstGeom>
          <a:solidFill>
            <a:srgbClr val="0F4C81"/>
          </a:solidFill>
          <a:ln w="12700">
            <a:solidFill>
              <a:srgbClr val="FFFFFF"/>
            </a:solidFill>
            <a:prstDash val="solid"/>
          </a:ln>
        </p:spPr>
      </p:sp>
      <p:sp>
        <p:nvSpPr>
          <p:cNvPr id="48" name="cell-3-8"/>
          <p:cNvSpPr/>
          <p:nvPr/>
        </p:nvSpPr>
        <p:spPr>
          <a:xfrm>
            <a:off x="4224528" y="3319272"/>
            <a:ext cx="384048" cy="384048"/>
          </a:xfrm>
          <a:prstGeom prst="rect">
            <a:avLst/>
          </a:prstGeom>
          <a:solidFill>
            <a:srgbClr val="0F4C81"/>
          </a:solidFill>
          <a:ln w="12700">
            <a:solidFill>
              <a:srgbClr val="FFFFFF"/>
            </a:solidFill>
            <a:prstDash val="solid"/>
          </a:ln>
        </p:spPr>
      </p:sp>
      <p:sp>
        <p:nvSpPr>
          <p:cNvPr id="49" name="cell-3-9"/>
          <p:cNvSpPr/>
          <p:nvPr/>
        </p:nvSpPr>
        <p:spPr>
          <a:xfrm>
            <a:off x="4672584" y="3319272"/>
            <a:ext cx="384048" cy="384048"/>
          </a:xfrm>
          <a:prstGeom prst="rect">
            <a:avLst/>
          </a:prstGeom>
          <a:solidFill>
            <a:srgbClr val="0F4C81"/>
          </a:solidFill>
          <a:ln w="12700">
            <a:solidFill>
              <a:srgbClr val="FFFFFF"/>
            </a:solidFill>
            <a:prstDash val="solid"/>
          </a:ln>
        </p:spPr>
      </p:sp>
      <p:sp>
        <p:nvSpPr>
          <p:cNvPr id="50" name="cell-3-10"/>
          <p:cNvSpPr/>
          <p:nvPr/>
        </p:nvSpPr>
        <p:spPr>
          <a:xfrm>
            <a:off x="5120640" y="3319272"/>
            <a:ext cx="384048" cy="384048"/>
          </a:xfrm>
          <a:prstGeom prst="rect">
            <a:avLst/>
          </a:prstGeom>
          <a:solidFill>
            <a:srgbClr val="0F4C81"/>
          </a:solidFill>
          <a:ln w="12700">
            <a:solidFill>
              <a:srgbClr val="FFFFFF"/>
            </a:solidFill>
            <a:prstDash val="solid"/>
          </a:ln>
        </p:spPr>
      </p:sp>
      <p:sp>
        <p:nvSpPr>
          <p:cNvPr id="51" name="cell-3-11"/>
          <p:cNvSpPr/>
          <p:nvPr/>
        </p:nvSpPr>
        <p:spPr>
          <a:xfrm>
            <a:off x="5568696" y="3319272"/>
            <a:ext cx="384048" cy="384048"/>
          </a:xfrm>
          <a:prstGeom prst="rect">
            <a:avLst/>
          </a:prstGeom>
          <a:solidFill>
            <a:srgbClr val="0F4C81"/>
          </a:solidFill>
          <a:ln w="12700">
            <a:solidFill>
              <a:srgbClr val="FFFFFF"/>
            </a:solidFill>
            <a:prstDash val="solid"/>
          </a:ln>
        </p:spPr>
      </p:sp>
      <p:sp>
        <p:nvSpPr>
          <p:cNvPr id="52" name="cell-4-0"/>
          <p:cNvSpPr/>
          <p:nvPr/>
        </p:nvSpPr>
        <p:spPr>
          <a:xfrm>
            <a:off x="640080" y="3785616"/>
            <a:ext cx="384048" cy="384048"/>
          </a:xfrm>
          <a:prstGeom prst="rect">
            <a:avLst/>
          </a:prstGeom>
          <a:solidFill>
            <a:srgbClr val="E2E8F0"/>
          </a:solidFill>
          <a:ln w="12700">
            <a:solidFill>
              <a:srgbClr val="FFFFFF"/>
            </a:solidFill>
            <a:prstDash val="solid"/>
          </a:ln>
        </p:spPr>
      </p:sp>
      <p:sp>
        <p:nvSpPr>
          <p:cNvPr id="53" name="cell-4-1"/>
          <p:cNvSpPr/>
          <p:nvPr/>
        </p:nvSpPr>
        <p:spPr>
          <a:xfrm>
            <a:off x="1088136" y="3785616"/>
            <a:ext cx="384048" cy="384048"/>
          </a:xfrm>
          <a:prstGeom prst="rect">
            <a:avLst/>
          </a:prstGeom>
          <a:solidFill>
            <a:srgbClr val="E2E8F0"/>
          </a:solidFill>
          <a:ln w="12700">
            <a:solidFill>
              <a:srgbClr val="FFFFFF"/>
            </a:solidFill>
            <a:prstDash val="solid"/>
          </a:ln>
        </p:spPr>
      </p:sp>
      <p:sp>
        <p:nvSpPr>
          <p:cNvPr id="54" name="cell-4-2"/>
          <p:cNvSpPr/>
          <p:nvPr/>
        </p:nvSpPr>
        <p:spPr>
          <a:xfrm>
            <a:off x="1536192" y="3785616"/>
            <a:ext cx="384048" cy="384048"/>
          </a:xfrm>
          <a:prstGeom prst="rect">
            <a:avLst/>
          </a:prstGeom>
          <a:solidFill>
            <a:srgbClr val="E2E8F0"/>
          </a:solidFill>
          <a:ln w="12700">
            <a:solidFill>
              <a:srgbClr val="FFFFFF"/>
            </a:solidFill>
            <a:prstDash val="solid"/>
          </a:ln>
        </p:spPr>
      </p:sp>
      <p:sp>
        <p:nvSpPr>
          <p:cNvPr id="55" name="cell-4-3"/>
          <p:cNvSpPr/>
          <p:nvPr/>
        </p:nvSpPr>
        <p:spPr>
          <a:xfrm>
            <a:off x="1984248" y="3785616"/>
            <a:ext cx="384048" cy="384048"/>
          </a:xfrm>
          <a:prstGeom prst="rect">
            <a:avLst/>
          </a:prstGeom>
          <a:solidFill>
            <a:srgbClr val="E2E8F0"/>
          </a:solidFill>
          <a:ln w="12700">
            <a:solidFill>
              <a:srgbClr val="FFFFFF"/>
            </a:solidFill>
            <a:prstDash val="solid"/>
          </a:ln>
        </p:spPr>
      </p:sp>
      <p:sp>
        <p:nvSpPr>
          <p:cNvPr id="56" name="cell-4-4"/>
          <p:cNvSpPr/>
          <p:nvPr/>
        </p:nvSpPr>
        <p:spPr>
          <a:xfrm>
            <a:off x="2432304" y="3785616"/>
            <a:ext cx="384048" cy="384048"/>
          </a:xfrm>
          <a:prstGeom prst="rect">
            <a:avLst/>
          </a:prstGeom>
          <a:solidFill>
            <a:srgbClr val="0F4C81"/>
          </a:solidFill>
          <a:ln w="12700">
            <a:solidFill>
              <a:srgbClr val="FFFFFF"/>
            </a:solidFill>
            <a:prstDash val="solid"/>
          </a:ln>
        </p:spPr>
      </p:sp>
      <p:sp>
        <p:nvSpPr>
          <p:cNvPr id="57" name="cell-4-5"/>
          <p:cNvSpPr/>
          <p:nvPr/>
        </p:nvSpPr>
        <p:spPr>
          <a:xfrm>
            <a:off x="2880360" y="3785616"/>
            <a:ext cx="384048" cy="384048"/>
          </a:xfrm>
          <a:prstGeom prst="rect">
            <a:avLst/>
          </a:prstGeom>
          <a:solidFill>
            <a:srgbClr val="0F4C81"/>
          </a:solidFill>
          <a:ln w="12700">
            <a:solidFill>
              <a:srgbClr val="FFFFFF"/>
            </a:solidFill>
            <a:prstDash val="solid"/>
          </a:ln>
        </p:spPr>
      </p:sp>
      <p:sp>
        <p:nvSpPr>
          <p:cNvPr id="58" name="cell-4-6"/>
          <p:cNvSpPr/>
          <p:nvPr/>
        </p:nvSpPr>
        <p:spPr>
          <a:xfrm>
            <a:off x="3328416" y="3785616"/>
            <a:ext cx="384048" cy="384048"/>
          </a:xfrm>
          <a:prstGeom prst="rect">
            <a:avLst/>
          </a:prstGeom>
          <a:solidFill>
            <a:srgbClr val="0F4C81"/>
          </a:solidFill>
          <a:ln w="12700">
            <a:solidFill>
              <a:srgbClr val="FFFFFF"/>
            </a:solidFill>
            <a:prstDash val="solid"/>
          </a:ln>
        </p:spPr>
      </p:sp>
      <p:sp>
        <p:nvSpPr>
          <p:cNvPr id="59" name="cell-4-7"/>
          <p:cNvSpPr/>
          <p:nvPr/>
        </p:nvSpPr>
        <p:spPr>
          <a:xfrm>
            <a:off x="3776472" y="3785616"/>
            <a:ext cx="384048" cy="384048"/>
          </a:xfrm>
          <a:prstGeom prst="rect">
            <a:avLst/>
          </a:prstGeom>
          <a:solidFill>
            <a:srgbClr val="0F4C81"/>
          </a:solidFill>
          <a:ln w="12700">
            <a:solidFill>
              <a:srgbClr val="FFFFFF"/>
            </a:solidFill>
            <a:prstDash val="solid"/>
          </a:ln>
        </p:spPr>
      </p:sp>
      <p:sp>
        <p:nvSpPr>
          <p:cNvPr id="60" name="cell-4-8"/>
          <p:cNvSpPr/>
          <p:nvPr/>
        </p:nvSpPr>
        <p:spPr>
          <a:xfrm>
            <a:off x="4224528" y="3785616"/>
            <a:ext cx="384048" cy="384048"/>
          </a:xfrm>
          <a:prstGeom prst="rect">
            <a:avLst/>
          </a:prstGeom>
          <a:solidFill>
            <a:srgbClr val="E2E8F0"/>
          </a:solidFill>
          <a:ln w="12700">
            <a:solidFill>
              <a:srgbClr val="FFFFFF"/>
            </a:solidFill>
            <a:prstDash val="solid"/>
          </a:ln>
        </p:spPr>
      </p:sp>
      <p:sp>
        <p:nvSpPr>
          <p:cNvPr id="61" name="cell-4-9"/>
          <p:cNvSpPr/>
          <p:nvPr/>
        </p:nvSpPr>
        <p:spPr>
          <a:xfrm>
            <a:off x="4672584" y="3785616"/>
            <a:ext cx="384048" cy="384048"/>
          </a:xfrm>
          <a:prstGeom prst="rect">
            <a:avLst/>
          </a:prstGeom>
          <a:solidFill>
            <a:srgbClr val="E2E8F0"/>
          </a:solidFill>
          <a:ln w="12700">
            <a:solidFill>
              <a:srgbClr val="FFFFFF"/>
            </a:solidFill>
            <a:prstDash val="solid"/>
          </a:ln>
        </p:spPr>
      </p:sp>
      <p:sp>
        <p:nvSpPr>
          <p:cNvPr id="62" name="cell-4-10"/>
          <p:cNvSpPr/>
          <p:nvPr/>
        </p:nvSpPr>
        <p:spPr>
          <a:xfrm>
            <a:off x="5120640" y="3785616"/>
            <a:ext cx="384048" cy="384048"/>
          </a:xfrm>
          <a:prstGeom prst="rect">
            <a:avLst/>
          </a:prstGeom>
          <a:solidFill>
            <a:srgbClr val="0F4C81"/>
          </a:solidFill>
          <a:ln w="12700">
            <a:solidFill>
              <a:srgbClr val="FFFFFF"/>
            </a:solidFill>
            <a:prstDash val="solid"/>
          </a:ln>
        </p:spPr>
      </p:sp>
      <p:sp>
        <p:nvSpPr>
          <p:cNvPr id="63" name="cell-4-11"/>
          <p:cNvSpPr/>
          <p:nvPr/>
        </p:nvSpPr>
        <p:spPr>
          <a:xfrm>
            <a:off x="5568696" y="3785616"/>
            <a:ext cx="384048" cy="384048"/>
          </a:xfrm>
          <a:prstGeom prst="rect">
            <a:avLst/>
          </a:prstGeom>
          <a:solidFill>
            <a:srgbClr val="0F4C81"/>
          </a:solidFill>
          <a:ln w="12700">
            <a:solidFill>
              <a:srgbClr val="FFFFFF"/>
            </a:solidFill>
            <a:prstDash val="solid"/>
          </a:ln>
        </p:spPr>
      </p:sp>
      <p:sp>
        <p:nvSpPr>
          <p:cNvPr id="64" name="Text 62"/>
          <p:cNvSpPr txBox="1"/>
          <p:nvPr/>
        </p:nvSpPr>
        <p:spPr>
          <a:xfrm>
            <a:off x="621792"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experts</a:t>
            </a:r>
            <a:endParaRPr lang="en-US" sz="1200" dirty="0"/>
          </a:p>
        </p:txBody>
      </p:sp>
      <p:sp>
        <p:nvSpPr>
          <p:cNvPr id="65" name="Text 63"/>
          <p:cNvSpPr txBox="1"/>
          <p:nvPr/>
        </p:nvSpPr>
        <p:spPr>
          <a:xfrm>
            <a:off x="4480560"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rounds  →</a:t>
            </a:r>
            <a:endParaRPr lang="en-US" sz="1200" dirty="0"/>
          </a:p>
        </p:txBody>
      </p:sp>
      <p:sp>
        <p:nvSpPr>
          <p:cNvPr id="66" name="rules"/>
          <p:cNvSpPr/>
          <p:nvPr/>
        </p:nvSpPr>
        <p:spPr>
          <a:xfrm>
            <a:off x="6309360" y="1828800"/>
            <a:ext cx="5212080" cy="2834640"/>
          </a:xfrm>
          <a:prstGeom prst="roundRect">
            <a:avLst>
              <a:gd name="adj" fmla="val 2581"/>
            </a:avLst>
          </a:prstGeom>
          <a:solidFill>
            <a:srgbClr val="F2F5F9"/>
          </a:solidFill>
          <a:ln w="12700">
            <a:solidFill>
              <a:srgbClr val="E2E8F0"/>
            </a:solidFill>
            <a:prstDash val="solid"/>
          </a:ln>
        </p:spPr>
      </p:sp>
      <p:sp>
        <p:nvSpPr>
          <p:cNvPr id="67" name="Text 65"/>
          <p:cNvSpPr txBox="1"/>
          <p:nvPr/>
        </p:nvSpPr>
        <p:spPr>
          <a:xfrm>
            <a:off x="6629400" y="2057400"/>
            <a:ext cx="4572000" cy="2377440"/>
          </a:xfrm>
          <a:prstGeom prst="rect">
            <a:avLst/>
          </a:prstGeom>
          <a:noFill/>
          <a:ln/>
        </p:spPr>
        <p:txBody>
          <a:bodyPr wrap="square" rtlCol="0" anchor="ctr"/>
          <a:lstStyle/>
          <a:p>
            <a:pPr marL="342900" indent="-342900">
              <a:spcAft>
                <a:spcPts val="1000"/>
              </a:spcAft>
              <a:buSzPct val="100000"/>
              <a:buChar char="•"/>
            </a:pPr>
            <a:r>
              <a:rPr lang="en-US" sz="1500" dirty="0">
                <a:solidFill>
                  <a:schemeClr val="tx1"/>
                </a:solidFill>
              </a:rPr>
              <a:t>each expert keeps its own persistent state</a:t>
            </a:r>
            <a:endParaRPr lang="en-US" sz="1500" dirty="0"/>
          </a:p>
          <a:p>
            <a:pPr marL="342900" indent="-342900">
              <a:spcAft>
                <a:spcPts val="1000"/>
              </a:spcAft>
              <a:buSzPct val="100000"/>
              <a:buChar char="•"/>
            </a:pPr>
            <a:r>
              <a:rPr lang="en-US" sz="1500" dirty="0">
                <a:solidFill>
                  <a:schemeClr val="tx1"/>
                </a:solidFill>
              </a:rPr>
              <a:t>the prediction is renormalised over A(t) alone</a:t>
            </a:r>
            <a:endParaRPr lang="en-US" sz="1500" dirty="0"/>
          </a:p>
          <a:p>
            <a:pPr marL="342900" indent="-342900">
              <a:spcAft>
                <a:spcPts val="1000"/>
              </a:spcAft>
              <a:buSzPct val="100000"/>
              <a:buChar char="•"/>
            </a:pPr>
            <a:r>
              <a:rPr lang="en-US" sz="1500" dirty="0">
                <a:solidFill>
                  <a:schemeClr val="tx1"/>
                </a:solidFill>
              </a:rPr>
              <a:t>a sleeping expert is FROZEN, not decayed</a:t>
            </a:r>
            <a:endParaRPr lang="en-US" sz="1500" dirty="0"/>
          </a:p>
          <a:p>
            <a:pPr marL="342900" indent="-342900">
              <a:spcAft>
                <a:spcPts val="1000"/>
              </a:spcAft>
              <a:buSzPct val="100000"/>
              <a:buChar char="•"/>
            </a:pPr>
            <a:r>
              <a:rPr lang="en-US" sz="1500" dirty="0">
                <a:solidFill>
                  <a:schemeClr val="tx1"/>
                </a:solidFill>
              </a:rPr>
              <a:t>regret is measured over each expert's own awake rounds</a:t>
            </a:r>
            <a:endParaRPr lang="en-US" sz="1500" dirty="0"/>
          </a:p>
        </p:txBody>
      </p:sp>
      <p:sp>
        <p:nvSpPr>
          <p:cNvPr id="68" name="Text 66"/>
          <p:cNvSpPr txBox="1"/>
          <p:nvPr/>
        </p:nvSpPr>
        <p:spPr>
          <a:xfrm>
            <a:off x="640080" y="5029200"/>
            <a:ext cx="10881360" cy="457200"/>
          </a:xfrm>
          <a:prstGeom prst="rect">
            <a:avLst/>
          </a:prstGeom>
          <a:noFill/>
          <a:ln/>
        </p:spPr>
        <p:txBody>
          <a:bodyPr wrap="square" rtlCol="0" anchor="ctr"/>
          <a:lstStyle/>
          <a:p>
            <a:pPr indent="0" marL="0">
              <a:buNone/>
            </a:pPr>
            <a:r>
              <a:rPr lang="en-US" sz="1500" i="1" dirty="0">
                <a:solidFill>
                  <a:schemeClr val="accent5"/>
                </a:solidFill>
              </a:rPr>
              <a:t>A bookmaker covering 7% of matches therefore does not dilute the guarantee of the rest.</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algorithms, one reduction</a:t>
            </a:r>
            <a:endParaRPr lang="en-US" sz="3000" dirty="0"/>
          </a:p>
        </p:txBody>
      </p:sp>
      <p:sp>
        <p:nvSpPr>
          <p:cNvPr id="3" name="algo-0"/>
          <p:cNvSpPr/>
          <p:nvPr/>
        </p:nvSpPr>
        <p:spPr>
          <a:xfrm>
            <a:off x="640080" y="1554480"/>
            <a:ext cx="3429000" cy="3108960"/>
          </a:xfrm>
          <a:prstGeom prst="roundRect">
            <a:avLst>
              <a:gd name="adj" fmla="val 2353"/>
            </a:avLst>
          </a:prstGeom>
          <a:solidFill>
            <a:srgbClr val="F2F5F9"/>
          </a:solidFill>
          <a:ln w="12700">
            <a:solidFill>
              <a:srgbClr val="E2E8F0"/>
            </a:solidFill>
            <a:prstDash val="solid"/>
          </a:ln>
        </p:spPr>
      </p:sp>
      <p:sp>
        <p:nvSpPr>
          <p:cNvPr id="4" name="Text 2"/>
          <p:cNvSpPr txBox="1"/>
          <p:nvPr/>
        </p:nvSpPr>
        <p:spPr>
          <a:xfrm>
            <a:off x="914400" y="1783080"/>
            <a:ext cx="2926080" cy="457200"/>
          </a:xfrm>
          <a:prstGeom prst="rect">
            <a:avLst/>
          </a:prstGeom>
          <a:noFill/>
          <a:ln/>
        </p:spPr>
        <p:txBody>
          <a:bodyPr wrap="square" lIns="0" tIns="0" rIns="0" bIns="0" rtlCol="0" anchor="ctr"/>
          <a:lstStyle/>
          <a:p>
            <a:pPr indent="0" marL="0">
              <a:buNone/>
            </a:pPr>
            <a:r>
              <a:rPr lang="en-US" sz="2200" b="1" dirty="0">
                <a:solidFill>
                  <a:schemeClr val="accent1"/>
                </a:solidFill>
              </a:rPr>
              <a:t>Hedge</a:t>
            </a:r>
            <a:endParaRPr lang="en-US" sz="2200" dirty="0"/>
          </a:p>
        </p:txBody>
      </p:sp>
      <p:sp>
        <p:nvSpPr>
          <p:cNvPr id="5" name="Text 3"/>
          <p:cNvSpPr txBox="1"/>
          <p:nvPr/>
        </p:nvSpPr>
        <p:spPr>
          <a:xfrm>
            <a:off x="914400" y="2331720"/>
            <a:ext cx="2926080" cy="1463040"/>
          </a:xfrm>
          <a:prstGeom prst="rect">
            <a:avLst/>
          </a:prstGeom>
          <a:noFill/>
          <a:ln/>
        </p:spPr>
        <p:txBody>
          <a:bodyPr wrap="square" lIns="0" tIns="0" rIns="0" bIns="0" rtlCol="0" anchor="ctr"/>
          <a:lstStyle/>
          <a:p>
            <a:pPr indent="0" marL="0">
              <a:buNone/>
            </a:pPr>
            <a:r>
              <a:rPr lang="en-US" sz="1400" dirty="0">
                <a:solidFill>
                  <a:schemeClr val="tx1"/>
                </a:solidFill>
              </a:rPr>
              <a:t>Multiplicative weights.</a:t>
            </a:r>
            <a:endParaRPr lang="en-US" sz="1400" dirty="0"/>
          </a:p>
          <a:p>
            <a:pPr indent="0" marL="0">
              <a:buNone/>
            </a:pPr>
            <a:r>
              <a:rPr lang="en-US" sz="1400" dirty="0">
                <a:solidFill>
                  <a:schemeClr val="tx1"/>
                </a:solidFill>
              </a:rPr>
              <a:t>η sits in an exponent over</a:t>
            </a:r>
            <a:endParaRPr lang="en-US" sz="1400" dirty="0"/>
          </a:p>
          <a:p>
            <a:pPr indent="0" marL="0">
              <a:buNone/>
            </a:pPr>
            <a:r>
              <a:rPr lang="en-US" sz="1400" dirty="0">
                <a:solidFill>
                  <a:schemeClr val="tx1"/>
                </a:solidFill>
              </a:rPr>
              <a:t>one round's loss.</a:t>
            </a:r>
            <a:endParaRPr lang="en-US" sz="1400" dirty="0"/>
          </a:p>
        </p:txBody>
      </p:sp>
      <p:sp>
        <p:nvSpPr>
          <p:cNvPr id="6" name="Text 4"/>
          <p:cNvSpPr txBox="1"/>
          <p:nvPr/>
        </p:nvSpPr>
        <p:spPr>
          <a:xfrm>
            <a:off x="914400" y="3931920"/>
            <a:ext cx="2926080" cy="457200"/>
          </a:xfrm>
          <a:prstGeom prst="rect">
            <a:avLst/>
          </a:prstGeom>
          <a:noFill/>
          <a:ln/>
        </p:spPr>
        <p:txBody>
          <a:bodyPr wrap="square" lIns="0" tIns="0" rIns="0" bIns="0" rtlCol="0" anchor="ctr"/>
          <a:lstStyle/>
          <a:p>
            <a:pPr indent="0" marL="0">
              <a:buNone/>
            </a:pPr>
            <a:r>
              <a:rPr lang="en-US" sz="1500" b="1" dirty="0">
                <a:solidFill>
                  <a:schemeClr val="tx2"/>
                </a:solidFill>
              </a:rPr>
              <a:t>O(√(T log N))</a:t>
            </a:r>
            <a:endParaRPr lang="en-US" sz="1500" dirty="0"/>
          </a:p>
        </p:txBody>
      </p:sp>
      <p:sp>
        <p:nvSpPr>
          <p:cNvPr id="7" name="algo-1"/>
          <p:cNvSpPr/>
          <p:nvPr/>
        </p:nvSpPr>
        <p:spPr>
          <a:xfrm>
            <a:off x="4343400" y="1554480"/>
            <a:ext cx="3429000" cy="3108960"/>
          </a:xfrm>
          <a:prstGeom prst="roundRect">
            <a:avLst>
              <a:gd name="adj" fmla="val 2353"/>
            </a:avLst>
          </a:prstGeom>
          <a:solidFill>
            <a:srgbClr val="F2F5F9"/>
          </a:solidFill>
          <a:ln w="12700">
            <a:solidFill>
              <a:srgbClr val="E2E8F0"/>
            </a:solidFill>
            <a:prstDash val="solid"/>
          </a:ln>
        </p:spPr>
      </p:sp>
      <p:sp>
        <p:nvSpPr>
          <p:cNvPr id="8" name="Text 6"/>
          <p:cNvSpPr txBox="1"/>
          <p:nvPr/>
        </p:nvSpPr>
        <p:spPr>
          <a:xfrm>
            <a:off x="4617720" y="1783080"/>
            <a:ext cx="2926080" cy="457200"/>
          </a:xfrm>
          <a:prstGeom prst="rect">
            <a:avLst/>
          </a:prstGeom>
          <a:noFill/>
          <a:ln/>
        </p:spPr>
        <p:txBody>
          <a:bodyPr wrap="square" lIns="0" tIns="0" rIns="0" bIns="0" rtlCol="0" anchor="ctr"/>
          <a:lstStyle/>
          <a:p>
            <a:pPr indent="0" marL="0">
              <a:buNone/>
            </a:pPr>
            <a:r>
              <a:rPr lang="en-US" sz="2200" b="1" dirty="0">
                <a:solidFill>
                  <a:schemeClr val="accent1"/>
                </a:solidFill>
              </a:rPr>
              <a:t>OGD</a:t>
            </a:r>
            <a:endParaRPr lang="en-US" sz="2200" dirty="0"/>
          </a:p>
        </p:txBody>
      </p:sp>
      <p:sp>
        <p:nvSpPr>
          <p:cNvPr id="9" name="Text 7"/>
          <p:cNvSpPr txBox="1"/>
          <p:nvPr/>
        </p:nvSpPr>
        <p:spPr>
          <a:xfrm>
            <a:off x="4617720" y="2331720"/>
            <a:ext cx="2926080" cy="1463040"/>
          </a:xfrm>
          <a:prstGeom prst="rect">
            <a:avLst/>
          </a:prstGeom>
          <a:noFill/>
          <a:ln/>
        </p:spPr>
        <p:txBody>
          <a:bodyPr wrap="square" lIns="0" tIns="0" rIns="0" bIns="0" rtlCol="0" anchor="ctr"/>
          <a:lstStyle/>
          <a:p>
            <a:pPr indent="0" marL="0">
              <a:buNone/>
            </a:pPr>
            <a:r>
              <a:rPr lang="en-US" sz="1400" dirty="0">
                <a:solidFill>
                  <a:schemeClr val="tx1"/>
                </a:solidFill>
              </a:rPr>
              <a:t>Gradient step, then project</a:t>
            </a:r>
            <a:endParaRPr lang="en-US" sz="1400" dirty="0"/>
          </a:p>
          <a:p>
            <a:pPr indent="0" marL="0">
              <a:buNone/>
            </a:pPr>
            <a:r>
              <a:rPr lang="en-US" sz="1400" dirty="0">
                <a:solidFill>
                  <a:schemeClr val="tx1"/>
                </a:solidFill>
              </a:rPr>
              <a:t>back onto the simplex.</a:t>
            </a:r>
            <a:endParaRPr lang="en-US" sz="1400" dirty="0"/>
          </a:p>
          <a:p>
            <a:pPr indent="0" marL="0">
              <a:buNone/>
            </a:pPr>
            <a:r>
              <a:rPr lang="en-US" sz="1400" dirty="0">
                <a:solidFill>
                  <a:schemeClr val="tx1"/>
                </a:solidFill>
              </a:rPr>
              <a:t>η multiplies one gradient.</a:t>
            </a:r>
            <a:endParaRPr lang="en-US" sz="1400" dirty="0"/>
          </a:p>
        </p:txBody>
      </p:sp>
      <p:sp>
        <p:nvSpPr>
          <p:cNvPr id="10" name="Text 8"/>
          <p:cNvSpPr txBox="1"/>
          <p:nvPr/>
        </p:nvSpPr>
        <p:spPr>
          <a:xfrm>
            <a:off x="4617720" y="3931920"/>
            <a:ext cx="2926080" cy="457200"/>
          </a:xfrm>
          <a:prstGeom prst="rect">
            <a:avLst/>
          </a:prstGeom>
          <a:noFill/>
          <a:ln/>
        </p:spPr>
        <p:txBody>
          <a:bodyPr wrap="square" lIns="0" tIns="0" rIns="0" bIns="0" rtlCol="0" anchor="ctr"/>
          <a:lstStyle/>
          <a:p>
            <a:pPr indent="0" marL="0">
              <a:buNone/>
            </a:pPr>
            <a:r>
              <a:rPr lang="en-US" sz="1500" b="1" dirty="0">
                <a:solidFill>
                  <a:schemeClr val="tx2"/>
                </a:solidFill>
              </a:rPr>
              <a:t>O(√T)</a:t>
            </a:r>
            <a:endParaRPr lang="en-US" sz="1500" dirty="0"/>
          </a:p>
        </p:txBody>
      </p:sp>
      <p:sp>
        <p:nvSpPr>
          <p:cNvPr id="11" name="algo-2"/>
          <p:cNvSpPr/>
          <p:nvPr/>
        </p:nvSpPr>
        <p:spPr>
          <a:xfrm>
            <a:off x="8046720" y="1554480"/>
            <a:ext cx="3429000" cy="3108960"/>
          </a:xfrm>
          <a:prstGeom prst="roundRect">
            <a:avLst>
              <a:gd name="adj" fmla="val 2353"/>
            </a:avLst>
          </a:prstGeom>
          <a:solidFill>
            <a:srgbClr val="F2F5F9"/>
          </a:solidFill>
          <a:ln w="12700">
            <a:solidFill>
              <a:srgbClr val="E2E8F0"/>
            </a:solidFill>
            <a:prstDash val="solid"/>
          </a:ln>
        </p:spPr>
      </p:sp>
      <p:sp>
        <p:nvSpPr>
          <p:cNvPr id="12" name="Text 10"/>
          <p:cNvSpPr txBox="1"/>
          <p:nvPr/>
        </p:nvSpPr>
        <p:spPr>
          <a:xfrm>
            <a:off x="8321040" y="1783080"/>
            <a:ext cx="2926080" cy="457200"/>
          </a:xfrm>
          <a:prstGeom prst="rect">
            <a:avLst/>
          </a:prstGeom>
          <a:noFill/>
          <a:ln/>
        </p:spPr>
        <p:txBody>
          <a:bodyPr wrap="square" lIns="0" tIns="0" rIns="0" bIns="0" rtlCol="0" anchor="ctr"/>
          <a:lstStyle/>
          <a:p>
            <a:pPr indent="0" marL="0">
              <a:buNone/>
            </a:pPr>
            <a:r>
              <a:rPr lang="en-US" sz="2200" b="1" dirty="0">
                <a:solidFill>
                  <a:schemeClr val="accent1"/>
                </a:solidFill>
              </a:rPr>
              <a:t>FTRL</a:t>
            </a:r>
            <a:endParaRPr lang="en-US" sz="2200" dirty="0"/>
          </a:p>
        </p:txBody>
      </p:sp>
      <p:sp>
        <p:nvSpPr>
          <p:cNvPr id="13" name="Text 11"/>
          <p:cNvSpPr txBox="1"/>
          <p:nvPr/>
        </p:nvSpPr>
        <p:spPr>
          <a:xfrm>
            <a:off x="8321040" y="2331720"/>
            <a:ext cx="2926080" cy="1463040"/>
          </a:xfrm>
          <a:prstGeom prst="rect">
            <a:avLst/>
          </a:prstGeom>
          <a:noFill/>
          <a:ln/>
        </p:spPr>
        <p:txBody>
          <a:bodyPr wrap="square" lIns="0" tIns="0" rIns="0" bIns="0" rtlCol="0" anchor="ctr"/>
          <a:lstStyle/>
          <a:p>
            <a:pPr indent="0" marL="0">
              <a:buNone/>
            </a:pPr>
            <a:r>
              <a:rPr lang="en-US" sz="1400" dirty="0">
                <a:solidFill>
                  <a:schemeClr val="tx1"/>
                </a:solidFill>
              </a:rPr>
              <a:t>Re-derives weights from the</a:t>
            </a:r>
            <a:endParaRPr lang="en-US" sz="1400" dirty="0"/>
          </a:p>
          <a:p>
            <a:pPr indent="0" marL="0">
              <a:buNone/>
            </a:pPr>
            <a:r>
              <a:rPr lang="en-US" sz="1400" dirty="0">
                <a:solidFill>
                  <a:schemeClr val="tx1"/>
                </a:solidFill>
              </a:rPr>
              <a:t>WHOLE accumulated loss.</a:t>
            </a:r>
            <a:endParaRPr lang="en-US" sz="1400" dirty="0"/>
          </a:p>
          <a:p>
            <a:pPr indent="0" marL="0">
              <a:buNone/>
            </a:pPr>
            <a:r>
              <a:rPr lang="en-US" sz="1400" dirty="0">
                <a:solidFill>
                  <a:schemeClr val="tx1"/>
                </a:solidFill>
              </a:rPr>
              <a:t>η multiplies all of it.</a:t>
            </a:r>
            <a:endParaRPr lang="en-US" sz="1400" dirty="0"/>
          </a:p>
        </p:txBody>
      </p:sp>
      <p:sp>
        <p:nvSpPr>
          <p:cNvPr id="14" name="Text 12"/>
          <p:cNvSpPr txBox="1"/>
          <p:nvPr/>
        </p:nvSpPr>
        <p:spPr>
          <a:xfrm>
            <a:off x="8321040" y="3931920"/>
            <a:ext cx="2926080" cy="457200"/>
          </a:xfrm>
          <a:prstGeom prst="rect">
            <a:avLst/>
          </a:prstGeom>
          <a:noFill/>
          <a:ln/>
        </p:spPr>
        <p:txBody>
          <a:bodyPr wrap="square" lIns="0" tIns="0" rIns="0" bIns="0" rtlCol="0" anchor="ctr"/>
          <a:lstStyle/>
          <a:p>
            <a:pPr indent="0" marL="0">
              <a:buNone/>
            </a:pPr>
            <a:r>
              <a:rPr lang="en-US" sz="1500" b="1" dirty="0">
                <a:solidFill>
                  <a:schemeClr val="tx2"/>
                </a:solidFill>
              </a:rPr>
              <a:t>O(√T)</a:t>
            </a:r>
            <a:endParaRPr lang="en-US" sz="1500" dirty="0"/>
          </a:p>
        </p:txBody>
      </p:sp>
      <p:sp>
        <p:nvSpPr>
          <p:cNvPr id="15" name="Text 13"/>
          <p:cNvSpPr txBox="1"/>
          <p:nvPr/>
        </p:nvSpPr>
        <p:spPr>
          <a:xfrm>
            <a:off x="640080" y="4937760"/>
            <a:ext cx="10881360" cy="822960"/>
          </a:xfrm>
          <a:prstGeom prst="rect">
            <a:avLst/>
          </a:prstGeom>
          <a:noFill/>
          <a:ln/>
        </p:spPr>
        <p:txBody>
          <a:bodyPr wrap="square" rtlCol="0" anchor="ctr"/>
          <a:lstStyle/>
          <a:p>
            <a:pPr indent="0" marL="0">
              <a:buNone/>
            </a:pPr>
            <a:r>
              <a:rPr lang="en-US" sz="1500" dirty="0">
                <a:solidFill>
                  <a:schemeClr val="tx1"/>
                </a:solidFill>
              </a:rPr>
              <a:t>The difference in where η sits is not cosmetic: it is why the three need step sizes tuned in opposite directions, and why only one of them prefers a step that never decays.</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From odds to probabilities</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Published odds imply probabilities that sum to more than one. The excess is the bookmaker's margin.</a:t>
            </a:r>
            <a:endParaRPr lang="en-US" sz="1600" dirty="0"/>
          </a:p>
        </p:txBody>
      </p:sp>
      <p:sp>
        <p:nvSpPr>
          <p:cNvPr id="4" name="devig-0"/>
          <p:cNvSpPr/>
          <p:nvPr/>
        </p:nvSpPr>
        <p:spPr>
          <a:xfrm>
            <a:off x="640080" y="1920240"/>
            <a:ext cx="5212080" cy="2011680"/>
          </a:xfrm>
          <a:prstGeom prst="roundRect">
            <a:avLst>
              <a:gd name="adj" fmla="val 3636"/>
            </a:avLst>
          </a:prstGeom>
          <a:solidFill>
            <a:srgbClr val="F2F5F9"/>
          </a:solidFill>
          <a:ln w="12700">
            <a:solidFill>
              <a:srgbClr val="E2E8F0"/>
            </a:solidFill>
            <a:prstDash val="solid"/>
          </a:ln>
        </p:spPr>
      </p:sp>
      <p:sp>
        <p:nvSpPr>
          <p:cNvPr id="5" name="Text 3"/>
          <p:cNvSpPr txBox="1"/>
          <p:nvPr/>
        </p:nvSpPr>
        <p:spPr>
          <a:xfrm>
            <a:off x="960120" y="2148840"/>
            <a:ext cx="4572000" cy="411480"/>
          </a:xfrm>
          <a:prstGeom prst="rect">
            <a:avLst/>
          </a:prstGeom>
          <a:noFill/>
          <a:ln/>
        </p:spPr>
        <p:txBody>
          <a:bodyPr wrap="square" lIns="0" tIns="0" rIns="0" bIns="0" rtlCol="0" anchor="ctr"/>
          <a:lstStyle/>
          <a:p>
            <a:pPr indent="0" marL="0">
              <a:buNone/>
            </a:pPr>
            <a:r>
              <a:rPr lang="en-US" sz="1900" b="1" dirty="0">
                <a:solidFill>
                  <a:schemeClr val="accent1"/>
                </a:solidFill>
              </a:rPr>
              <a:t>Proportional</a:t>
            </a:r>
            <a:endParaRPr lang="en-US" sz="1900" dirty="0"/>
          </a:p>
        </p:txBody>
      </p:sp>
      <p:sp>
        <p:nvSpPr>
          <p:cNvPr id="6" name="Text 4"/>
          <p:cNvSpPr txBox="1"/>
          <p:nvPr/>
        </p:nvSpPr>
        <p:spPr>
          <a:xfrm>
            <a:off x="960120" y="2606040"/>
            <a:ext cx="4572000" cy="1188720"/>
          </a:xfrm>
          <a:prstGeom prst="rect">
            <a:avLst/>
          </a:prstGeom>
          <a:noFill/>
          <a:ln/>
        </p:spPr>
        <p:txBody>
          <a:bodyPr wrap="square" lIns="0" tIns="0" rIns="0" bIns="0" rtlCol="0" anchor="ctr"/>
          <a:lstStyle/>
          <a:p>
            <a:pPr indent="0" marL="0">
              <a:buNone/>
            </a:pPr>
            <a:r>
              <a:rPr lang="en-US" sz="1400" dirty="0">
                <a:solidFill>
                  <a:schemeClr val="tx1"/>
                </a:solidFill>
              </a:rPr>
              <a:t>Divide by the sum. Treats the margin as a flat tax on every outcome.</a:t>
            </a:r>
            <a:endParaRPr lang="en-US" sz="1400" dirty="0"/>
          </a:p>
        </p:txBody>
      </p:sp>
      <p:sp>
        <p:nvSpPr>
          <p:cNvPr id="7" name="devig-1"/>
          <p:cNvSpPr/>
          <p:nvPr/>
        </p:nvSpPr>
        <p:spPr>
          <a:xfrm>
            <a:off x="6217920" y="1920240"/>
            <a:ext cx="5212080" cy="2011680"/>
          </a:xfrm>
          <a:prstGeom prst="roundRect">
            <a:avLst>
              <a:gd name="adj" fmla="val 3636"/>
            </a:avLst>
          </a:prstGeom>
          <a:solidFill>
            <a:srgbClr val="F2F5F9"/>
          </a:solidFill>
          <a:ln w="12700">
            <a:solidFill>
              <a:srgbClr val="E2E8F0"/>
            </a:solidFill>
            <a:prstDash val="solid"/>
          </a:ln>
        </p:spPr>
      </p:sp>
      <p:sp>
        <p:nvSpPr>
          <p:cNvPr id="8" name="Text 6"/>
          <p:cNvSpPr txBox="1"/>
          <p:nvPr/>
        </p:nvSpPr>
        <p:spPr>
          <a:xfrm>
            <a:off x="6537960" y="2148840"/>
            <a:ext cx="4572000" cy="411480"/>
          </a:xfrm>
          <a:prstGeom prst="rect">
            <a:avLst/>
          </a:prstGeom>
          <a:noFill/>
          <a:ln/>
        </p:spPr>
        <p:txBody>
          <a:bodyPr wrap="square" lIns="0" tIns="0" rIns="0" bIns="0" rtlCol="0" anchor="ctr"/>
          <a:lstStyle/>
          <a:p>
            <a:pPr indent="0" marL="0">
              <a:buNone/>
            </a:pPr>
            <a:r>
              <a:rPr lang="en-US" sz="1900" b="1" dirty="0">
                <a:solidFill>
                  <a:schemeClr val="accent2"/>
                </a:solidFill>
              </a:rPr>
              <a:t>Shin</a:t>
            </a:r>
            <a:endParaRPr lang="en-US" sz="1900" dirty="0"/>
          </a:p>
        </p:txBody>
      </p:sp>
      <p:sp>
        <p:nvSpPr>
          <p:cNvPr id="9" name="Text 7"/>
          <p:cNvSpPr txBox="1"/>
          <p:nvPr/>
        </p:nvSpPr>
        <p:spPr>
          <a:xfrm>
            <a:off x="6537960" y="2606040"/>
            <a:ext cx="4572000" cy="1188720"/>
          </a:xfrm>
          <a:prstGeom prst="rect">
            <a:avLst/>
          </a:prstGeom>
          <a:noFill/>
          <a:ln/>
        </p:spPr>
        <p:txBody>
          <a:bodyPr wrap="square" lIns="0" tIns="0" rIns="0" bIns="0" rtlCol="0" anchor="ctr"/>
          <a:lstStyle/>
          <a:p>
            <a:pPr indent="0" marL="0">
              <a:buNone/>
            </a:pPr>
            <a:r>
              <a:rPr lang="en-US" sz="1400" dirty="0">
                <a:solidFill>
                  <a:schemeClr val="tx1"/>
                </a:solidFill>
              </a:rPr>
              <a:t>Models the margin as protection against informed bettors. The parameter z IS the estimated share of informed money.</a:t>
            </a:r>
            <a:endParaRPr lang="en-US" sz="1400" dirty="0"/>
          </a:p>
        </p:txBody>
      </p:sp>
      <p:sp>
        <p:nvSpPr>
          <p:cNvPr id="10" name="Text 8"/>
          <p:cNvSpPr txBox="1"/>
          <p:nvPr/>
        </p:nvSpPr>
        <p:spPr>
          <a:xfrm>
            <a:off x="640080" y="4206240"/>
            <a:ext cx="10881360" cy="822960"/>
          </a:xfrm>
          <a:prstGeom prst="rect">
            <a:avLst/>
          </a:prstGeom>
          <a:noFill/>
          <a:ln/>
        </p:spPr>
        <p:txBody>
          <a:bodyPr wrap="square" rtlCol="0" anchor="ctr"/>
          <a:lstStyle/>
          <a:p>
            <a:pPr indent="0" marL="0">
              <a:buNone/>
            </a:pPr>
            <a:r>
              <a:rPr lang="en-US" sz="1500" dirty="0">
                <a:solidFill>
                  <a:schemeClr val="tx1"/>
                </a:solidFill>
              </a:rPr>
              <a:t>Both are carried through the whole pipeline, so no result rests on one choice. Shin adds nothing measurable once calibration is in place (the two correct the same bias).</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Theory that earns its place makes a prediction you can lose</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Microstructure (Kyle; Glosten–Milgrom; Shin) says the margin is protection against informed traders, and that price movement is how private information becomes public. It follows that closing prices should beat opening ones MORE where the line actually moved. That is testable, and §7 tests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nchor="ctr"/>
          <a:lstStyle/>
          <a:p>
            <a:pPr algn="l" indent="0" marL="0">
              <a:buNone/>
            </a:pPr>
            <a:r>
              <a:rPr lang="en-US" sz="6800" b="1" dirty="0">
                <a:solidFill>
                  <a:srgbClr val="6FA3D6"/>
                </a:solidFill>
              </a:rPr>
              <a:t>02</a:t>
            </a: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nchor="ctr"/>
          <a:lstStyle/>
          <a:p>
            <a:pPr algn="l" indent="0" marL="0">
              <a:buNone/>
            </a:pPr>
            <a:r>
              <a:rPr lang="en-US" sz="3600" b="1" dirty="0">
                <a:solidFill>
                  <a:schemeClr val="bg1"/>
                </a:solidFill>
              </a:rPr>
              <a:t>Three OCO stages</a:t>
            </a: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nchor="t"/>
          <a:lstStyle/>
          <a:p>
            <a:pPr algn="l" indent="0" marL="0">
              <a:buNone/>
            </a:pPr>
            <a:r>
              <a:rPr lang="en-US" sz="1600" dirty="0">
                <a:solidFill>
                  <a:srgbClr val="CBD5E1"/>
                </a:solidFill>
              </a:rPr>
              <a:t>From published odds to a bet, with every step online and causal</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same recipe, three different unknowns</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5448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Weighting</a:t>
            </a:r>
            <a:endParaRPr lang="en-US" sz="2000" dirty="0"/>
          </a:p>
        </p:txBody>
      </p:sp>
      <p:sp>
        <p:nvSpPr>
          <p:cNvPr id="6" name="Text 4"/>
          <p:cNvSpPr txBox="1"/>
          <p:nvPr/>
        </p:nvSpPr>
        <p:spPr>
          <a:xfrm>
            <a:off x="3931920" y="1554480"/>
            <a:ext cx="2743200" cy="457200"/>
          </a:xfrm>
          <a:prstGeom prst="rect">
            <a:avLst/>
          </a:prstGeom>
          <a:noFill/>
          <a:ln/>
        </p:spPr>
        <p:txBody>
          <a:bodyPr wrap="square" lIns="0" tIns="0" rIns="0" bIns="0" rtlCol="0" anchor="ctr"/>
          <a:lstStyle/>
          <a:p>
            <a:pPr indent="0" marL="0">
              <a:buNone/>
            </a:pPr>
            <a:r>
              <a:rPr lang="en-US" sz="1600" i="1" dirty="0">
                <a:solidFill>
                  <a:schemeClr val="accent1"/>
                </a:solidFill>
              </a:rPr>
              <a:t>the weight vector w</a:t>
            </a:r>
            <a:endParaRPr lang="en-US" sz="1600" dirty="0"/>
          </a:p>
        </p:txBody>
      </p:sp>
      <p:sp>
        <p:nvSpPr>
          <p:cNvPr id="7" name="Text 5"/>
          <p:cNvSpPr txBox="1"/>
          <p:nvPr/>
        </p:nvSpPr>
        <p:spPr>
          <a:xfrm>
            <a:off x="6858000" y="1554480"/>
            <a:ext cx="4663440" cy="822960"/>
          </a:xfrm>
          <a:prstGeom prst="rect">
            <a:avLst/>
          </a:prstGeom>
          <a:noFill/>
          <a:ln/>
        </p:spPr>
        <p:txBody>
          <a:bodyPr wrap="square" lIns="0" tIns="0" rIns="0" bIns="0" rtlCol="0" anchor="ctr"/>
          <a:lstStyle/>
          <a:p>
            <a:pPr indent="0" marL="0">
              <a:buNone/>
            </a:pPr>
            <a:r>
              <a:rPr lang="en-US" sz="1400" dirty="0">
                <a:solidFill>
                  <a:schemeClr val="accent5"/>
                </a:solidFill>
              </a:rPr>
              <a:t>Hedge / OGD / FTRL over the awake experts</a:t>
            </a:r>
            <a:endParaRPr lang="en-US" sz="1400" dirty="0"/>
          </a:p>
        </p:txBody>
      </p:sp>
      <p:sp>
        <p:nvSpPr>
          <p:cNvPr id="8" name="circle-2"/>
          <p:cNvSpPr/>
          <p:nvPr/>
        </p:nvSpPr>
        <p:spPr>
          <a:xfrm>
            <a:off x="640080" y="3108960"/>
            <a:ext cx="566928" cy="566928"/>
          </a:xfrm>
          <a:prstGeom prst="ellipse">
            <a:avLst/>
          </a:prstGeom>
          <a:solidFill>
            <a:schemeClr val="accent1"/>
          </a:solidFill>
          <a:ln/>
        </p:spPr>
      </p:sp>
      <p:sp>
        <p:nvSpPr>
          <p:cNvPr id="9" name="Text 7"/>
          <p:cNvSpPr txBox="1"/>
          <p:nvPr/>
        </p:nvSpPr>
        <p:spPr>
          <a:xfrm>
            <a:off x="64008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508760" y="29718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Calibration</a:t>
            </a:r>
            <a:endParaRPr lang="en-US" sz="2000" dirty="0"/>
          </a:p>
        </p:txBody>
      </p:sp>
      <p:sp>
        <p:nvSpPr>
          <p:cNvPr id="11" name="Text 9"/>
          <p:cNvSpPr txBox="1"/>
          <p:nvPr/>
        </p:nvSpPr>
        <p:spPr>
          <a:xfrm>
            <a:off x="3931920" y="2971800"/>
            <a:ext cx="2743200" cy="457200"/>
          </a:xfrm>
          <a:prstGeom prst="rect">
            <a:avLst/>
          </a:prstGeom>
          <a:noFill/>
          <a:ln/>
        </p:spPr>
        <p:txBody>
          <a:bodyPr wrap="square" lIns="0" tIns="0" rIns="0" bIns="0" rtlCol="0" anchor="ctr"/>
          <a:lstStyle/>
          <a:p>
            <a:pPr indent="0" marL="0">
              <a:buNone/>
            </a:pPr>
            <a:r>
              <a:rPr lang="en-US" sz="1600" i="1" dirty="0">
                <a:solidFill>
                  <a:schemeClr val="accent1"/>
                </a:solidFill>
              </a:rPr>
              <a:t>the temperature s</a:t>
            </a:r>
            <a:endParaRPr lang="en-US" sz="1600" dirty="0"/>
          </a:p>
        </p:txBody>
      </p:sp>
      <p:sp>
        <p:nvSpPr>
          <p:cNvPr id="12" name="Text 10"/>
          <p:cNvSpPr txBox="1"/>
          <p:nvPr/>
        </p:nvSpPr>
        <p:spPr>
          <a:xfrm>
            <a:off x="6858000" y="2971800"/>
            <a:ext cx="4663440" cy="822960"/>
          </a:xfrm>
          <a:prstGeom prst="rect">
            <a:avLst/>
          </a:prstGeom>
          <a:noFill/>
          <a:ln/>
        </p:spPr>
        <p:txBody>
          <a:bodyPr wrap="square" lIns="0" tIns="0" rIns="0" bIns="0" rtlCol="0" anchor="ctr"/>
          <a:lstStyle/>
          <a:p>
            <a:pPr indent="0" marL="0">
              <a:buNone/>
            </a:pPr>
            <a:r>
              <a:rPr lang="en-US" sz="1400" dirty="0">
                <a:solidFill>
                  <a:schemeClr val="accent5"/>
                </a:solidFill>
              </a:rPr>
              <a:t>Online temperature scaling; the loss is convex in s</a:t>
            </a:r>
            <a:endParaRPr lang="en-US" sz="1400" dirty="0"/>
          </a:p>
        </p:txBody>
      </p:sp>
      <p:sp>
        <p:nvSpPr>
          <p:cNvPr id="13" name="circle-3"/>
          <p:cNvSpPr/>
          <p:nvPr/>
        </p:nvSpPr>
        <p:spPr>
          <a:xfrm>
            <a:off x="640080" y="4526280"/>
            <a:ext cx="566928" cy="566928"/>
          </a:xfrm>
          <a:prstGeom prst="ellipse">
            <a:avLst/>
          </a:prstGeom>
          <a:solidFill>
            <a:schemeClr val="accent3"/>
          </a:solidFill>
          <a:ln/>
        </p:spPr>
      </p:sp>
      <p:sp>
        <p:nvSpPr>
          <p:cNvPr id="14" name="Text 12"/>
          <p:cNvSpPr txBox="1"/>
          <p:nvPr/>
        </p:nvSpPr>
        <p:spPr>
          <a:xfrm>
            <a:off x="640080" y="4526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5" name="Text 13"/>
          <p:cNvSpPr txBox="1"/>
          <p:nvPr/>
        </p:nvSpPr>
        <p:spPr>
          <a:xfrm>
            <a:off x="1508760" y="438912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Stake size</a:t>
            </a:r>
            <a:endParaRPr lang="en-US" sz="2000" dirty="0"/>
          </a:p>
        </p:txBody>
      </p:sp>
      <p:sp>
        <p:nvSpPr>
          <p:cNvPr id="16" name="Text 14"/>
          <p:cNvSpPr txBox="1"/>
          <p:nvPr/>
        </p:nvSpPr>
        <p:spPr>
          <a:xfrm>
            <a:off x="3931920" y="4389120"/>
            <a:ext cx="2743200" cy="457200"/>
          </a:xfrm>
          <a:prstGeom prst="rect">
            <a:avLst/>
          </a:prstGeom>
          <a:noFill/>
          <a:ln/>
        </p:spPr>
        <p:txBody>
          <a:bodyPr wrap="square" lIns="0" tIns="0" rIns="0" bIns="0" rtlCol="0" anchor="ctr"/>
          <a:lstStyle/>
          <a:p>
            <a:pPr indent="0" marL="0">
              <a:buNone/>
            </a:pPr>
            <a:r>
              <a:rPr lang="en-US" sz="1600" i="1" dirty="0">
                <a:solidFill>
                  <a:schemeClr val="accent3"/>
                </a:solidFill>
              </a:rPr>
              <a:t>the Kelly multiplier λ</a:t>
            </a:r>
            <a:endParaRPr lang="en-US" sz="1600" dirty="0"/>
          </a:p>
        </p:txBody>
      </p:sp>
      <p:sp>
        <p:nvSpPr>
          <p:cNvPr id="17" name="Text 15"/>
          <p:cNvSpPr txBox="1"/>
          <p:nvPr/>
        </p:nvSpPr>
        <p:spPr>
          <a:xfrm>
            <a:off x="6858000" y="4389120"/>
            <a:ext cx="4663440" cy="822960"/>
          </a:xfrm>
          <a:prstGeom prst="rect">
            <a:avLst/>
          </a:prstGeom>
          <a:noFill/>
          <a:ln/>
        </p:spPr>
        <p:txBody>
          <a:bodyPr wrap="square" lIns="0" tIns="0" rIns="0" bIns="0" rtlCol="0" anchor="ctr"/>
          <a:lstStyle/>
          <a:p>
            <a:pPr indent="0" marL="0">
              <a:buNone/>
            </a:pPr>
            <a:r>
              <a:rPr lang="en-US" sz="1400" dirty="0">
                <a:solidFill>
                  <a:schemeClr val="accent5"/>
                </a:solidFill>
              </a:rPr>
              <a:t>Online Newton Step; the loss is exp-concave in λ</a:t>
            </a:r>
            <a:endParaRPr lang="en-US" sz="1400" dirty="0"/>
          </a:p>
        </p:txBody>
      </p:sp>
      <p:sp>
        <p:nvSpPr>
          <p:cNvPr id="18" name="Text 16"/>
          <p:cNvSpPr txBox="1"/>
          <p:nvPr/>
        </p:nvSpPr>
        <p:spPr>
          <a:xfrm>
            <a:off x="640080" y="5577840"/>
            <a:ext cx="10881360" cy="640080"/>
          </a:xfrm>
          <a:prstGeom prst="rect">
            <a:avLst/>
          </a:prstGeom>
          <a:noFill/>
          <a:ln/>
        </p:spPr>
        <p:txBody>
          <a:bodyPr wrap="square" rtlCol="0" anchor="ctr"/>
          <a:lstStyle/>
          <a:p>
            <a:pPr indent="0" marL="0">
              <a:buNone/>
            </a:pPr>
            <a:r>
              <a:rPr lang="en-US" sz="1500" dirty="0">
                <a:solidFill>
                  <a:schemeClr val="tx1"/>
                </a:solidFill>
              </a:rPr>
              <a:t>Convex loss, causal update, projection onto the feasible set. Only the unknown changes, and with it, which algorithm is the right one.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Stage 3: what you learn decides whether it works</a:t>
            </a:r>
            <a:endParaRPr lang="en-US" sz="3000" dirty="0"/>
          </a:p>
        </p:txBody>
      </p:sp>
      <p:sp>
        <p:nvSpPr>
          <p:cNvPr id="3" name="kelly-0"/>
          <p:cNvSpPr/>
          <p:nvPr/>
        </p:nvSpPr>
        <p:spPr>
          <a:xfrm>
            <a:off x="640080" y="1508760"/>
            <a:ext cx="10881360" cy="2057400"/>
          </a:xfrm>
          <a:prstGeom prst="roundRect">
            <a:avLst>
              <a:gd name="adj" fmla="val 3556"/>
            </a:avLst>
          </a:prstGeom>
          <a:solidFill>
            <a:srgbClr val="FBF0F0"/>
          </a:solidFill>
          <a:ln w="12700">
            <a:solidFill>
              <a:srgbClr val="E2E8F0"/>
            </a:solidFill>
            <a:prstDash val="solid"/>
          </a:ln>
        </p:spPr>
      </p:sp>
      <p:sp>
        <p:nvSpPr>
          <p:cNvPr id="4" name="Text 2"/>
          <p:cNvSpPr txBox="1"/>
          <p:nvPr/>
        </p:nvSpPr>
        <p:spPr>
          <a:xfrm>
            <a:off x="960120" y="1691640"/>
            <a:ext cx="6400800" cy="411480"/>
          </a:xfrm>
          <a:prstGeom prst="rect">
            <a:avLst/>
          </a:prstGeom>
          <a:noFill/>
          <a:ln/>
        </p:spPr>
        <p:txBody>
          <a:bodyPr wrap="square" lIns="0" tIns="0" rIns="0" bIns="0" rtlCol="0" anchor="ctr"/>
          <a:lstStyle/>
          <a:p>
            <a:pPr indent="0" marL="0">
              <a:buNone/>
            </a:pPr>
            <a:r>
              <a:rPr lang="en-US" sz="1800" b="1" dirty="0">
                <a:solidFill>
                  <a:schemeClr val="accent2"/>
                </a:solidFill>
              </a:rPr>
              <a:t>Learn the stake f directly</a:t>
            </a:r>
            <a:endParaRPr lang="en-US" sz="1800" dirty="0"/>
          </a:p>
        </p:txBody>
      </p:sp>
      <p:sp>
        <p:nvSpPr>
          <p:cNvPr id="5" name="Text 3"/>
          <p:cNvSpPr txBox="1"/>
          <p:nvPr/>
        </p:nvSpPr>
        <p:spPr>
          <a:xfrm>
            <a:off x="7315200" y="1691640"/>
            <a:ext cx="3840480" cy="411480"/>
          </a:xfrm>
          <a:prstGeom prst="rect">
            <a:avLst/>
          </a:prstGeom>
          <a:noFill/>
          <a:ln/>
        </p:spPr>
        <p:txBody>
          <a:bodyPr wrap="square" lIns="0" tIns="0" rIns="0" bIns="0" rtlCol="0" anchor="ctr"/>
          <a:lstStyle/>
          <a:p>
            <a:pPr algn="r" indent="0" marL="0">
              <a:buNone/>
            </a:pPr>
            <a:r>
              <a:rPr lang="en-US" sz="1500" b="1" dirty="0">
                <a:solidFill>
                  <a:schemeClr val="tx2"/>
                </a:solidFill>
              </a:rPr>
              <a:t>Lost 9 of 20 paired comparisons, with zero wins.</a:t>
            </a:r>
            <a:endParaRPr lang="en-US" sz="1500" dirty="0"/>
          </a:p>
        </p:txBody>
      </p:sp>
      <p:sp>
        <p:nvSpPr>
          <p:cNvPr id="6" name="Text 4"/>
          <p:cNvSpPr txBox="1"/>
          <p:nvPr/>
        </p:nvSpPr>
        <p:spPr>
          <a:xfrm>
            <a:off x="960120" y="2194560"/>
            <a:ext cx="10241280" cy="1188720"/>
          </a:xfrm>
          <a:prstGeom prst="rect">
            <a:avLst/>
          </a:prstGeom>
          <a:noFill/>
          <a:ln/>
        </p:spPr>
        <p:txBody>
          <a:bodyPr wrap="square" lIns="0" tIns="0" rIns="0" bIns="0" rtlCol="0" anchor="ctr"/>
          <a:lstStyle/>
          <a:p>
            <a:pPr indent="0" marL="0">
              <a:buNone/>
            </a:pPr>
            <a:r>
              <a:rPr lang="en-US" sz="1400" dirty="0">
                <a:solidFill>
                  <a:schemeClr val="tx1"/>
                </a:solidFill>
              </a:rPr>
              <a:t>The comparator "best constant f" does not contain the closed-form Kelly rule at all: that rule produces a different f every round. It also throws away the probability the first two stages exist to produce.</a:t>
            </a:r>
            <a:endParaRPr lang="en-US" sz="1400" dirty="0"/>
          </a:p>
        </p:txBody>
      </p:sp>
      <p:sp>
        <p:nvSpPr>
          <p:cNvPr id="7" name="kelly-1"/>
          <p:cNvSpPr/>
          <p:nvPr/>
        </p:nvSpPr>
        <p:spPr>
          <a:xfrm>
            <a:off x="640080" y="3794760"/>
            <a:ext cx="10881360" cy="2057400"/>
          </a:xfrm>
          <a:prstGeom prst="roundRect">
            <a:avLst>
              <a:gd name="adj" fmla="val 3556"/>
            </a:avLst>
          </a:prstGeom>
          <a:solidFill>
            <a:srgbClr val="EEF6F1"/>
          </a:solidFill>
          <a:ln w="12700">
            <a:solidFill>
              <a:srgbClr val="E2E8F0"/>
            </a:solidFill>
            <a:prstDash val="solid"/>
          </a:ln>
        </p:spPr>
      </p:sp>
      <p:sp>
        <p:nvSpPr>
          <p:cNvPr id="8" name="Text 6"/>
          <p:cNvSpPr txBox="1"/>
          <p:nvPr/>
        </p:nvSpPr>
        <p:spPr>
          <a:xfrm>
            <a:off x="960120" y="3977640"/>
            <a:ext cx="6400800" cy="411480"/>
          </a:xfrm>
          <a:prstGeom prst="rect">
            <a:avLst/>
          </a:prstGeom>
          <a:noFill/>
          <a:ln/>
        </p:spPr>
        <p:txBody>
          <a:bodyPr wrap="square" lIns="0" tIns="0" rIns="0" bIns="0" rtlCol="0" anchor="ctr"/>
          <a:lstStyle/>
          <a:p>
            <a:pPr indent="0" marL="0">
              <a:buNone/>
            </a:pPr>
            <a:r>
              <a:rPr lang="en-US" sz="1800" b="1" dirty="0">
                <a:solidFill>
                  <a:schemeClr val="accent3"/>
                </a:solidFill>
              </a:rPr>
              <a:t>Learn the multiplier λ in f = λ·f*</a:t>
            </a:r>
            <a:endParaRPr lang="en-US" sz="1800" dirty="0"/>
          </a:p>
        </p:txBody>
      </p:sp>
      <p:sp>
        <p:nvSpPr>
          <p:cNvPr id="9" name="Text 7"/>
          <p:cNvSpPr txBox="1"/>
          <p:nvPr/>
        </p:nvSpPr>
        <p:spPr>
          <a:xfrm>
            <a:off x="7315200" y="3977640"/>
            <a:ext cx="3840480" cy="411480"/>
          </a:xfrm>
          <a:prstGeom prst="rect">
            <a:avLst/>
          </a:prstGeom>
          <a:noFill/>
          <a:ln/>
        </p:spPr>
        <p:txBody>
          <a:bodyPr wrap="square" lIns="0" tIns="0" rIns="0" bIns="0" rtlCol="0" anchor="ctr"/>
          <a:lstStyle/>
          <a:p>
            <a:pPr algn="r" indent="0" marL="0">
              <a:buNone/>
            </a:pPr>
            <a:r>
              <a:rPr lang="en-US" sz="1500" b="1" dirty="0">
                <a:solidFill>
                  <a:schemeClr val="tx2"/>
                </a:solidFill>
              </a:rPr>
              <a:t>Ties on closing targets, wins on opening ones.</a:t>
            </a:r>
            <a:endParaRPr lang="en-US" sz="1500" dirty="0"/>
          </a:p>
        </p:txBody>
      </p:sp>
      <p:sp>
        <p:nvSpPr>
          <p:cNvPr id="10" name="Text 8"/>
          <p:cNvSpPr txBox="1"/>
          <p:nvPr/>
        </p:nvSpPr>
        <p:spPr>
          <a:xfrm>
            <a:off x="960120" y="4480560"/>
            <a:ext cx="10241280" cy="1188720"/>
          </a:xfrm>
          <a:prstGeom prst="rect">
            <a:avLst/>
          </a:prstGeom>
          <a:noFill/>
          <a:ln/>
        </p:spPr>
        <p:txBody>
          <a:bodyPr wrap="square" lIns="0" tIns="0" rIns="0" bIns="0" rtlCol="0" anchor="ctr"/>
          <a:lstStyle/>
          <a:p>
            <a:pPr indent="0" marL="0">
              <a:buNone/>
            </a:pPr>
            <a:r>
              <a:rPr lang="en-US" sz="1400" dirty="0">
                <a:solidFill>
                  <a:schemeClr val="tx1"/>
                </a:solidFill>
              </a:rPr>
              <a:t>The round-specific information stays inside f*, and "best constant λ" is exactly the quantity the fixed ¼ pins down.</a:t>
            </a:r>
            <a:endParaRPr lang="en-US" sz="1400" dirty="0"/>
          </a:p>
        </p:txBody>
      </p:sp>
      <p:sp>
        <p:nvSpPr>
          <p:cNvPr id="11" name="Text 9"/>
          <p:cNvSpPr txBox="1"/>
          <p:nvPr/>
        </p:nvSpPr>
        <p:spPr>
          <a:xfrm>
            <a:off x="640080" y="6126480"/>
            <a:ext cx="10881360" cy="457200"/>
          </a:xfrm>
          <a:prstGeom prst="rect">
            <a:avLst/>
          </a:prstGeom>
          <a:noFill/>
          <a:ln/>
        </p:spPr>
        <p:txBody>
          <a:bodyPr wrap="square" rtlCol="0" anchor="ctr"/>
          <a:lstStyle/>
          <a:p>
            <a:pPr indent="0" marL="0">
              <a:buNone/>
            </a:pPr>
            <a:r>
              <a:rPr lang="en-US" sz="1500" i="1" dirty="0">
                <a:solidFill>
                  <a:schemeClr val="accent5"/>
                </a:solidFill>
              </a:rPr>
              <a:t>Same data, same test, same bets. Only the object of learning changed.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nchor="ctr"/>
          <a:lstStyle/>
          <a:p>
            <a:pPr algn="l" indent="0" marL="0">
              <a:buNone/>
            </a:pPr>
            <a:r>
              <a:rPr lang="en-US" sz="6800" b="1" dirty="0">
                <a:solidFill>
                  <a:srgbClr val="6FA3D6"/>
                </a:solidFill>
              </a:rPr>
              <a:t>03</a:t>
            </a: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nchor="ctr"/>
          <a:lstStyle/>
          <a:p>
            <a:pPr algn="l" indent="0" marL="0">
              <a:buNone/>
            </a:pPr>
            <a:r>
              <a:rPr lang="en-US" sz="3600" b="1" dirty="0">
                <a:solidFill>
                  <a:schemeClr val="bg1"/>
                </a:solidFill>
              </a:rPr>
              <a:t>Data and protocol</a:t>
            </a: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nchor="t"/>
          <a:lstStyle/>
          <a:p>
            <a:pPr algn="l" indent="0" marL="0">
              <a:buNone/>
            </a:pPr>
            <a:r>
              <a:rPr lang="en-US" sz="1600" dirty="0">
                <a:solidFill>
                  <a:srgbClr val="CBD5E1"/>
                </a:solidFill>
              </a:rPr>
              <a:t>What is measured, and the three rules that keep the measurement honest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rules, each one earned</a:t>
            </a:r>
            <a:endParaRPr lang="en-US" sz="3000" dirty="0"/>
          </a:p>
        </p:txBody>
      </p:sp>
      <p:sp>
        <p:nvSpPr>
          <p:cNvPr id="3" name="circle-1"/>
          <p:cNvSpPr/>
          <p:nvPr/>
        </p:nvSpPr>
        <p:spPr>
          <a:xfrm>
            <a:off x="640080" y="1600200"/>
            <a:ext cx="566928" cy="566928"/>
          </a:xfrm>
          <a:prstGeom prst="ellipse">
            <a:avLst/>
          </a:prstGeom>
          <a:solidFill>
            <a:schemeClr val="accent1"/>
          </a:solidFill>
          <a:ln/>
        </p:spPr>
      </p:sp>
      <p:sp>
        <p:nvSpPr>
          <p:cNvPr id="4" name="Text 2"/>
          <p:cNvSpPr txBox="1"/>
          <p:nvPr/>
        </p:nvSpPr>
        <p:spPr>
          <a:xfrm>
            <a:off x="640080" y="1600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08760"/>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Select on a chronological prefix</a:t>
            </a:r>
            <a:endParaRPr lang="en-US" sz="1800" dirty="0"/>
          </a:p>
        </p:txBody>
      </p:sp>
      <p:sp>
        <p:nvSpPr>
          <p:cNvPr id="6" name="Text 4"/>
          <p:cNvSpPr txBox="1"/>
          <p:nvPr/>
        </p:nvSpPr>
        <p:spPr>
          <a:xfrm>
            <a:off x="1508760" y="1947672"/>
            <a:ext cx="10058400" cy="960120"/>
          </a:xfrm>
          <a:prstGeom prst="rect">
            <a:avLst/>
          </a:prstGeom>
          <a:noFill/>
          <a:ln/>
        </p:spPr>
        <p:txBody>
          <a:bodyPr wrap="square" lIns="0" tIns="0" rIns="0" bIns="0" rtlCol="0" anchor="ctr"/>
          <a:lstStyle/>
          <a:p>
            <a:pPr indent="0" marL="0">
              <a:buNone/>
            </a:pPr>
            <a:r>
              <a:rPr lang="en-US" sz="1450" dirty="0">
                <a:solidFill>
                  <a:schemeClr val="accent5"/>
                </a:solidFill>
              </a:rPr>
              <a:t>Hyperparameters are chosen on the first 75% of rounds and the tail is reported. Selecting on the tail is selecting on the test set, and here the two criteria disagree.</a:t>
            </a:r>
            <a:endParaRPr lang="en-US" sz="1450" dirty="0"/>
          </a:p>
        </p:txBody>
      </p:sp>
      <p:sp>
        <p:nvSpPr>
          <p:cNvPr id="7" name="circle-2"/>
          <p:cNvSpPr/>
          <p:nvPr/>
        </p:nvSpPr>
        <p:spPr>
          <a:xfrm>
            <a:off x="640080" y="3172968"/>
            <a:ext cx="566928" cy="566928"/>
          </a:xfrm>
          <a:prstGeom prst="ellipse">
            <a:avLst/>
          </a:prstGeom>
          <a:solidFill>
            <a:schemeClr val="accent1"/>
          </a:solidFill>
          <a:ln/>
        </p:spPr>
      </p:sp>
      <p:sp>
        <p:nvSpPr>
          <p:cNvPr id="8" name="Text 6"/>
          <p:cNvSpPr txBox="1"/>
          <p:nvPr/>
        </p:nvSpPr>
        <p:spPr>
          <a:xfrm>
            <a:off x="640080" y="317296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081528"/>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Score on ONE common round set</a:t>
            </a:r>
            <a:endParaRPr lang="en-US" sz="1800" dirty="0"/>
          </a:p>
        </p:txBody>
      </p:sp>
      <p:sp>
        <p:nvSpPr>
          <p:cNvPr id="10" name="Text 8"/>
          <p:cNvSpPr txBox="1"/>
          <p:nvPr/>
        </p:nvSpPr>
        <p:spPr>
          <a:xfrm>
            <a:off x="1508760" y="3520440"/>
            <a:ext cx="10058400" cy="960120"/>
          </a:xfrm>
          <a:prstGeom prst="rect">
            <a:avLst/>
          </a:prstGeom>
          <a:noFill/>
          <a:ln/>
        </p:spPr>
        <p:txBody>
          <a:bodyPr wrap="square" lIns="0" tIns="0" rIns="0" bIns="0" rtlCol="0" anchor="ctr"/>
          <a:lstStyle/>
          <a:p>
            <a:pPr indent="0" marL="0">
              <a:buNone/>
            </a:pPr>
            <a:r>
              <a:rPr lang="en-US" sz="1450" dirty="0">
                <a:solidFill>
                  <a:schemeClr val="accent5"/>
                </a:solidFill>
              </a:rPr>
              <a:t>Series with different coverage are fitted on their full support but scored only where all of them are defined. A log-loss over a different set of matches is not a comparable number.</a:t>
            </a:r>
            <a:endParaRPr lang="en-US" sz="1450" dirty="0"/>
          </a:p>
        </p:txBody>
      </p:sp>
      <p:sp>
        <p:nvSpPr>
          <p:cNvPr id="11" name="circle-3"/>
          <p:cNvSpPr/>
          <p:nvPr/>
        </p:nvSpPr>
        <p:spPr>
          <a:xfrm>
            <a:off x="640080" y="4745736"/>
            <a:ext cx="566928" cy="566928"/>
          </a:xfrm>
          <a:prstGeom prst="ellipse">
            <a:avLst/>
          </a:prstGeom>
          <a:solidFill>
            <a:schemeClr val="accent1"/>
          </a:solidFill>
          <a:ln/>
        </p:spPr>
      </p:sp>
      <p:sp>
        <p:nvSpPr>
          <p:cNvPr id="12" name="Text 10"/>
          <p:cNvSpPr txBox="1"/>
          <p:nvPr/>
        </p:nvSpPr>
        <p:spPr>
          <a:xfrm>
            <a:off x="640080" y="47457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654296"/>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Match the panel to the target's phase</a:t>
            </a:r>
            <a:endParaRPr lang="en-US" sz="1800" dirty="0"/>
          </a:p>
        </p:txBody>
      </p:sp>
      <p:sp>
        <p:nvSpPr>
          <p:cNvPr id="14" name="Text 12"/>
          <p:cNvSpPr txBox="1"/>
          <p:nvPr/>
        </p:nvSpPr>
        <p:spPr>
          <a:xfrm>
            <a:off x="1508760" y="5093208"/>
            <a:ext cx="10058400" cy="960120"/>
          </a:xfrm>
          <a:prstGeom prst="rect">
            <a:avLst/>
          </a:prstGeom>
          <a:noFill/>
          <a:ln/>
        </p:spPr>
        <p:txBody>
          <a:bodyPr wrap="square" lIns="0" tIns="0" rIns="0" bIns="0" rtlCol="0" anchor="ctr"/>
          <a:lstStyle/>
          <a:p>
            <a:pPr indent="0" marL="0">
              <a:buNone/>
            </a:pPr>
            <a:r>
              <a:rPr lang="en-US" sz="1450" dirty="0">
                <a:solidFill>
                  <a:schemeClr val="accent5"/>
                </a:solidFill>
              </a:rPr>
              <a:t>Betting into an opening price, the entire closing side leaves the training panel: no closing price exists yet at that moment.</a:t>
            </a:r>
            <a:endParaRPr lang="en-US" sz="14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nchor="ctr"/>
          <a:lstStyle/>
          <a:p>
            <a:pPr algn="l" indent="0" marL="0">
              <a:buNone/>
            </a:pPr>
            <a:r>
              <a:rPr lang="en-US" sz="6800" b="1" dirty="0">
                <a:solidFill>
                  <a:srgbClr val="6FA3D6"/>
                </a:solidFill>
              </a:rPr>
              <a:t>04</a:t>
            </a: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nchor="ctr"/>
          <a:lstStyle/>
          <a:p>
            <a:pPr algn="l" indent="0" marL="0">
              <a:buNone/>
            </a:pPr>
            <a:r>
              <a:rPr lang="en-US" sz="3600" b="1" dirty="0">
                <a:solidFill>
                  <a:schemeClr val="bg1"/>
                </a:solidFill>
              </a:rPr>
              <a:t>Results</a:t>
            </a: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nchor="t"/>
          <a:lstStyle/>
          <a:p>
            <a:pPr algn="l" indent="0" marL="0">
              <a:buNone/>
            </a:pPr>
            <a:r>
              <a:rPr lang="en-US" sz="1600" dirty="0">
                <a:solidFill>
                  <a:srgbClr val="CBD5E1"/>
                </a:solidFill>
              </a:rPr>
              <a:t>Where the mixture stands, and what the measurements refuse to support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theoretical step is wrong, in both directions</a:t>
            </a:r>
            <a:endParaRPr lang="en-US" sz="3000" dirty="0"/>
          </a:p>
        </p:txBody>
      </p:sp>
      <p:graphicFrame>
        <p:nvGraphicFramePr>
          <p:cNvPr id="3" name="Chart 0" descr=""/>
          <p:cNvGraphicFramePr/>
          <p:nvPr/>
        </p:nvGraphicFramePr>
        <p:xfrm>
          <a:off x="640080" y="146304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tep-note"/>
          <p:cNvSpPr/>
          <p:nvPr/>
        </p:nvSpPr>
        <p:spPr>
          <a:xfrm>
            <a:off x="7589520" y="1463040"/>
            <a:ext cx="3931920" cy="3840480"/>
          </a:xfrm>
          <a:prstGeom prst="roundRect">
            <a:avLst>
              <a:gd name="adj" fmla="val 1905"/>
            </a:avLst>
          </a:prstGeom>
          <a:solidFill>
            <a:srgbClr val="F2F5F9"/>
          </a:solidFill>
          <a:ln w="12700">
            <a:solidFill>
              <a:srgbClr val="E2E8F0"/>
            </a:solidFill>
            <a:prstDash val="solid"/>
          </a:ln>
        </p:spPr>
      </p:sp>
      <p:sp>
        <p:nvSpPr>
          <p:cNvPr id="5" name="Text 2"/>
          <p:cNvSpPr txBox="1"/>
          <p:nvPr/>
        </p:nvSpPr>
        <p:spPr>
          <a:xfrm>
            <a:off x="7909560" y="1691640"/>
            <a:ext cx="3291840" cy="411480"/>
          </a:xfrm>
          <a:prstGeom prst="rect">
            <a:avLst/>
          </a:prstGeom>
          <a:noFill/>
          <a:ln/>
        </p:spPr>
        <p:txBody>
          <a:bodyPr wrap="square" lIns="0" tIns="0" rIns="0" bIns="0" rtlCol="0" anchor="ctr"/>
          <a:lstStyle/>
          <a:p>
            <a:pPr indent="0" marL="0">
              <a:buNone/>
            </a:pPr>
            <a:r>
              <a:rPr lang="en-US" sz="1800" b="1" dirty="0">
                <a:solidFill>
                  <a:schemeClr val="accent1"/>
                </a:solidFill>
              </a:rPr>
              <a:t>OGD wants ×100</a:t>
            </a:r>
            <a:endParaRPr lang="en-US" sz="1800" dirty="0"/>
          </a:p>
        </p:txBody>
      </p:sp>
      <p:sp>
        <p:nvSpPr>
          <p:cNvPr id="6" name="Text 3"/>
          <p:cNvSpPr txBox="1"/>
          <p:nvPr/>
        </p:nvSpPr>
        <p:spPr>
          <a:xfrm>
            <a:off x="7909560" y="2148840"/>
            <a:ext cx="3291840" cy="914400"/>
          </a:xfrm>
          <a:prstGeom prst="rect">
            <a:avLst/>
          </a:prstGeom>
          <a:noFill/>
          <a:ln/>
        </p:spPr>
        <p:txBody>
          <a:bodyPr wrap="square" lIns="0" tIns="0" rIns="0" bIns="0" rtlCol="0" anchor="ctr"/>
          <a:lstStyle/>
          <a:p>
            <a:pPr indent="0" marL="0">
              <a:buNone/>
            </a:pPr>
            <a:r>
              <a:rPr lang="en-US" sz="1400" dirty="0">
                <a:solidFill>
                  <a:schemeClr val="tx1"/>
                </a:solidFill>
              </a:rPr>
              <a:t>A genuine interior optimum: a plateau from ×75 to ×110, clearly worse at ×200 and beyond.</a:t>
            </a:r>
            <a:endParaRPr lang="en-US" sz="1400" dirty="0"/>
          </a:p>
        </p:txBody>
      </p:sp>
      <p:sp>
        <p:nvSpPr>
          <p:cNvPr id="7" name="Text 4"/>
          <p:cNvSpPr txBox="1"/>
          <p:nvPr/>
        </p:nvSpPr>
        <p:spPr>
          <a:xfrm>
            <a:off x="7909560" y="3200400"/>
            <a:ext cx="3291840" cy="411480"/>
          </a:xfrm>
          <a:prstGeom prst="rect">
            <a:avLst/>
          </a:prstGeom>
          <a:noFill/>
          <a:ln/>
        </p:spPr>
        <p:txBody>
          <a:bodyPr wrap="square" lIns="0" tIns="0" rIns="0" bIns="0" rtlCol="0" anchor="ctr"/>
          <a:lstStyle/>
          <a:p>
            <a:pPr indent="0" marL="0">
              <a:buNone/>
            </a:pPr>
            <a:r>
              <a:rPr lang="en-US" sz="1600" b="1" dirty="0">
                <a:solidFill>
                  <a:schemeClr val="accent2"/>
                </a:solidFill>
              </a:rPr>
              <a:t>Hedge and FTRL want LESS</a:t>
            </a:r>
            <a:endParaRPr lang="en-US" sz="1600" dirty="0"/>
          </a:p>
        </p:txBody>
      </p:sp>
      <p:sp>
        <p:nvSpPr>
          <p:cNvPr id="8" name="Text 5"/>
          <p:cNvSpPr txBox="1"/>
          <p:nvPr/>
        </p:nvSpPr>
        <p:spPr>
          <a:xfrm>
            <a:off x="7909560" y="3639312"/>
            <a:ext cx="3291840" cy="1463040"/>
          </a:xfrm>
          <a:prstGeom prst="rect">
            <a:avLst/>
          </a:prstGeom>
          <a:noFill/>
          <a:ln/>
        </p:spPr>
        <p:txBody>
          <a:bodyPr wrap="square" lIns="0" tIns="0" rIns="0" bIns="0" rtlCol="0" anchor="ctr"/>
          <a:lstStyle/>
          <a:p>
            <a:pPr indent="0" marL="0">
              <a:buNone/>
            </a:pPr>
            <a:r>
              <a:rPr lang="en-US" sz="1400" dirty="0">
                <a:solidFill>
                  <a:schemeClr val="tx1"/>
                </a:solidFill>
              </a:rPr>
              <a:t>×0.25 and ×0.05. The worst-case bound M = log(1/ε) ≈ 13.8 assumes a loss the data never produces; the largest observed is 3.76.</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step that never decays: right for exactly one algorithm</a:t>
            </a:r>
            <a:endParaRPr lang="en-US" sz="3000" dirty="0"/>
          </a:p>
        </p:txBody>
      </p:sp>
      <p:graphicFrame>
        <p:nvGraphicFramePr>
          <p:cNvPr id="3" name="Chart 0" descr=""/>
          <p:cNvGraphicFramePr/>
          <p:nvPr/>
        </p:nvGraphicFramePr>
        <p:xfrm>
          <a:off x="640080" y="1554480"/>
          <a:ext cx="6400800" cy="3566160"/>
        </p:xfrm>
        <a:graphic xmlns:a="http://schemas.openxmlformats.org/drawingml/2006/main">
          <a:graphicData uri="http://schemas.openxmlformats.org/drawingml/2006/chart">
            <c:chart xmlns:c="http://schemas.openxmlformats.org/drawingml/2006/chart" r:id="rId1"/>
          </a:graphicData>
        </a:graphic>
      </p:graphicFrame>
      <p:sp>
        <p:nvSpPr>
          <p:cNvPr id="4" name="const-note"/>
          <p:cNvSpPr/>
          <p:nvPr/>
        </p:nvSpPr>
        <p:spPr>
          <a:xfrm>
            <a:off x="7315200" y="1554480"/>
            <a:ext cx="4206240" cy="3566160"/>
          </a:xfrm>
          <a:prstGeom prst="roundRect">
            <a:avLst>
              <a:gd name="adj" fmla="val 2051"/>
            </a:avLst>
          </a:prstGeom>
          <a:solidFill>
            <a:srgbClr val="F2F5F9"/>
          </a:solidFill>
          <a:ln w="12700">
            <a:solidFill>
              <a:srgbClr val="E2E8F0"/>
            </a:solidFill>
            <a:prstDash val="solid"/>
          </a:ln>
        </p:spPr>
      </p:sp>
      <p:sp>
        <p:nvSpPr>
          <p:cNvPr id="5" name="Text 2"/>
          <p:cNvSpPr txBox="1"/>
          <p:nvPr/>
        </p:nvSpPr>
        <p:spPr>
          <a:xfrm>
            <a:off x="7635240" y="1783080"/>
            <a:ext cx="3566160" cy="411480"/>
          </a:xfrm>
          <a:prstGeom prst="rect">
            <a:avLst/>
          </a:prstGeom>
          <a:noFill/>
          <a:ln/>
        </p:spPr>
        <p:txBody>
          <a:bodyPr wrap="square" lIns="0" tIns="0" rIns="0" bIns="0" rtlCol="0" anchor="ctr"/>
          <a:lstStyle/>
          <a:p>
            <a:pPr indent="0" marL="0">
              <a:buNone/>
            </a:pPr>
            <a:r>
              <a:rPr lang="en-US" sz="1800" b="1" dirty="0">
                <a:solidFill>
                  <a:schemeClr val="accent3"/>
                </a:solidFill>
              </a:rPr>
              <a:t>Why only FTRL</a:t>
            </a:r>
            <a:endParaRPr lang="en-US" sz="1800" dirty="0"/>
          </a:p>
        </p:txBody>
      </p:sp>
      <p:sp>
        <p:nvSpPr>
          <p:cNvPr id="6" name="Text 3"/>
          <p:cNvSpPr txBox="1"/>
          <p:nvPr/>
        </p:nvSpPr>
        <p:spPr>
          <a:xfrm>
            <a:off x="7635240" y="2240280"/>
            <a:ext cx="3566160" cy="1371600"/>
          </a:xfrm>
          <a:prstGeom prst="rect">
            <a:avLst/>
          </a:prstGeom>
          <a:noFill/>
          <a:ln/>
        </p:spPr>
        <p:txBody>
          <a:bodyPr wrap="square" lIns="0" tIns="0" rIns="0" bIns="0" rtlCol="0" anchor="ctr"/>
          <a:lstStyle/>
          <a:p>
            <a:pPr indent="0" marL="0">
              <a:buNone/>
            </a:pPr>
            <a:r>
              <a:rPr lang="en-US" sz="1400" dirty="0">
                <a:solidFill>
                  <a:schemeClr val="tx1"/>
                </a:solidFill>
              </a:rPr>
              <a:t>FTRL's η multiplies the entire accumulated loss, not one round's gradient. It is the one of the three for which "non-decaying" means something qualitatively different.</a:t>
            </a:r>
            <a:endParaRPr lang="en-US" sz="1400" dirty="0"/>
          </a:p>
        </p:txBody>
      </p:sp>
      <p:sp>
        <p:nvSpPr>
          <p:cNvPr id="7" name="Text 4"/>
          <p:cNvSpPr txBox="1"/>
          <p:nvPr/>
        </p:nvSpPr>
        <p:spPr>
          <a:xfrm>
            <a:off x="7635240" y="3657600"/>
            <a:ext cx="3566160" cy="365760"/>
          </a:xfrm>
          <a:prstGeom prst="rect">
            <a:avLst/>
          </a:prstGeom>
          <a:noFill/>
          <a:ln/>
        </p:spPr>
        <p:txBody>
          <a:bodyPr wrap="square" lIns="0" tIns="0" rIns="0" bIns="0" rtlCol="0" anchor="ctr"/>
          <a:lstStyle/>
          <a:p>
            <a:pPr indent="0" marL="0">
              <a:buNone/>
            </a:pPr>
            <a:r>
              <a:rPr lang="en-US" sz="1700" b="1" dirty="0">
                <a:solidFill>
                  <a:schemeClr val="accent3"/>
                </a:solidFill>
              </a:rPr>
              <a:t>−0.000096,  p = 0.001</a:t>
            </a:r>
            <a:endParaRPr lang="en-US" sz="1700" dirty="0"/>
          </a:p>
        </p:txBody>
      </p:sp>
      <p:sp>
        <p:nvSpPr>
          <p:cNvPr id="8" name="Text 5"/>
          <p:cNvSpPr txBox="1"/>
          <p:nvPr/>
        </p:nvSpPr>
        <p:spPr>
          <a:xfrm>
            <a:off x="7635240" y="4069080"/>
            <a:ext cx="3566160" cy="914400"/>
          </a:xfrm>
          <a:prstGeom prst="rect">
            <a:avLst/>
          </a:prstGeom>
          <a:noFill/>
          <a:ln/>
        </p:spPr>
        <p:txBody>
          <a:bodyPr wrap="square" lIns="0" tIns="0" rIns="0" bIns="0" rtlCol="0" anchor="ctr"/>
          <a:lstStyle/>
          <a:p>
            <a:pPr indent="0" marL="0">
              <a:buNone/>
            </a:pPr>
            <a:r>
              <a:rPr lang="en-US" sz="1350" dirty="0">
                <a:solidFill>
                  <a:schemeClr val="accent5"/>
                </a:solidFill>
              </a:rPr>
              <a:t>and the two schemes score IDENTICALLY on the training prefix, so the selection did not favour it to flatter the tail.</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Where the mixture lands</a:t>
            </a:r>
            <a:endParaRPr lang="en-US" sz="3000" dirty="0"/>
          </a:p>
        </p:txBody>
      </p:sp>
      <p:graphicFrame>
        <p:nvGraphicFramePr>
          <p:cNvPr id="3" name="Chart 0" descr=""/>
          <p:cNvGraphicFramePr/>
          <p:nvPr/>
        </p:nvGraphicFramePr>
        <p:xfrm>
          <a:off x="640080" y="14630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4" name="rank-note"/>
          <p:cNvSpPr/>
          <p:nvPr/>
        </p:nvSpPr>
        <p:spPr>
          <a:xfrm>
            <a:off x="7863840" y="1463040"/>
            <a:ext cx="3657600" cy="4114800"/>
          </a:xfrm>
          <a:prstGeom prst="roundRect">
            <a:avLst>
              <a:gd name="adj" fmla="val 2000"/>
            </a:avLst>
          </a:prstGeom>
          <a:solidFill>
            <a:srgbClr val="F2F5F9"/>
          </a:solidFill>
          <a:ln w="12700">
            <a:solidFill>
              <a:srgbClr val="E2E8F0"/>
            </a:solidFill>
            <a:prstDash val="solid"/>
          </a:ln>
        </p:spPr>
      </p:sp>
      <p:sp>
        <p:nvSpPr>
          <p:cNvPr id="5" name="Text 2"/>
          <p:cNvSpPr txBox="1"/>
          <p:nvPr/>
        </p:nvSpPr>
        <p:spPr>
          <a:xfrm>
            <a:off x="8183880" y="1691640"/>
            <a:ext cx="3017520" cy="365760"/>
          </a:xfrm>
          <a:prstGeom prst="rect">
            <a:avLst/>
          </a:prstGeom>
          <a:noFill/>
          <a:ln/>
        </p:spPr>
        <p:txBody>
          <a:bodyPr wrap="square" lIns="0" tIns="0" rIns="0" bIns="0" rtlCol="0" anchor="ctr"/>
          <a:lstStyle/>
          <a:p>
            <a:pPr indent="0" marL="0">
              <a:buNone/>
            </a:pPr>
            <a:r>
              <a:rPr lang="en-US" sz="1800" b="1" dirty="0">
                <a:solidFill>
                  <a:schemeClr val="accent1"/>
                </a:solidFill>
              </a:rPr>
              <a:t>OGD is second</a:t>
            </a:r>
            <a:endParaRPr lang="en-US" sz="1800" dirty="0"/>
          </a:p>
        </p:txBody>
      </p:sp>
      <p:sp>
        <p:nvSpPr>
          <p:cNvPr id="6" name="Text 3"/>
          <p:cNvSpPr txBox="1"/>
          <p:nvPr/>
        </p:nvSpPr>
        <p:spPr>
          <a:xfrm>
            <a:off x="8183880" y="2148840"/>
            <a:ext cx="3017520" cy="3108960"/>
          </a:xfrm>
          <a:prstGeom prst="rect">
            <a:avLst/>
          </a:prstGeom>
          <a:noFill/>
          <a:ln/>
        </p:spPr>
        <p:txBody>
          <a:bodyPr wrap="square" rtlCol="0" anchor="ctr"/>
          <a:lstStyle/>
          <a:p>
            <a:pPr marL="342900" indent="-342900">
              <a:spcAft>
                <a:spcPts val="1000"/>
              </a:spcAft>
              <a:buSzPct val="100000"/>
              <a:buChar char="•"/>
            </a:pPr>
            <a:r>
              <a:rPr lang="en-US" sz="1350" dirty="0">
                <a:solidFill>
                  <a:schemeClr val="tx1"/>
                </a:solidFill>
              </a:rPr>
              <a:t>beats the uniform average by 0.00141 (p &lt; 0.001)</a:t>
            </a:r>
            <a:endParaRPr lang="en-US" sz="1350" dirty="0"/>
          </a:p>
          <a:p>
            <a:pPr marL="342900" indent="-342900">
              <a:spcAft>
                <a:spcPts val="1000"/>
              </a:spcAft>
              <a:buSzPct val="100000"/>
              <a:buChar char="•"/>
            </a:pPr>
            <a:r>
              <a:rPr lang="en-US" sz="1350" dirty="0">
                <a:solidFill>
                  <a:schemeClr val="tx1"/>
                </a:solidFill>
              </a:rPr>
              <a:t>beats Hedge, FTRL and B365C significantly</a:t>
            </a:r>
            <a:endParaRPr lang="en-US" sz="1350" dirty="0"/>
          </a:p>
          <a:p>
            <a:pPr marL="342900" indent="-342900">
              <a:spcAft>
                <a:spcPts val="1000"/>
              </a:spcAft>
              <a:buSzPct val="100000"/>
              <a:buChar char="•"/>
            </a:pPr>
            <a:r>
              <a:rPr lang="en-US" sz="1350" dirty="0">
                <a:solidFill>
                  <a:schemeClr val="tx1"/>
                </a:solidFill>
              </a:rPr>
              <a:t>PSC (Pinnacle) stays ahead by 0.00043</a:t>
            </a:r>
            <a:endParaRPr lang="en-US" sz="1350" dirty="0"/>
          </a:p>
          <a:p>
            <a:pPr marL="342900" indent="-342900">
              <a:spcAft>
                <a:spcPts val="1000"/>
              </a:spcAft>
              <a:buSzPct val="100000"/>
              <a:buChar char="•"/>
            </a:pPr>
            <a:r>
              <a:rPr lang="en-US" sz="1350" dirty="0">
                <a:solidFill>
                  <a:schemeClr val="tx1"/>
                </a:solidFill>
              </a:rPr>
              <a:t>calibration helps all four methods</a:t>
            </a:r>
            <a:endParaRPr lang="en-US" sz="1350" dirty="0"/>
          </a:p>
        </p:txBody>
      </p:sp>
      <p:sp>
        <p:nvSpPr>
          <p:cNvPr id="7" name="Text 4"/>
          <p:cNvSpPr txBox="1"/>
          <p:nvPr/>
        </p:nvSpPr>
        <p:spPr>
          <a:xfrm>
            <a:off x="640080" y="5715000"/>
            <a:ext cx="6949440" cy="320040"/>
          </a:xfrm>
          <a:prstGeom prst="rect">
            <a:avLst/>
          </a:prstGeom>
          <a:noFill/>
          <a:ln/>
        </p:spPr>
        <p:txBody>
          <a:bodyPr wrap="square" rtlCol="0" anchor="ctr"/>
          <a:lstStyle/>
          <a:p>
            <a:pPr indent="0" marL="0">
              <a:buNone/>
            </a:pPr>
            <a:r>
              <a:rPr lang="en-US" sz="1200" i="1" dirty="0">
                <a:solidFill>
                  <a:schemeClr val="accent5"/>
                </a:solidFill>
              </a:rPr>
              <a:t>lower is better · blue = algorithm · red = bookmaker · bars full-sample, tests paired on common rounds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Learning pays only where the experts differ</a:t>
            </a:r>
            <a:endParaRPr lang="en-US" sz="3000" dirty="0"/>
          </a:p>
        </p:txBody>
      </p:sp>
      <p:graphicFrame>
        <p:nvGraphicFramePr>
          <p:cNvPr id="3" name="Chart 0" descr=""/>
          <p:cNvGraphicFramePr/>
          <p:nvPr/>
        </p:nvGraphicFramePr>
        <p:xfrm>
          <a:off x="640080" y="155448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4" name="panel-note"/>
          <p:cNvSpPr/>
          <p:nvPr/>
        </p:nvSpPr>
        <p:spPr>
          <a:xfrm>
            <a:off x="7680960" y="1554480"/>
            <a:ext cx="3840480" cy="3657600"/>
          </a:xfrm>
          <a:prstGeom prst="roundRect">
            <a:avLst>
              <a:gd name="adj" fmla="val 2000"/>
            </a:avLst>
          </a:prstGeom>
          <a:solidFill>
            <a:srgbClr val="FBF0F0"/>
          </a:solidFill>
          <a:ln w="12700">
            <a:solidFill>
              <a:srgbClr val="E2E8F0"/>
            </a:solidFill>
            <a:prstDash val="solid"/>
          </a:ln>
        </p:spPr>
      </p:sp>
      <p:sp>
        <p:nvSpPr>
          <p:cNvPr id="5" name="Text 2"/>
          <p:cNvSpPr txBox="1"/>
          <p:nvPr/>
        </p:nvSpPr>
        <p:spPr>
          <a:xfrm>
            <a:off x="8001000" y="1783080"/>
            <a:ext cx="3200400" cy="365760"/>
          </a:xfrm>
          <a:prstGeom prst="rect">
            <a:avLst/>
          </a:prstGeom>
          <a:noFill/>
          <a:ln/>
        </p:spPr>
        <p:txBody>
          <a:bodyPr wrap="square" lIns="0" tIns="0" rIns="0" bIns="0" rtlCol="0" anchor="ctr"/>
          <a:lstStyle/>
          <a:p>
            <a:pPr indent="0" marL="0">
              <a:buNone/>
            </a:pPr>
            <a:r>
              <a:rPr lang="en-US" sz="1800" b="1" dirty="0">
                <a:solidFill>
                  <a:schemeClr val="accent2"/>
                </a:solidFill>
              </a:rPr>
              <a:t>The reversal</a:t>
            </a:r>
            <a:endParaRPr lang="en-US" sz="1800" dirty="0"/>
          </a:p>
        </p:txBody>
      </p:sp>
      <p:sp>
        <p:nvSpPr>
          <p:cNvPr id="6" name="Text 3"/>
          <p:cNvSpPr txBox="1"/>
          <p:nvPr/>
        </p:nvSpPr>
        <p:spPr>
          <a:xfrm>
            <a:off x="8001000" y="2194560"/>
            <a:ext cx="3200400" cy="1828800"/>
          </a:xfrm>
          <a:prstGeom prst="rect">
            <a:avLst/>
          </a:prstGeom>
          <a:noFill/>
          <a:ln/>
        </p:spPr>
        <p:txBody>
          <a:bodyPr wrap="square" lIns="0" tIns="0" rIns="0" bIns="0" rtlCol="0" anchor="ctr"/>
          <a:lstStyle/>
          <a:p>
            <a:pPr indent="0" marL="0">
              <a:buNone/>
            </a:pPr>
            <a:r>
              <a:rPr lang="en-US" sz="1400" dirty="0">
                <a:solidFill>
                  <a:schemeClr val="tx1"/>
                </a:solidFill>
              </a:rPr>
              <a:t>On the FULL panel all three algorithms beat the plain average significantly.</a:t>
            </a:r>
            <a:endParaRPr lang="en-US" sz="1400" dirty="0"/>
          </a:p>
          <a:p>
            <a:pPr indent="0" marL="0">
              <a:buNone/>
            </a:pPr>
            <a:endParaRPr lang="en-US" sz="1400" dirty="0"/>
          </a:p>
          <a:p>
            <a:pPr indent="0" marL="0">
              <a:buNone/>
            </a:pPr>
            <a:r>
              <a:rPr lang="en-US" sz="1400" dirty="0">
                <a:solidFill>
                  <a:schemeClr val="tx1"/>
                </a:solidFill>
              </a:rPr>
              <a:t>On a HOMOGENEOUS panel, Hedge and FTRL LOSE to it, in 8 tests out of 8.</a:t>
            </a:r>
            <a:endParaRPr lang="en-US" sz="1400" dirty="0"/>
          </a:p>
        </p:txBody>
      </p:sp>
      <p:sp>
        <p:nvSpPr>
          <p:cNvPr id="7" name="Text 4"/>
          <p:cNvSpPr txBox="1"/>
          <p:nvPr/>
        </p:nvSpPr>
        <p:spPr>
          <a:xfrm>
            <a:off x="8001000" y="4023360"/>
            <a:ext cx="3200400" cy="1097280"/>
          </a:xfrm>
          <a:prstGeom prst="rect">
            <a:avLst/>
          </a:prstGeom>
          <a:noFill/>
          <a:ln/>
        </p:spPr>
        <p:txBody>
          <a:bodyPr wrap="square" lIns="0" tIns="0" rIns="0" bIns="0" rtlCol="0" anchor="ctr"/>
          <a:lstStyle/>
          <a:p>
            <a:pPr indent="0" marL="0">
              <a:buNone/>
            </a:pPr>
            <a:r>
              <a:rPr lang="en-US" sz="1350" i="1" dirty="0">
                <a:solidFill>
                  <a:schemeClr val="accent5"/>
                </a:solidFill>
              </a:rPr>
              <a:t>13 good closing experts and 13 systematically worse opening ones is a quality difference to learn. Remove it and adaptation is pure cost.</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prediction from theory, tested</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arr-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A 26-fold gradient</a:t>
            </a:r>
            <a:endParaRPr lang="en-US" sz="1800" dirty="0"/>
          </a:p>
        </p:txBody>
      </p:sp>
      <p:sp>
        <p:nvSpPr>
          <p:cNvPr id="6" name="Text 3"/>
          <p:cNvSpPr txBox="1"/>
          <p:nvPr/>
        </p:nvSpPr>
        <p:spPr>
          <a:xfrm>
            <a:off x="7909560" y="2194560"/>
            <a:ext cx="3291840" cy="1371600"/>
          </a:xfrm>
          <a:prstGeom prst="rect">
            <a:avLst/>
          </a:prstGeom>
          <a:noFill/>
          <a:ln/>
        </p:spPr>
        <p:txBody>
          <a:bodyPr wrap="square" lIns="0" tIns="0" rIns="0" bIns="0" rtlCol="0" anchor="ctr"/>
          <a:lstStyle/>
          <a:p>
            <a:pPr indent="0" marL="0">
              <a:buNone/>
            </a:pPr>
            <a:r>
              <a:rPr lang="en-US" sz="1400" dirty="0">
                <a:solidFill>
                  <a:schemeClr val="tx1"/>
                </a:solidFill>
              </a:rPr>
              <a:t>Microstructure predicted the closing advantage should concentrate where the line moved. It does: 0.00044 in the quiet fifth, 0.01158 in the noisy one.</a:t>
            </a:r>
            <a:endParaRPr lang="en-US" sz="1400" dirty="0"/>
          </a:p>
        </p:txBody>
      </p:sp>
      <p:sp>
        <p:nvSpPr>
          <p:cNvPr id="7" name="Text 4"/>
          <p:cNvSpPr txBox="1"/>
          <p:nvPr/>
        </p:nvSpPr>
        <p:spPr>
          <a:xfrm>
            <a:off x="7909560" y="3611880"/>
            <a:ext cx="3291840" cy="548640"/>
          </a:xfrm>
          <a:prstGeom prst="rect">
            <a:avLst/>
          </a:prstGeom>
          <a:noFill/>
          <a:ln/>
        </p:spPr>
        <p:txBody>
          <a:bodyPr wrap="square" lIns="0" tIns="0" rIns="0" bIns="0" rtlCol="0" anchor="ctr"/>
          <a:lstStyle/>
          <a:p>
            <a:pPr indent="0" marL="0">
              <a:buNone/>
            </a:pPr>
            <a:r>
              <a:rPr lang="en-US" sz="1400" b="1" dirty="0">
                <a:solidFill>
                  <a:schemeClr val="accent2"/>
                </a:solidFill>
              </a:rPr>
              <a:t>In Q1 it is not even significant (p = 0.052).</a:t>
            </a:r>
            <a:endParaRPr lang="en-US" sz="1400" dirty="0"/>
          </a:p>
        </p:txBody>
      </p:sp>
      <p:sp>
        <p:nvSpPr>
          <p:cNvPr id="8" name="Text 5"/>
          <p:cNvSpPr txBox="1"/>
          <p:nvPr/>
        </p:nvSpPr>
        <p:spPr>
          <a:xfrm>
            <a:off x="7909560" y="420624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"Closing prices are better" is not a general property of final prices. It is a property of the top quintile.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Deployment test: a real date cut</a:t>
            </a:r>
            <a:endParaRPr lang="en-US" sz="3000" dirty="0"/>
          </a:p>
        </p:txBody>
      </p:sp>
      <p:sp>
        <p:nvSpPr>
          <p:cNvPr id="3" name="Text 1"/>
          <p:cNvSpPr txBox="1"/>
          <p:nvPr/>
        </p:nvSpPr>
        <p:spPr>
          <a:xfrm>
            <a:off x="640080" y="1325880"/>
            <a:ext cx="7315200" cy="365760"/>
          </a:xfrm>
          <a:prstGeom prst="rect">
            <a:avLst/>
          </a:prstGeom>
          <a:noFill/>
          <a:ln/>
        </p:spPr>
        <p:txBody>
          <a:bodyPr wrap="square" rtlCol="0" anchor="ctr"/>
          <a:lstStyle/>
          <a:p>
            <a:pPr indent="0" marL="0">
              <a:buNone/>
            </a:pPr>
            <a:r>
              <a:rPr lang="en-US" sz="1600" dirty="0">
                <a:solidFill>
                  <a:schemeClr val="tx1"/>
                </a:solidFill>
              </a:rPr>
              <a:t>Fitted through 31/12/2024, measured on 11,574 rounds of 2025-26.</a:t>
            </a:r>
            <a:endParaRPr lang="en-US" sz="1600" dirty="0"/>
          </a:p>
        </p:txBody>
      </p:sp>
      <p:sp>
        <p:nvSpPr>
          <p:cNvPr id="4" name="dep-0"/>
          <p:cNvSpPr/>
          <p:nvPr/>
        </p:nvSpPr>
        <p:spPr>
          <a:xfrm>
            <a:off x="640080" y="1828800"/>
            <a:ext cx="10881360" cy="1234440"/>
          </a:xfrm>
          <a:prstGeom prst="roundRect">
            <a:avLst>
              <a:gd name="adj" fmla="val 5926"/>
            </a:avLst>
          </a:prstGeom>
          <a:solidFill>
            <a:srgbClr val="F2F5F9"/>
          </a:solidFill>
          <a:ln w="12700">
            <a:solidFill>
              <a:srgbClr val="E2E8F0"/>
            </a:solidFill>
            <a:prstDash val="solid"/>
          </a:ln>
        </p:spPr>
      </p:sp>
      <p:sp>
        <p:nvSpPr>
          <p:cNvPr id="5" name="Text 3"/>
          <p:cNvSpPr txBox="1"/>
          <p:nvPr/>
        </p:nvSpPr>
        <p:spPr>
          <a:xfrm>
            <a:off x="960120" y="199339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Every opening price</a:t>
            </a:r>
            <a:endParaRPr lang="en-US" sz="1700" dirty="0"/>
          </a:p>
        </p:txBody>
      </p:sp>
      <p:sp>
        <p:nvSpPr>
          <p:cNvPr id="6" name="Text 4"/>
          <p:cNvSpPr txBox="1"/>
          <p:nvPr/>
        </p:nvSpPr>
        <p:spPr>
          <a:xfrm>
            <a:off x="5303520" y="1993392"/>
            <a:ext cx="3108960" cy="411480"/>
          </a:xfrm>
          <a:prstGeom prst="rect">
            <a:avLst/>
          </a:prstGeom>
          <a:noFill/>
          <a:ln/>
        </p:spPr>
        <p:txBody>
          <a:bodyPr wrap="square" lIns="0" tIns="0" rIns="0" bIns="0" rtlCol="0" anchor="ctr"/>
          <a:lstStyle/>
          <a:p>
            <a:pPr indent="0" marL="0">
              <a:buNone/>
            </a:pPr>
            <a:r>
              <a:rPr lang="en-US" sz="1700" b="1" dirty="0">
                <a:solidFill>
                  <a:schemeClr val="accent3"/>
                </a:solidFill>
              </a:rPr>
              <a:t>beaten significantly</a:t>
            </a:r>
            <a:endParaRPr lang="en-US" sz="1700" dirty="0"/>
          </a:p>
        </p:txBody>
      </p:sp>
      <p:sp>
        <p:nvSpPr>
          <p:cNvPr id="7" name="Text 5"/>
          <p:cNvSpPr txBox="1"/>
          <p:nvPr/>
        </p:nvSpPr>
        <p:spPr>
          <a:xfrm>
            <a:off x="960120" y="248716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−0.0019 to −0.0065, all p ≤ 0.019</a:t>
            </a:r>
            <a:endParaRPr lang="en-US" sz="1350" dirty="0"/>
          </a:p>
        </p:txBody>
      </p:sp>
      <p:sp>
        <p:nvSpPr>
          <p:cNvPr id="8" name="dep-1"/>
          <p:cNvSpPr/>
          <p:nvPr/>
        </p:nvSpPr>
        <p:spPr>
          <a:xfrm>
            <a:off x="640080" y="3246120"/>
            <a:ext cx="10881360" cy="1234440"/>
          </a:xfrm>
          <a:prstGeom prst="roundRect">
            <a:avLst>
              <a:gd name="adj" fmla="val 5926"/>
            </a:avLst>
          </a:prstGeom>
          <a:solidFill>
            <a:srgbClr val="F2F5F9"/>
          </a:solidFill>
          <a:ln w="12700">
            <a:solidFill>
              <a:srgbClr val="E2E8F0"/>
            </a:solidFill>
            <a:prstDash val="solid"/>
          </a:ln>
        </p:spPr>
      </p:sp>
      <p:sp>
        <p:nvSpPr>
          <p:cNvPr id="9" name="Text 7"/>
          <p:cNvSpPr txBox="1"/>
          <p:nvPr/>
        </p:nvSpPr>
        <p:spPr>
          <a:xfrm>
            <a:off x="960120" y="341071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The bookmakers' closing prices</a:t>
            </a:r>
            <a:endParaRPr lang="en-US" sz="1700" dirty="0"/>
          </a:p>
        </p:txBody>
      </p:sp>
      <p:sp>
        <p:nvSpPr>
          <p:cNvPr id="10" name="Text 8"/>
          <p:cNvSpPr txBox="1"/>
          <p:nvPr/>
        </p:nvSpPr>
        <p:spPr>
          <a:xfrm>
            <a:off x="5303520" y="3410712"/>
            <a:ext cx="3108960" cy="411480"/>
          </a:xfrm>
          <a:prstGeom prst="rect">
            <a:avLst/>
          </a:prstGeom>
          <a:noFill/>
          <a:ln/>
        </p:spPr>
        <p:txBody>
          <a:bodyPr wrap="square" lIns="0" tIns="0" rIns="0" bIns="0" rtlCol="0" anchor="ctr"/>
          <a:lstStyle/>
          <a:p>
            <a:pPr indent="0" marL="0">
              <a:buNone/>
            </a:pPr>
            <a:r>
              <a:rPr lang="en-US" sz="1700" b="1" dirty="0">
                <a:solidFill>
                  <a:schemeClr val="accent5"/>
                </a:solidFill>
              </a:rPr>
              <a:t>drawn level</a:t>
            </a:r>
            <a:endParaRPr lang="en-US" sz="1700" dirty="0"/>
          </a:p>
        </p:txBody>
      </p:sp>
      <p:sp>
        <p:nvSpPr>
          <p:cNvPr id="11" name="Text 9"/>
          <p:cNvSpPr txBox="1"/>
          <p:nvPr/>
        </p:nvSpPr>
        <p:spPr>
          <a:xfrm>
            <a:off x="960120" y="390448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B365C p=0.193 · BWC p=0.361 · BFEC p=0.052</a:t>
            </a:r>
            <a:endParaRPr lang="en-US" sz="1350" dirty="0"/>
          </a:p>
        </p:txBody>
      </p:sp>
      <p:sp>
        <p:nvSpPr>
          <p:cNvPr id="12" name="dep-2"/>
          <p:cNvSpPr/>
          <p:nvPr/>
        </p:nvSpPr>
        <p:spPr>
          <a:xfrm>
            <a:off x="640080" y="4663440"/>
            <a:ext cx="10881360" cy="1234440"/>
          </a:xfrm>
          <a:prstGeom prst="roundRect">
            <a:avLst>
              <a:gd name="adj" fmla="val 5926"/>
            </a:avLst>
          </a:prstGeom>
          <a:solidFill>
            <a:srgbClr val="FBF0F0"/>
          </a:solidFill>
          <a:ln w="12700">
            <a:solidFill>
              <a:srgbClr val="E2E8F0"/>
            </a:solidFill>
            <a:prstDash val="solid"/>
          </a:ln>
        </p:spPr>
      </p:sp>
      <p:sp>
        <p:nvSpPr>
          <p:cNvPr id="13" name="Text 11"/>
          <p:cNvSpPr txBox="1"/>
          <p:nvPr/>
        </p:nvSpPr>
        <p:spPr>
          <a:xfrm>
            <a:off x="960120" y="482803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Betfair Exchange</a:t>
            </a:r>
            <a:endParaRPr lang="en-US" sz="1700" dirty="0"/>
          </a:p>
        </p:txBody>
      </p:sp>
      <p:sp>
        <p:nvSpPr>
          <p:cNvPr id="14" name="Text 12"/>
          <p:cNvSpPr txBox="1"/>
          <p:nvPr/>
        </p:nvSpPr>
        <p:spPr>
          <a:xfrm>
            <a:off x="5303520" y="4828032"/>
            <a:ext cx="3108960" cy="411480"/>
          </a:xfrm>
          <a:prstGeom prst="rect">
            <a:avLst/>
          </a:prstGeom>
          <a:noFill/>
          <a:ln/>
        </p:spPr>
        <p:txBody>
          <a:bodyPr wrap="square" lIns="0" tIns="0" rIns="0" bIns="0" rtlCol="0" anchor="ctr"/>
          <a:lstStyle/>
          <a:p>
            <a:pPr indent="0" marL="0">
              <a:buNone/>
            </a:pPr>
            <a:r>
              <a:rPr lang="en-US" sz="1700" b="1" dirty="0">
                <a:solidFill>
                  <a:schemeClr val="accent2"/>
                </a:solidFill>
              </a:rPr>
              <a:t>beats us significantly</a:t>
            </a:r>
            <a:endParaRPr lang="en-US" sz="1700" dirty="0"/>
          </a:p>
        </p:txBody>
      </p:sp>
      <p:sp>
        <p:nvSpPr>
          <p:cNvPr id="15" name="Text 13"/>
          <p:cNvSpPr txBox="1"/>
          <p:nvPr/>
        </p:nvSpPr>
        <p:spPr>
          <a:xfrm>
            <a:off x="960120" y="532180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an exchange, not a bookmaker: a market price with no operator margin</a:t>
            </a:r>
            <a:endParaRPr lang="en-US" sz="1350" dirty="0"/>
          </a:p>
        </p:txBody>
      </p:sp>
      <p:sp>
        <p:nvSpPr>
          <p:cNvPr id="16" name="Text 14"/>
          <p:cNvSpPr txBox="1"/>
          <p:nvPr/>
        </p:nvSpPr>
        <p:spPr>
          <a:xfrm>
            <a:off x="640080" y="6035040"/>
            <a:ext cx="10881360" cy="548640"/>
          </a:xfrm>
          <a:prstGeom prst="rect">
            <a:avLst/>
          </a:prstGeom>
          <a:noFill/>
          <a:ln/>
        </p:spPr>
        <p:txBody>
          <a:bodyPr wrap="square" rtlCol="0" anchor="ctr"/>
          <a:lstStyle/>
          <a:p>
            <a:pPr indent="0" marL="0">
              <a:buNone/>
            </a:pPr>
            <a:r>
              <a:rPr lang="en-US" sz="1500" b="1" dirty="0">
                <a:solidFill>
                  <a:schemeClr val="tx2"/>
                </a:solidFill>
              </a:rPr>
              <a:t>The honest statement: we REACH the leading edge of the bookmaker market. The market without an intermediary is still ahead.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Better prediction does not mean profit</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vb-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tx2"/>
                </a:solidFill>
              </a:rPr>
              <a:t>Two profits, one loss</a:t>
            </a:r>
            <a:endParaRPr lang="en-US" sz="1800" dirty="0"/>
          </a:p>
        </p:txBody>
      </p:sp>
      <p:sp>
        <p:nvSpPr>
          <p:cNvPr id="6" name="Text 3"/>
          <p:cNvSpPr txBox="1"/>
          <p:nvPr/>
        </p:nvSpPr>
        <p:spPr>
          <a:xfrm>
            <a:off x="7909560" y="2194560"/>
            <a:ext cx="3291840" cy="1828800"/>
          </a:xfrm>
          <a:prstGeom prst="rect">
            <a:avLst/>
          </a:prstGeom>
          <a:noFill/>
          <a:ln/>
        </p:spPr>
        <p:txBody>
          <a:bodyPr wrap="square" lIns="0" tIns="0" rIns="0" bIns="0" rtlCol="0" anchor="ctr"/>
          <a:lstStyle/>
          <a:p>
            <a:pPr indent="0" marL="0">
              <a:buNone/>
            </a:pPr>
            <a:r>
              <a:rPr lang="en-US" sz="1350" dirty="0">
                <a:solidFill>
                  <a:schemeClr val="tx1"/>
                </a:solidFill>
              </a:rPr>
              <a:t>Significant gains against WHC (p&lt;0.001) and IW (p=0.008), both recreational-facing houses. A significant LOSS against PSC, the best forecaster in the panel, i.e. exactly the opponent an inferior model should lose to.</a:t>
            </a:r>
            <a:endParaRPr lang="en-US" sz="1350" dirty="0"/>
          </a:p>
        </p:txBody>
      </p:sp>
      <p:sp>
        <p:nvSpPr>
          <p:cNvPr id="7" name="Text 4"/>
          <p:cNvSpPr txBox="1"/>
          <p:nvPr/>
        </p:nvSpPr>
        <p:spPr>
          <a:xfrm>
            <a:off x="7909560" y="411480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The quality gained is smaller than the margin charged. The test works in both directions.</a:t>
            </a:r>
            <a:endParaRPr lang="en-US" sz="1350" dirty="0"/>
          </a:p>
        </p:txBody>
      </p:sp>
      <p:sp>
        <p:nvSpPr>
          <p:cNvPr id="8" name="Text 5"/>
          <p:cNvSpPr txBox="1"/>
          <p:nvPr/>
        </p:nvSpPr>
        <p:spPr>
          <a:xfrm>
            <a:off x="640080" y="5440680"/>
            <a:ext cx="6675120" cy="320040"/>
          </a:xfrm>
          <a:prstGeom prst="rect">
            <a:avLst/>
          </a:prstGeom>
          <a:noFill/>
          <a:ln/>
        </p:spPr>
        <p:txBody>
          <a:bodyPr wrap="square" rtlCol="0" anchor="ctr"/>
          <a:lstStyle/>
          <a:p>
            <a:pPr indent="0" marL="0">
              <a:buNone/>
            </a:pPr>
            <a:r>
              <a:rPr lang="en-US" sz="1200" i="1" dirty="0">
                <a:solidFill>
                  <a:schemeClr val="accent5"/>
                </a:solidFill>
              </a:rPr>
              <a:t>0 = break even · +1 = a ten-fold bankroll · green = significant profit · red = significant loss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41% of the margin over the uniform average is not learning</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Under the Sleeping Experts reduction the weight vector moves even with a step of ZERO: the projection is re-done onto a simplex of different dimension whenever the awake set changes. A zero-step control separates the two. The number was real; the obvious reading of it was false, and this thesis made that reading before correcting it.</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Nine ideas tried and rejected</a:t>
            </a:r>
            <a:endParaRPr lang="en-US" sz="3000" dirty="0"/>
          </a:p>
        </p:txBody>
      </p:sp>
      <p:sp>
        <p:nvSpPr>
          <p:cNvPr id="3" name="neg-0"/>
          <p:cNvSpPr/>
          <p:nvPr/>
        </p:nvSpPr>
        <p:spPr>
          <a:xfrm>
            <a:off x="640080" y="1673352"/>
            <a:ext cx="237744" cy="237744"/>
          </a:xfrm>
          <a:prstGeom prst="ellipse">
            <a:avLst/>
          </a:prstGeom>
          <a:solidFill>
            <a:schemeClr val="accent4"/>
          </a:solidFill>
          <a:ln/>
        </p:spPr>
      </p:sp>
      <p:sp>
        <p:nvSpPr>
          <p:cNvPr id="4" name="Text 2"/>
          <p:cNvSpPr txBox="1"/>
          <p:nvPr/>
        </p:nvSpPr>
        <p:spPr>
          <a:xfrm>
            <a:off x="1024128" y="160020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Fixed-Share</a:t>
            </a:r>
            <a:endParaRPr lang="en-US" sz="1500" dirty="0"/>
          </a:p>
        </p:txBody>
      </p:sp>
      <p:sp>
        <p:nvSpPr>
          <p:cNvPr id="5" name="Text 3"/>
          <p:cNvSpPr txBox="1"/>
          <p:nvPr/>
        </p:nvSpPr>
        <p:spPr>
          <a:xfrm>
            <a:off x="1024128" y="220370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every α &gt; 0 loses; the step already does the forgetting</a:t>
            </a:r>
            <a:endParaRPr lang="en-US" sz="1250" dirty="0"/>
          </a:p>
        </p:txBody>
      </p:sp>
      <p:sp>
        <p:nvSpPr>
          <p:cNvPr id="6" name="neg-1"/>
          <p:cNvSpPr/>
          <p:nvPr/>
        </p:nvSpPr>
        <p:spPr>
          <a:xfrm>
            <a:off x="4297680" y="1673352"/>
            <a:ext cx="237744" cy="237744"/>
          </a:xfrm>
          <a:prstGeom prst="ellipse">
            <a:avLst/>
          </a:prstGeom>
          <a:solidFill>
            <a:schemeClr val="accent4"/>
          </a:solidFill>
          <a:ln/>
        </p:spPr>
      </p:sp>
      <p:sp>
        <p:nvSpPr>
          <p:cNvPr id="7" name="Text 5"/>
          <p:cNvSpPr txBox="1"/>
          <p:nvPr/>
        </p:nvSpPr>
        <p:spPr>
          <a:xfrm>
            <a:off x="4681728" y="160020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Per-expert step clock</a:t>
            </a:r>
            <a:endParaRPr lang="en-US" sz="1500" dirty="0"/>
          </a:p>
        </p:txBody>
      </p:sp>
      <p:sp>
        <p:nvSpPr>
          <p:cNvPr id="8" name="Text 6"/>
          <p:cNvSpPr txBox="1"/>
          <p:nvPr/>
        </p:nvSpPr>
        <p:spPr>
          <a:xfrm>
            <a:off x="4681728" y="220370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better on train, −0.00073 on the tail: textbook overfitting</a:t>
            </a:r>
            <a:endParaRPr lang="en-US" sz="1250" dirty="0"/>
          </a:p>
        </p:txBody>
      </p:sp>
      <p:sp>
        <p:nvSpPr>
          <p:cNvPr id="9" name="neg-2"/>
          <p:cNvSpPr/>
          <p:nvPr/>
        </p:nvSpPr>
        <p:spPr>
          <a:xfrm>
            <a:off x="7955280" y="1673352"/>
            <a:ext cx="237744" cy="237744"/>
          </a:xfrm>
          <a:prstGeom prst="ellipse">
            <a:avLst/>
          </a:prstGeom>
          <a:solidFill>
            <a:schemeClr val="accent4"/>
          </a:solidFill>
          <a:ln/>
        </p:spPr>
      </p:sp>
      <p:sp>
        <p:nvSpPr>
          <p:cNvPr id="10" name="Text 8"/>
          <p:cNvSpPr txBox="1"/>
          <p:nvPr/>
        </p:nvSpPr>
        <p:spPr>
          <a:xfrm>
            <a:off x="8339328" y="160020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Markov kernels on the weights</a:t>
            </a:r>
            <a:endParaRPr lang="en-US" sz="1500" dirty="0"/>
          </a:p>
        </p:txBody>
      </p:sp>
      <p:sp>
        <p:nvSpPr>
          <p:cNvPr id="11" name="Text 9"/>
          <p:cNvSpPr txBox="1"/>
          <p:nvPr/>
        </p:nvSpPr>
        <p:spPr>
          <a:xfrm>
            <a:off x="8339328" y="220370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every kernel selects α = 0 and ties exactly</a:t>
            </a:r>
            <a:endParaRPr lang="en-US" sz="1250" dirty="0"/>
          </a:p>
        </p:txBody>
      </p:sp>
      <p:sp>
        <p:nvSpPr>
          <p:cNvPr id="12" name="neg-3"/>
          <p:cNvSpPr/>
          <p:nvPr/>
        </p:nvSpPr>
        <p:spPr>
          <a:xfrm>
            <a:off x="640080" y="3136392"/>
            <a:ext cx="237744" cy="237744"/>
          </a:xfrm>
          <a:prstGeom prst="ellipse">
            <a:avLst/>
          </a:prstGeom>
          <a:solidFill>
            <a:schemeClr val="accent4"/>
          </a:solidFill>
          <a:ln/>
        </p:spPr>
      </p:sp>
      <p:sp>
        <p:nvSpPr>
          <p:cNvPr id="13" name="Text 11"/>
          <p:cNvSpPr txBox="1"/>
          <p:nvPr/>
        </p:nvSpPr>
        <p:spPr>
          <a:xfrm>
            <a:off x="1024128" y="306324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Latent market regimes</a:t>
            </a:r>
            <a:endParaRPr lang="en-US" sz="1500" dirty="0"/>
          </a:p>
        </p:txBody>
      </p:sp>
      <p:sp>
        <p:nvSpPr>
          <p:cNvPr id="14" name="Text 12"/>
          <p:cNvSpPr txBox="1"/>
          <p:nvPr/>
        </p:nvSpPr>
        <p:spPr>
          <a:xfrm>
            <a:off x="1024128" y="366674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τ = 0 selected, belief sd 0.0000: the chain provably does nothing</a:t>
            </a:r>
            <a:endParaRPr lang="en-US" sz="1250" dirty="0"/>
          </a:p>
        </p:txBody>
      </p:sp>
      <p:sp>
        <p:nvSpPr>
          <p:cNvPr id="15" name="neg-4"/>
          <p:cNvSpPr/>
          <p:nvPr/>
        </p:nvSpPr>
        <p:spPr>
          <a:xfrm>
            <a:off x="4297680" y="3136392"/>
            <a:ext cx="237744" cy="237744"/>
          </a:xfrm>
          <a:prstGeom prst="ellipse">
            <a:avLst/>
          </a:prstGeom>
          <a:solidFill>
            <a:schemeClr val="accent4"/>
          </a:solidFill>
          <a:ln/>
        </p:spPr>
      </p:sp>
      <p:sp>
        <p:nvSpPr>
          <p:cNvPr id="16" name="Text 14"/>
          <p:cNvSpPr txBox="1"/>
          <p:nvPr/>
        </p:nvSpPr>
        <p:spPr>
          <a:xfrm>
            <a:off x="4681728" y="306324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Bandit, one-point estimator</a:t>
            </a:r>
            <a:endParaRPr lang="en-US" sz="1500" dirty="0"/>
          </a:p>
        </p:txBody>
      </p:sp>
      <p:sp>
        <p:nvSpPr>
          <p:cNvPr id="17" name="Text 15"/>
          <p:cNvSpPr txBox="1"/>
          <p:nvPr/>
        </p:nvSpPr>
        <p:spPr>
          <a:xfrm>
            <a:off x="4681728" y="366674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alignment with the true gradient is +0.002; the horizon is too short</a:t>
            </a:r>
            <a:endParaRPr lang="en-US" sz="1250" dirty="0"/>
          </a:p>
        </p:txBody>
      </p:sp>
      <p:sp>
        <p:nvSpPr>
          <p:cNvPr id="18" name="neg-5"/>
          <p:cNvSpPr/>
          <p:nvPr/>
        </p:nvSpPr>
        <p:spPr>
          <a:xfrm>
            <a:off x="7955280" y="3136392"/>
            <a:ext cx="237744" cy="237744"/>
          </a:xfrm>
          <a:prstGeom prst="ellipse">
            <a:avLst/>
          </a:prstGeom>
          <a:solidFill>
            <a:schemeClr val="accent4"/>
          </a:solidFill>
          <a:ln/>
        </p:spPr>
      </p:sp>
      <p:sp>
        <p:nvSpPr>
          <p:cNvPr id="19" name="Text 17"/>
          <p:cNvSpPr txBox="1"/>
          <p:nvPr/>
        </p:nvSpPr>
        <p:spPr>
          <a:xfrm>
            <a:off x="8339328" y="306324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Bayesian / MCMC Kelly</a:t>
            </a:r>
            <a:endParaRPr lang="en-US" sz="1500" dirty="0"/>
          </a:p>
        </p:txBody>
      </p:sp>
      <p:sp>
        <p:nvSpPr>
          <p:cNvPr id="20" name="Text 18"/>
          <p:cNvSpPr txBox="1"/>
          <p:nvPr/>
        </p:nvSpPr>
        <p:spPr>
          <a:xfrm>
            <a:off x="8339328" y="366674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6 ties, 2 significant losses, zero wins</a:t>
            </a:r>
            <a:endParaRPr lang="en-US" sz="1250" dirty="0"/>
          </a:p>
        </p:txBody>
      </p:sp>
      <p:sp>
        <p:nvSpPr>
          <p:cNvPr id="21" name="neg-6"/>
          <p:cNvSpPr/>
          <p:nvPr/>
        </p:nvSpPr>
        <p:spPr>
          <a:xfrm>
            <a:off x="640080" y="4599432"/>
            <a:ext cx="237744" cy="237744"/>
          </a:xfrm>
          <a:prstGeom prst="ellipse">
            <a:avLst/>
          </a:prstGeom>
          <a:solidFill>
            <a:schemeClr val="accent4"/>
          </a:solidFill>
          <a:ln/>
        </p:spPr>
      </p:sp>
      <p:sp>
        <p:nvSpPr>
          <p:cNvPr id="22" name="Text 20"/>
          <p:cNvSpPr txBox="1"/>
          <p:nvPr/>
        </p:nvSpPr>
        <p:spPr>
          <a:xfrm>
            <a:off x="1024128" y="452628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Per-league specialisation</a:t>
            </a:r>
            <a:endParaRPr lang="en-US" sz="1500" dirty="0"/>
          </a:p>
        </p:txBody>
      </p:sp>
      <p:sp>
        <p:nvSpPr>
          <p:cNvPr id="23" name="Text 21"/>
          <p:cNvSpPr txBox="1"/>
          <p:nvPr/>
        </p:nvSpPr>
        <p:spPr>
          <a:xfrm>
            <a:off x="1024128" y="512978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loses in all six leagues tested</a:t>
            </a:r>
            <a:endParaRPr lang="en-US" sz="1250" dirty="0"/>
          </a:p>
        </p:txBody>
      </p:sp>
      <p:sp>
        <p:nvSpPr>
          <p:cNvPr id="24" name="neg-7"/>
          <p:cNvSpPr/>
          <p:nvPr/>
        </p:nvSpPr>
        <p:spPr>
          <a:xfrm>
            <a:off x="4297680" y="4599432"/>
            <a:ext cx="237744" cy="237744"/>
          </a:xfrm>
          <a:prstGeom prst="ellipse">
            <a:avLst/>
          </a:prstGeom>
          <a:solidFill>
            <a:schemeClr val="accent4"/>
          </a:solidFill>
          <a:ln/>
        </p:spPr>
      </p:sp>
      <p:sp>
        <p:nvSpPr>
          <p:cNvPr id="25" name="Text 23"/>
          <p:cNvSpPr txBox="1"/>
          <p:nvPr/>
        </p:nvSpPr>
        <p:spPr>
          <a:xfrm>
            <a:off x="4681728" y="452628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AdaGrad</a:t>
            </a:r>
            <a:endParaRPr lang="en-US" sz="1500" dirty="0"/>
          </a:p>
        </p:txBody>
      </p:sp>
      <p:sp>
        <p:nvSpPr>
          <p:cNvPr id="26" name="Text 24"/>
          <p:cNvSpPr txBox="1"/>
          <p:nvPr/>
        </p:nvSpPr>
        <p:spPr>
          <a:xfrm>
            <a:off x="4681728" y="512978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recovers 20% of the hand-tuned gain at best</a:t>
            </a:r>
            <a:endParaRPr lang="en-US" sz="1250" dirty="0"/>
          </a:p>
        </p:txBody>
      </p:sp>
      <p:sp>
        <p:nvSpPr>
          <p:cNvPr id="27" name="neg-8"/>
          <p:cNvSpPr/>
          <p:nvPr/>
        </p:nvSpPr>
        <p:spPr>
          <a:xfrm>
            <a:off x="7955280" y="4599432"/>
            <a:ext cx="237744" cy="237744"/>
          </a:xfrm>
          <a:prstGeom prst="ellipse">
            <a:avLst/>
          </a:prstGeom>
          <a:solidFill>
            <a:schemeClr val="accent4"/>
          </a:solidFill>
          <a:ln/>
        </p:spPr>
      </p:sp>
      <p:sp>
        <p:nvSpPr>
          <p:cNvPr id="28" name="Text 26"/>
          <p:cNvSpPr txBox="1"/>
          <p:nvPr/>
        </p:nvSpPr>
        <p:spPr>
          <a:xfrm>
            <a:off x="8339328" y="4526280"/>
            <a:ext cx="3017520" cy="566928"/>
          </a:xfrm>
          <a:prstGeom prst="rect">
            <a:avLst/>
          </a:prstGeom>
          <a:noFill/>
          <a:ln/>
        </p:spPr>
        <p:txBody>
          <a:bodyPr wrap="square" lIns="0" tIns="0" rIns="0" bIns="0" rtlCol="0" anchor="ctr"/>
          <a:lstStyle/>
          <a:p>
            <a:pPr indent="0" marL="0">
              <a:buNone/>
            </a:pPr>
            <a:r>
              <a:rPr lang="en-US" sz="1500" b="1" dirty="0">
                <a:solidFill>
                  <a:schemeClr val="tx2"/>
                </a:solidFill>
              </a:rPr>
              <a:t>Joint step + calibration sweep</a:t>
            </a:r>
            <a:endParaRPr lang="en-US" sz="1500" dirty="0"/>
          </a:p>
        </p:txBody>
      </p:sp>
      <p:sp>
        <p:nvSpPr>
          <p:cNvPr id="29" name="Text 27"/>
          <p:cNvSpPr txBox="1"/>
          <p:nvPr/>
        </p:nvSpPr>
        <p:spPr>
          <a:xfrm>
            <a:off x="8339328" y="5129784"/>
            <a:ext cx="3017520" cy="777240"/>
          </a:xfrm>
          <a:prstGeom prst="rect">
            <a:avLst/>
          </a:prstGeom>
          <a:noFill/>
          <a:ln/>
        </p:spPr>
        <p:txBody>
          <a:bodyPr wrap="square" lIns="0" tIns="0" rIns="0" bIns="0" rtlCol="0" anchor="ctr"/>
          <a:lstStyle/>
          <a:p>
            <a:pPr indent="0" marL="0">
              <a:buNone/>
            </a:pPr>
            <a:r>
              <a:rPr lang="en-US" sz="1250" dirty="0">
                <a:solidFill>
                  <a:schemeClr val="accent5"/>
                </a:solidFill>
              </a:rPr>
              <a:t>no interaction at all, and train selection then picks a worse step</a:t>
            </a:r>
            <a:endParaRPr lang="en-US" sz="1250" dirty="0"/>
          </a:p>
        </p:txBody>
      </p:sp>
      <p:sp>
        <p:nvSpPr>
          <p:cNvPr id="30" name="Text 28"/>
          <p:cNvSpPr txBox="1"/>
          <p:nvPr/>
        </p:nvSpPr>
        <p:spPr>
          <a:xfrm>
            <a:off x="640080" y="5943600"/>
            <a:ext cx="10881360" cy="640080"/>
          </a:xfrm>
          <a:prstGeom prst="rect">
            <a:avLst/>
          </a:prstGeom>
          <a:noFill/>
          <a:ln/>
        </p:spPr>
        <p:txBody>
          <a:bodyPr wrap="square" rtlCol="0" anchor="ctr"/>
          <a:lstStyle/>
          <a:p>
            <a:pPr indent="0" marL="0">
              <a:buNone/>
            </a:pPr>
            <a:r>
              <a:rPr lang="en-US" sz="1500" dirty="0">
                <a:solidFill>
                  <a:schemeClr val="tx1"/>
                </a:solidFill>
              </a:rPr>
              <a:t>A pattern across them: once the step size is tuned, no further movement of mass over the experts buys anything. The step and the leak control the same quantity.</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914400" y="2286000"/>
            <a:ext cx="1828800" cy="1097280"/>
          </a:xfrm>
          <a:prstGeom prst="rect">
            <a:avLst/>
          </a:prstGeom>
          <a:noFill/>
          <a:ln/>
        </p:spPr>
        <p:txBody>
          <a:bodyPr wrap="square" rtlCol="0" anchor="ctr"/>
          <a:lstStyle/>
          <a:p>
            <a:pPr algn="l" indent="0" marL="0">
              <a:buNone/>
            </a:pPr>
            <a:r>
              <a:rPr lang="en-US" sz="6800" b="1" dirty="0">
                <a:solidFill>
                  <a:srgbClr val="6FA3D6"/>
                </a:solidFill>
              </a:rPr>
              <a:t>05</a:t>
            </a:r>
            <a:endParaRPr lang="en-US" sz="6800" dirty="0"/>
          </a:p>
        </p:txBody>
      </p:sp>
      <p:sp>
        <p:nvSpPr>
          <p:cNvPr id="3" name="Text 0"/>
          <p:cNvSpPr/>
          <p:nvPr>
            <p:ph idx="101" type="title" hasCustomPrompt="1"/>
          </p:nvPr>
        </p:nvSpPr>
        <p:spPr>
          <a:xfrm>
            <a:off x="2834640" y="2286000"/>
            <a:ext cx="8412480" cy="1097280"/>
          </a:xfrm>
          <a:prstGeom prst="rect">
            <a:avLst/>
          </a:prstGeom>
          <a:noFill/>
          <a:ln/>
        </p:spPr>
        <p:txBody>
          <a:bodyPr wrap="square" rtlCol="0" anchor="ctr"/>
          <a:lstStyle/>
          <a:p>
            <a:pPr algn="l" indent="0" marL="0">
              <a:buNone/>
            </a:pPr>
            <a:r>
              <a:rPr lang="en-US" sz="3600" b="1" dirty="0">
                <a:solidFill>
                  <a:schemeClr val="bg1"/>
                </a:solidFill>
              </a:rPr>
              <a:t>What the numbers mean</a:t>
            </a:r>
            <a:endParaRPr lang="en-US" sz="3600" dirty="0"/>
          </a:p>
        </p:txBody>
      </p:sp>
      <p:sp>
        <p:nvSpPr>
          <p:cNvPr id="4" name="Text 0"/>
          <p:cNvSpPr/>
          <p:nvPr>
            <p:ph idx="102" type="body" hasCustomPrompt="1"/>
          </p:nvPr>
        </p:nvSpPr>
        <p:spPr>
          <a:xfrm>
            <a:off x="2834640" y="3474720"/>
            <a:ext cx="8412480" cy="1097280"/>
          </a:xfrm>
          <a:prstGeom prst="rect">
            <a:avLst/>
          </a:prstGeom>
          <a:noFill/>
          <a:ln/>
        </p:spPr>
        <p:txBody>
          <a:bodyPr wrap="square" rtlCol="0" anchor="t"/>
          <a:lstStyle/>
          <a:p>
            <a:pPr algn="l" indent="0" marL="0">
              <a:buNone/>
            </a:pPr>
            <a:r>
              <a:rPr lang="en-US" sz="1600" dirty="0">
                <a:solidFill>
                  <a:srgbClr val="CBD5E1"/>
                </a:solidFill>
              </a:rPr>
              <a:t>Why the ranking of forecasters turns out to be a ranking of business models</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odds are not a property of the match</a:t>
            </a:r>
            <a:endParaRPr lang="en-US" sz="3000" dirty="0"/>
          </a:p>
        </p:txBody>
      </p:sp>
      <p:sp>
        <p:nvSpPr>
          <p:cNvPr id="3" name="Text 1"/>
          <p:cNvSpPr txBox="1"/>
          <p:nvPr/>
        </p:nvSpPr>
        <p:spPr>
          <a:xfrm>
            <a:off x="640080" y="1481328"/>
            <a:ext cx="5852160" cy="457200"/>
          </a:xfrm>
          <a:prstGeom prst="rect">
            <a:avLst/>
          </a:prstGeom>
          <a:noFill/>
          <a:ln/>
        </p:spPr>
        <p:txBody>
          <a:bodyPr wrap="square" lIns="0" tIns="0" rIns="0" bIns="0" rtlCol="0" anchor="ctr"/>
          <a:lstStyle/>
          <a:p>
            <a:pPr indent="0" marL="0">
              <a:buNone/>
            </a:pPr>
            <a:r>
              <a:rPr lang="en-US" sz="1600" b="1" dirty="0">
                <a:solidFill>
                  <a:schemeClr val="accent1"/>
                </a:solidFill>
              </a:rPr>
              <a:t>Remove Pinnacle and the "probability" changes</a:t>
            </a:r>
            <a:endParaRPr lang="en-US" sz="1600" dirty="0"/>
          </a:p>
        </p:txBody>
      </p:sp>
      <p:sp>
        <p:nvSpPr>
          <p:cNvPr id="4" name="Text 2"/>
          <p:cNvSpPr txBox="1"/>
          <p:nvPr/>
        </p:nvSpPr>
        <p:spPr>
          <a:xfrm>
            <a:off x="6675120" y="1481328"/>
            <a:ext cx="4846320" cy="822960"/>
          </a:xfrm>
          <a:prstGeom prst="rect">
            <a:avLst/>
          </a:prstGeom>
          <a:noFill/>
          <a:ln/>
        </p:spPr>
        <p:txBody>
          <a:bodyPr wrap="square" lIns="0" tIns="0" rIns="0" bIns="0" rtlCol="0" anchor="ctr"/>
          <a:lstStyle/>
          <a:p>
            <a:pPr indent="0" marL="0">
              <a:buNone/>
            </a:pPr>
            <a:r>
              <a:rPr lang="en-US" sz="1350" dirty="0">
                <a:solidFill>
                  <a:schemeClr val="accent5"/>
                </a:solidFill>
              </a:rPr>
              <a:t>What was measured was not knowledge about football but position in the market.</a:t>
            </a:r>
            <a:endParaRPr lang="en-US" sz="1350" dirty="0"/>
          </a:p>
        </p:txBody>
      </p:sp>
      <p:sp>
        <p:nvSpPr>
          <p:cNvPr id="5" name="Text 3"/>
          <p:cNvSpPr txBox="1"/>
          <p:nvPr/>
        </p:nvSpPr>
        <p:spPr>
          <a:xfrm>
            <a:off x="640080" y="2670048"/>
            <a:ext cx="5852160" cy="457200"/>
          </a:xfrm>
          <a:prstGeom prst="rect">
            <a:avLst/>
          </a:prstGeom>
          <a:noFill/>
          <a:ln/>
        </p:spPr>
        <p:txBody>
          <a:bodyPr wrap="square" lIns="0" tIns="0" rIns="0" bIns="0" rtlCol="0" anchor="ctr"/>
          <a:lstStyle/>
          <a:p>
            <a:pPr indent="0" marL="0">
              <a:buNone/>
            </a:pPr>
            <a:r>
              <a:rPr lang="en-US" sz="1600" b="1" dirty="0">
                <a:solidFill>
                  <a:schemeClr val="accent1"/>
                </a:solidFill>
              </a:rPr>
              <a:t>Pinnacle leads because it does not ban winners</a:t>
            </a:r>
            <a:endParaRPr lang="en-US" sz="1600" dirty="0"/>
          </a:p>
        </p:txBody>
      </p:sp>
      <p:sp>
        <p:nvSpPr>
          <p:cNvPr id="6" name="Text 4"/>
          <p:cNvSpPr txBox="1"/>
          <p:nvPr/>
        </p:nvSpPr>
        <p:spPr>
          <a:xfrm>
            <a:off x="6675120" y="2670048"/>
            <a:ext cx="4846320" cy="822960"/>
          </a:xfrm>
          <a:prstGeom prst="rect">
            <a:avLst/>
          </a:prstGeom>
          <a:noFill/>
          <a:ln/>
        </p:spPr>
        <p:txBody>
          <a:bodyPr wrap="square" lIns="0" tIns="0" rIns="0" bIns="0" rtlCol="0" anchor="ctr"/>
          <a:lstStyle/>
          <a:p>
            <a:pPr indent="0" marL="0">
              <a:buNone/>
            </a:pPr>
            <a:r>
              <a:rPr lang="en-US" sz="1350" dirty="0">
                <a:solidFill>
                  <a:schemeClr val="accent5"/>
                </a:solidFill>
              </a:rPr>
              <a:t>Low margin, and informed bettors are allowed to correct its price instead of being shut out.</a:t>
            </a:r>
            <a:endParaRPr lang="en-US" sz="1350" dirty="0"/>
          </a:p>
        </p:txBody>
      </p:sp>
      <p:sp>
        <p:nvSpPr>
          <p:cNvPr id="7" name="Text 5"/>
          <p:cNvSpPr txBox="1"/>
          <p:nvPr/>
        </p:nvSpPr>
        <p:spPr>
          <a:xfrm>
            <a:off x="640080" y="3858768"/>
            <a:ext cx="5852160" cy="457200"/>
          </a:xfrm>
          <a:prstGeom prst="rect">
            <a:avLst/>
          </a:prstGeom>
          <a:noFill/>
          <a:ln/>
        </p:spPr>
        <p:txBody>
          <a:bodyPr wrap="square" lIns="0" tIns="0" rIns="0" bIns="0" rtlCol="0" anchor="ctr"/>
          <a:lstStyle/>
          <a:p>
            <a:pPr indent="0" marL="0">
              <a:buNone/>
            </a:pPr>
            <a:r>
              <a:rPr lang="en-US" sz="1600" b="1" dirty="0">
                <a:solidFill>
                  <a:schemeClr val="accent1"/>
                </a:solidFill>
              </a:rPr>
              <a:t>The best forecaster is not a bookmaker at all</a:t>
            </a:r>
            <a:endParaRPr lang="en-US" sz="1600" dirty="0"/>
          </a:p>
        </p:txBody>
      </p:sp>
      <p:sp>
        <p:nvSpPr>
          <p:cNvPr id="8" name="Text 6"/>
          <p:cNvSpPr txBox="1"/>
          <p:nvPr/>
        </p:nvSpPr>
        <p:spPr>
          <a:xfrm>
            <a:off x="6675120" y="3858768"/>
            <a:ext cx="4846320" cy="822960"/>
          </a:xfrm>
          <a:prstGeom prst="rect">
            <a:avLst/>
          </a:prstGeom>
          <a:noFill/>
          <a:ln/>
        </p:spPr>
        <p:txBody>
          <a:bodyPr wrap="square" lIns="0" tIns="0" rIns="0" bIns="0" rtlCol="0" anchor="ctr"/>
          <a:lstStyle/>
          <a:p>
            <a:pPr indent="0" marL="0">
              <a:buNone/>
            </a:pPr>
            <a:r>
              <a:rPr lang="en-US" sz="1350" dirty="0">
                <a:solidFill>
                  <a:schemeClr val="accent5"/>
                </a:solidFill>
              </a:rPr>
              <a:t>Betfair Exchange: a market price carrying no operator margin.</a:t>
            </a:r>
            <a:endParaRPr lang="en-US" sz="1350" dirty="0"/>
          </a:p>
        </p:txBody>
      </p:sp>
      <p:sp>
        <p:nvSpPr>
          <p:cNvPr id="9" name="Text 7"/>
          <p:cNvSpPr txBox="1"/>
          <p:nvPr/>
        </p:nvSpPr>
        <p:spPr>
          <a:xfrm>
            <a:off x="640080" y="5047488"/>
            <a:ext cx="5852160" cy="457200"/>
          </a:xfrm>
          <a:prstGeom prst="rect">
            <a:avLst/>
          </a:prstGeom>
          <a:noFill/>
          <a:ln/>
        </p:spPr>
        <p:txBody>
          <a:bodyPr wrap="square" lIns="0" tIns="0" rIns="0" bIns="0" rtlCol="0" anchor="ctr"/>
          <a:lstStyle/>
          <a:p>
            <a:pPr indent="0" marL="0">
              <a:buNone/>
            </a:pPr>
            <a:r>
              <a:rPr lang="en-US" sz="1600" b="1" dirty="0">
                <a:solidFill>
                  <a:schemeClr val="accent2"/>
                </a:solidFill>
              </a:rPr>
              <a:t>The market got dearer, not better</a:t>
            </a:r>
            <a:endParaRPr lang="en-US" sz="1600" dirty="0"/>
          </a:p>
        </p:txBody>
      </p:sp>
      <p:sp>
        <p:nvSpPr>
          <p:cNvPr id="10" name="Text 8"/>
          <p:cNvSpPr txBox="1"/>
          <p:nvPr/>
        </p:nvSpPr>
        <p:spPr>
          <a:xfrm>
            <a:off x="6675120" y="5047488"/>
            <a:ext cx="4846320" cy="822960"/>
          </a:xfrm>
          <a:prstGeom prst="rect">
            <a:avLst/>
          </a:prstGeom>
          <a:noFill/>
          <a:ln/>
        </p:spPr>
        <p:txBody>
          <a:bodyPr wrap="square" lIns="0" tIns="0" rIns="0" bIns="0" rtlCol="0" anchor="ctr"/>
          <a:lstStyle/>
          <a:p>
            <a:pPr indent="0" marL="0">
              <a:buNone/>
            </a:pPr>
            <a:r>
              <a:rPr lang="en-US" sz="1350" dirty="0">
                <a:solidFill>
                  <a:schemeClr val="accent5"/>
                </a:solidFill>
              </a:rPr>
              <a:t>Overround 4.42% → 6.00% (p = 0.0007) while no series shows a significant trend in log-loss.</a:t>
            </a:r>
            <a:endParaRPr lang="en-US" sz="1350" dirty="0"/>
          </a:p>
        </p:txBody>
      </p:sp>
      <p:sp>
        <p:nvSpPr>
          <p:cNvPr id="11" name="Text 9"/>
          <p:cNvSpPr txBox="1"/>
          <p:nvPr/>
        </p:nvSpPr>
        <p:spPr>
          <a:xfrm>
            <a:off x="640080" y="5760720"/>
            <a:ext cx="10881360" cy="731520"/>
          </a:xfrm>
          <a:prstGeom prst="rect">
            <a:avLst/>
          </a:prstGeom>
          <a:noFill/>
          <a:ln/>
        </p:spPr>
        <p:txBody>
          <a:bodyPr wrap="square" rtlCol="0" anchor="ctr"/>
          <a:lstStyle/>
          <a:p>
            <a:pPr indent="0" marL="0">
              <a:buNone/>
            </a:pPr>
            <a:r>
              <a:rPr lang="en-US" sz="1500" i="1" dirty="0">
                <a:solidFill>
                  <a:schemeClr val="tx1"/>
                </a:solidFill>
              </a:rPr>
              <a:t>Shin's parameter z IS the estimated share of informed bettors, a social quantity, entering the method as a nuisance parameter to be removed.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The edge exists where it cannot be used</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The significant profits are against two recreational-facing houses. Against the one house that does NOT exclude winning players, the simulation loses significantly. The sharp house has the right price because it lets informed money correct it; the soft ones have the wrong price because they drive that money away. Account restrictions are not measured here: the data are prices, not customer outcomes.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Conclusions</a:t>
            </a:r>
            <a:endParaRPr lang="en-US" sz="3000" dirty="0"/>
          </a:p>
        </p:txBody>
      </p:sp>
      <p:sp>
        <p:nvSpPr>
          <p:cNvPr id="3" name="cc-0"/>
          <p:cNvSpPr/>
          <p:nvPr/>
        </p:nvSpPr>
        <p:spPr>
          <a:xfrm>
            <a:off x="640080" y="1554480"/>
            <a:ext cx="256032" cy="256032"/>
          </a:xfrm>
          <a:prstGeom prst="ellipse">
            <a:avLst/>
          </a:prstGeom>
          <a:solidFill>
            <a:schemeClr val="accent3"/>
          </a:solidFill>
          <a:ln/>
        </p:spPr>
      </p:sp>
      <p:sp>
        <p:nvSpPr>
          <p:cNvPr id="4" name="Text 2"/>
          <p:cNvSpPr txBox="1"/>
          <p:nvPr/>
        </p:nvSpPr>
        <p:spPr>
          <a:xfrm>
            <a:off x="1078992" y="1463040"/>
            <a:ext cx="3931920" cy="411480"/>
          </a:xfrm>
          <a:prstGeom prst="rect">
            <a:avLst/>
          </a:prstGeom>
          <a:noFill/>
          <a:ln/>
        </p:spPr>
        <p:txBody>
          <a:bodyPr wrap="square" lIns="0" tIns="0" rIns="0" bIns="0" rtlCol="0" anchor="t"/>
          <a:lstStyle/>
          <a:p>
            <a:pPr indent="0" marL="0">
              <a:buNone/>
            </a:pPr>
            <a:r>
              <a:rPr lang="en-US" sz="1600" b="1" dirty="0">
                <a:solidFill>
                  <a:schemeClr val="tx2"/>
                </a:solidFill>
              </a:rPr>
              <a:t>The framework applies</a:t>
            </a:r>
            <a:endParaRPr lang="en-US" sz="1600" dirty="0"/>
          </a:p>
        </p:txBody>
      </p:sp>
      <p:sp>
        <p:nvSpPr>
          <p:cNvPr id="5" name="Text 3"/>
          <p:cNvSpPr txBox="1"/>
          <p:nvPr/>
        </p:nvSpPr>
        <p:spPr>
          <a:xfrm>
            <a:off x="5166360" y="1463040"/>
            <a:ext cx="6355080" cy="777240"/>
          </a:xfrm>
          <a:prstGeom prst="rect">
            <a:avLst/>
          </a:prstGeom>
          <a:noFill/>
          <a:ln/>
        </p:spPr>
        <p:txBody>
          <a:bodyPr wrap="square" lIns="0" tIns="0" rIns="0" bIns="0" rtlCol="0" anchor="t"/>
          <a:lstStyle/>
          <a:p>
            <a:pPr indent="0" marL="0">
              <a:buNone/>
            </a:pPr>
            <a:r>
              <a:rPr lang="en-US" sz="1350" dirty="0">
                <a:solidFill>
                  <a:schemeClr val="accent5"/>
                </a:solidFill>
              </a:rPr>
              <a:t>An online mixture of published odds beats the uniform average and almost every individual bookmaker, with no distributional assumption.</a:t>
            </a:r>
            <a:endParaRPr lang="en-US" sz="1350" dirty="0"/>
          </a:p>
        </p:txBody>
      </p:sp>
      <p:sp>
        <p:nvSpPr>
          <p:cNvPr id="6" name="cc-1"/>
          <p:cNvSpPr/>
          <p:nvPr/>
        </p:nvSpPr>
        <p:spPr>
          <a:xfrm>
            <a:off x="640080" y="2496312"/>
            <a:ext cx="256032" cy="256032"/>
          </a:xfrm>
          <a:prstGeom prst="ellipse">
            <a:avLst/>
          </a:prstGeom>
          <a:solidFill>
            <a:schemeClr val="accent1"/>
          </a:solidFill>
          <a:ln/>
        </p:spPr>
      </p:sp>
      <p:sp>
        <p:nvSpPr>
          <p:cNvPr id="7" name="Text 5"/>
          <p:cNvSpPr txBox="1"/>
          <p:nvPr/>
        </p:nvSpPr>
        <p:spPr>
          <a:xfrm>
            <a:off x="1078992" y="2404872"/>
            <a:ext cx="3931920" cy="411480"/>
          </a:xfrm>
          <a:prstGeom prst="rect">
            <a:avLst/>
          </a:prstGeom>
          <a:noFill/>
          <a:ln/>
        </p:spPr>
        <p:txBody>
          <a:bodyPr wrap="square" lIns="0" tIns="0" rIns="0" bIns="0" rtlCol="0" anchor="t"/>
          <a:lstStyle/>
          <a:p>
            <a:pPr indent="0" marL="0">
              <a:buNone/>
            </a:pPr>
            <a:r>
              <a:rPr lang="en-US" sz="1600" b="1" dirty="0">
                <a:solidFill>
                  <a:schemeClr val="tx2"/>
                </a:solidFill>
              </a:rPr>
              <a:t>It reaches the market's edge</a:t>
            </a:r>
            <a:endParaRPr lang="en-US" sz="1600" dirty="0"/>
          </a:p>
        </p:txBody>
      </p:sp>
      <p:sp>
        <p:nvSpPr>
          <p:cNvPr id="8" name="Text 6"/>
          <p:cNvSpPr txBox="1"/>
          <p:nvPr/>
        </p:nvSpPr>
        <p:spPr>
          <a:xfrm>
            <a:off x="5166360" y="2404872"/>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Level with the sharpest bookmaker, but behind an exchange with no operator margin.</a:t>
            </a:r>
            <a:endParaRPr lang="en-US" sz="1350" dirty="0"/>
          </a:p>
        </p:txBody>
      </p:sp>
      <p:sp>
        <p:nvSpPr>
          <p:cNvPr id="9" name="cc-2"/>
          <p:cNvSpPr/>
          <p:nvPr/>
        </p:nvSpPr>
        <p:spPr>
          <a:xfrm>
            <a:off x="640080" y="3438144"/>
            <a:ext cx="256032" cy="256032"/>
          </a:xfrm>
          <a:prstGeom prst="ellipse">
            <a:avLst/>
          </a:prstGeom>
          <a:solidFill>
            <a:schemeClr val="accent4"/>
          </a:solidFill>
          <a:ln/>
        </p:spPr>
      </p:sp>
      <p:sp>
        <p:nvSpPr>
          <p:cNvPr id="10" name="Text 8"/>
          <p:cNvSpPr txBox="1"/>
          <p:nvPr/>
        </p:nvSpPr>
        <p:spPr>
          <a:xfrm>
            <a:off x="1078992" y="3346704"/>
            <a:ext cx="3931920" cy="411480"/>
          </a:xfrm>
          <a:prstGeom prst="rect">
            <a:avLst/>
          </a:prstGeom>
          <a:noFill/>
          <a:ln/>
        </p:spPr>
        <p:txBody>
          <a:bodyPr wrap="square" lIns="0" tIns="0" rIns="0" bIns="0" rtlCol="0" anchor="t"/>
          <a:lstStyle/>
          <a:p>
            <a:pPr indent="0" marL="0">
              <a:buNone/>
            </a:pPr>
            <a:r>
              <a:rPr lang="en-US" sz="1600" b="1" dirty="0">
                <a:solidFill>
                  <a:schemeClr val="tx2"/>
                </a:solidFill>
              </a:rPr>
              <a:t>Part of the gain is geometry</a:t>
            </a:r>
            <a:endParaRPr lang="en-US" sz="1600" dirty="0"/>
          </a:p>
        </p:txBody>
      </p:sp>
      <p:sp>
        <p:nvSpPr>
          <p:cNvPr id="11" name="Text 9"/>
          <p:cNvSpPr txBox="1"/>
          <p:nvPr/>
        </p:nvSpPr>
        <p:spPr>
          <a:xfrm>
            <a:off x="5166360" y="3346704"/>
            <a:ext cx="6355080" cy="777240"/>
          </a:xfrm>
          <a:prstGeom prst="rect">
            <a:avLst/>
          </a:prstGeom>
          <a:noFill/>
          <a:ln/>
        </p:spPr>
        <p:txBody>
          <a:bodyPr wrap="square" lIns="0" tIns="0" rIns="0" bIns="0" rtlCol="0" anchor="t"/>
          <a:lstStyle/>
          <a:p>
            <a:pPr indent="0" marL="0">
              <a:buNone/>
            </a:pPr>
            <a:r>
              <a:rPr lang="en-US" sz="1350" dirty="0">
                <a:solidFill>
                  <a:schemeClr val="accent5"/>
                </a:solidFill>
              </a:rPr>
              <a:t>41% of the margin over uniform, isolated with a zero-step control. Future comparisons should carry one.</a:t>
            </a:r>
            <a:endParaRPr lang="en-US" sz="1350" dirty="0"/>
          </a:p>
        </p:txBody>
      </p:sp>
      <p:sp>
        <p:nvSpPr>
          <p:cNvPr id="12" name="cc-3"/>
          <p:cNvSpPr/>
          <p:nvPr/>
        </p:nvSpPr>
        <p:spPr>
          <a:xfrm>
            <a:off x="640080" y="4379976"/>
            <a:ext cx="256032" cy="256032"/>
          </a:xfrm>
          <a:prstGeom prst="ellipse">
            <a:avLst/>
          </a:prstGeom>
          <a:solidFill>
            <a:schemeClr val="accent1"/>
          </a:solidFill>
          <a:ln/>
        </p:spPr>
      </p:sp>
      <p:sp>
        <p:nvSpPr>
          <p:cNvPr id="13" name="Text 11"/>
          <p:cNvSpPr txBox="1"/>
          <p:nvPr/>
        </p:nvSpPr>
        <p:spPr>
          <a:xfrm>
            <a:off x="1078992" y="4288536"/>
            <a:ext cx="3931920" cy="411480"/>
          </a:xfrm>
          <a:prstGeom prst="rect">
            <a:avLst/>
          </a:prstGeom>
          <a:noFill/>
          <a:ln/>
        </p:spPr>
        <p:txBody>
          <a:bodyPr wrap="square" lIns="0" tIns="0" rIns="0" bIns="0" rtlCol="0" anchor="t"/>
          <a:lstStyle/>
          <a:p>
            <a:pPr indent="0" marL="0">
              <a:buNone/>
            </a:pPr>
            <a:r>
              <a:rPr lang="en-US" sz="1600" b="1" dirty="0">
                <a:solidFill>
                  <a:schemeClr val="tx2"/>
                </a:solidFill>
              </a:rPr>
              <a:t>Heterogeneity is a precondition</a:t>
            </a:r>
            <a:endParaRPr lang="en-US" sz="1600" dirty="0"/>
          </a:p>
        </p:txBody>
      </p:sp>
      <p:sp>
        <p:nvSpPr>
          <p:cNvPr id="14" name="Text 12"/>
          <p:cNvSpPr txBox="1"/>
          <p:nvPr/>
        </p:nvSpPr>
        <p:spPr>
          <a:xfrm>
            <a:off x="5166360" y="4288536"/>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Learned weighting pays only when the experts are produced by different processes.</a:t>
            </a:r>
            <a:endParaRPr lang="en-US" sz="1350" dirty="0"/>
          </a:p>
        </p:txBody>
      </p:sp>
      <p:sp>
        <p:nvSpPr>
          <p:cNvPr id="15" name="cc-4"/>
          <p:cNvSpPr/>
          <p:nvPr/>
        </p:nvSpPr>
        <p:spPr>
          <a:xfrm>
            <a:off x="640080" y="5321808"/>
            <a:ext cx="256032" cy="256032"/>
          </a:xfrm>
          <a:prstGeom prst="ellipse">
            <a:avLst/>
          </a:prstGeom>
          <a:solidFill>
            <a:schemeClr val="accent2"/>
          </a:solidFill>
          <a:ln/>
        </p:spPr>
      </p:sp>
      <p:sp>
        <p:nvSpPr>
          <p:cNvPr id="16" name="Text 14"/>
          <p:cNvSpPr txBox="1"/>
          <p:nvPr/>
        </p:nvSpPr>
        <p:spPr>
          <a:xfrm>
            <a:off x="1078992" y="5230368"/>
            <a:ext cx="3931920" cy="411480"/>
          </a:xfrm>
          <a:prstGeom prst="rect">
            <a:avLst/>
          </a:prstGeom>
          <a:noFill/>
          <a:ln/>
        </p:spPr>
        <p:txBody>
          <a:bodyPr wrap="square" lIns="0" tIns="0" rIns="0" bIns="0" rtlCol="0" anchor="t"/>
          <a:lstStyle/>
          <a:p>
            <a:pPr indent="0" marL="0">
              <a:buNone/>
            </a:pPr>
            <a:r>
              <a:rPr lang="en-US" sz="1600" b="1" dirty="0">
                <a:solidFill>
                  <a:schemeClr val="tx2"/>
                </a:solidFill>
              </a:rPr>
              <a:t>Better prediction is not profit</a:t>
            </a:r>
            <a:endParaRPr lang="en-US" sz="1600" dirty="0"/>
          </a:p>
        </p:txBody>
      </p:sp>
      <p:sp>
        <p:nvSpPr>
          <p:cNvPr id="17" name="Text 15"/>
          <p:cNvSpPr txBox="1"/>
          <p:nvPr/>
        </p:nvSpPr>
        <p:spPr>
          <a:xfrm>
            <a:off x="5166360" y="5230368"/>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quality gained falls short of the margin, and the edge sits where access is controlled.</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Future work</a:t>
            </a:r>
            <a:endParaRPr lang="en-US" sz="3000" dirty="0"/>
          </a:p>
        </p:txBody>
      </p:sp>
      <p:sp>
        <p:nvSpPr>
          <p:cNvPr id="3" name="circle-1"/>
          <p:cNvSpPr/>
          <p:nvPr/>
        </p:nvSpPr>
        <p:spPr>
          <a:xfrm>
            <a:off x="640080" y="1600200"/>
            <a:ext cx="566928" cy="566928"/>
          </a:xfrm>
          <a:prstGeom prst="ellipse">
            <a:avLst/>
          </a:prstGeom>
          <a:solidFill>
            <a:schemeClr val="accent1"/>
          </a:solidFill>
          <a:ln/>
        </p:spPr>
      </p:sp>
      <p:sp>
        <p:nvSpPr>
          <p:cNvPr id="4" name="Text 2"/>
          <p:cNvSpPr txBox="1"/>
          <p:nvPr/>
        </p:nvSpPr>
        <p:spPr>
          <a:xfrm>
            <a:off x="640080" y="1600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54480"/>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A live odds feed</a:t>
            </a:r>
            <a:endParaRPr lang="en-US" sz="1800" dirty="0"/>
          </a:p>
        </p:txBody>
      </p:sp>
      <p:sp>
        <p:nvSpPr>
          <p:cNvPr id="6" name="Text 4"/>
          <p:cNvSpPr txBox="1"/>
          <p:nvPr/>
        </p:nvSpPr>
        <p:spPr>
          <a:xfrm>
            <a:off x="1508760" y="1975104"/>
            <a:ext cx="10058400" cy="1051560"/>
          </a:xfrm>
          <a:prstGeom prst="rect">
            <a:avLst/>
          </a:prstGeom>
          <a:noFill/>
          <a:ln/>
        </p:spPr>
        <p:txBody>
          <a:bodyPr wrap="square" lIns="0" tIns="0" rIns="0" bIns="0" rtlCol="0" anchor="ctr"/>
          <a:lstStyle/>
          <a:p>
            <a:pPr indent="0" marL="0">
              <a:buNone/>
            </a:pPr>
            <a:r>
              <a:rPr lang="en-US" sz="1350" dirty="0">
                <a:solidFill>
                  <a:schemeClr val="accent5"/>
                </a:solidFill>
              </a:rPr>
              <a:t>Every result here says what the method WOULD have done. The three stages are online and causal, the state is one weight vector plus two scalars, so it runs in real time against a streaming API. That turns "a statistical edge exists" into "an exploitable edge exists", and records the price trajectory rather than two snapshots.</a:t>
            </a:r>
            <a:endParaRPr lang="en-US" sz="1350" dirty="0"/>
          </a:p>
        </p:txBody>
      </p:sp>
      <p:sp>
        <p:nvSpPr>
          <p:cNvPr id="7" name="circle-2"/>
          <p:cNvSpPr/>
          <p:nvPr/>
        </p:nvSpPr>
        <p:spPr>
          <a:xfrm>
            <a:off x="640080" y="3200400"/>
            <a:ext cx="566928" cy="566928"/>
          </a:xfrm>
          <a:prstGeom prst="ellipse">
            <a:avLst/>
          </a:prstGeom>
          <a:solidFill>
            <a:schemeClr val="accent1"/>
          </a:solidFill>
          <a:ln/>
        </p:spPr>
      </p:sp>
      <p:sp>
        <p:nvSpPr>
          <p:cNvPr id="8" name="Text 6"/>
          <p:cNvSpPr txBox="1"/>
          <p:nvPr/>
        </p:nvSpPr>
        <p:spPr>
          <a:xfrm>
            <a:off x="640080" y="32004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154680"/>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A second sport</a:t>
            </a:r>
            <a:endParaRPr lang="en-US" sz="1800" dirty="0"/>
          </a:p>
        </p:txBody>
      </p:sp>
      <p:sp>
        <p:nvSpPr>
          <p:cNvPr id="10" name="Text 8"/>
          <p:cNvSpPr txBox="1"/>
          <p:nvPr/>
        </p:nvSpPr>
        <p:spPr>
          <a:xfrm>
            <a:off x="1508760" y="3575304"/>
            <a:ext cx="10058400" cy="1051560"/>
          </a:xfrm>
          <a:prstGeom prst="rect">
            <a:avLst/>
          </a:prstGeom>
          <a:noFill/>
          <a:ln/>
        </p:spPr>
        <p:txBody>
          <a:bodyPr wrap="square" lIns="0" tIns="0" rIns="0" bIns="0" rtlCol="0" anchor="ctr"/>
          <a:lstStyle/>
          <a:p>
            <a:pPr indent="0" marL="0">
              <a:buNone/>
            </a:pPr>
            <a:r>
              <a:rPr lang="en-US" sz="1350" dirty="0">
                <a:solidFill>
                  <a:schemeClr val="accent5"/>
                </a:solidFill>
              </a:rPr>
              <a:t>Basketball or tennis would show whether the framework generalises. The cost is a data pipeline; the algorithms do not change. A two-outcome sport is of particular interest.</a:t>
            </a:r>
            <a:endParaRPr lang="en-US" sz="1350" dirty="0"/>
          </a:p>
        </p:txBody>
      </p:sp>
      <p:sp>
        <p:nvSpPr>
          <p:cNvPr id="11" name="circle-3"/>
          <p:cNvSpPr/>
          <p:nvPr/>
        </p:nvSpPr>
        <p:spPr>
          <a:xfrm>
            <a:off x="640080" y="4800600"/>
            <a:ext cx="566928" cy="566928"/>
          </a:xfrm>
          <a:prstGeom prst="ellipse">
            <a:avLst/>
          </a:prstGeom>
          <a:solidFill>
            <a:schemeClr val="accent1"/>
          </a:solidFill>
          <a:ln/>
        </p:spPr>
      </p:sp>
      <p:sp>
        <p:nvSpPr>
          <p:cNvPr id="12" name="Text 10"/>
          <p:cNvSpPr txBox="1"/>
          <p:nvPr/>
        </p:nvSpPr>
        <p:spPr>
          <a:xfrm>
            <a:off x="640080" y="48006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754880"/>
            <a:ext cx="10058400" cy="411480"/>
          </a:xfrm>
          <a:prstGeom prst="rect">
            <a:avLst/>
          </a:prstGeom>
          <a:noFill/>
          <a:ln/>
        </p:spPr>
        <p:txBody>
          <a:bodyPr wrap="square" lIns="0" tIns="0" rIns="0" bIns="0" rtlCol="0" anchor="ctr"/>
          <a:lstStyle/>
          <a:p>
            <a:pPr indent="0" marL="0">
              <a:buNone/>
            </a:pPr>
            <a:r>
              <a:rPr lang="en-US" sz="1800" b="1" dirty="0">
                <a:solidFill>
                  <a:schemeClr val="tx2"/>
                </a:solidFill>
              </a:rPr>
              <a:t>Bayesian Model Averaging as a baseline</a:t>
            </a:r>
            <a:endParaRPr lang="en-US" sz="1800" dirty="0"/>
          </a:p>
        </p:txBody>
      </p:sp>
      <p:sp>
        <p:nvSpPr>
          <p:cNvPr id="14" name="Text 12"/>
          <p:cNvSpPr txBox="1"/>
          <p:nvPr/>
        </p:nvSpPr>
        <p:spPr>
          <a:xfrm>
            <a:off x="1508760" y="5175504"/>
            <a:ext cx="10058400" cy="1051560"/>
          </a:xfrm>
          <a:prstGeom prst="rect">
            <a:avLst/>
          </a:prstGeom>
          <a:noFill/>
          <a:ln/>
        </p:spPr>
        <p:txBody>
          <a:bodyPr wrap="square" lIns="0" tIns="0" rIns="0" bIns="0" rtlCol="0" anchor="ctr"/>
          <a:lstStyle/>
          <a:p>
            <a:pPr indent="0" marL="0">
              <a:buNone/>
            </a:pPr>
            <a:r>
              <a:rPr lang="en-US" sz="1350" dirty="0">
                <a:solidFill>
                  <a:schemeClr val="accent5"/>
                </a:solidFill>
              </a:rPr>
              <a:t>An empirical point of comparison against the online algorithms, and more light on why the Aggregating Algorithm underperforms here.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700" dirty="0">
                <a:solidFill>
                  <a:srgbClr val="CBD5E1"/>
                </a:solidFill>
              </a:rPr>
              <a:t>Questions</a:t>
            </a:r>
            <a:endParaRPr lang="en-US" sz="1700" dirty="0"/>
          </a:p>
        </p:txBody>
      </p:sp>
    </p:spTree>
  </p:cSld>
  <p:clrMapOvr>
    <a:masterClrMapping/>
  </p:clrMapOvr>
</p:sld>
</file>

<file path=ppt/theme/theme1.xml><?xml version="1.0" encoding="utf-8"?>
<a:theme xmlns:a="http://schemas.openxmlformats.org/drawingml/2006/main" name="OCO Defence">
  <a:themeElements>
    <a:clrScheme name="OCO Defence">
      <a:dk1>
        <a:srgbClr val="111827"/>
      </a:dk1>
      <a:lt1>
        <a:srgbClr val="FFFFFF"/>
      </a:lt1>
      <a:dk2>
        <a:srgbClr val="16213E"/>
      </a:dk2>
      <a:lt2>
        <a:srgbClr val="F2F5F9"/>
      </a:lt2>
      <a:accent1>
        <a:srgbClr val="0F4C81"/>
      </a:accent1>
      <a:accent2>
        <a:srgbClr val="C1121F"/>
      </a:accent2>
      <a:accent3>
        <a:srgbClr val="2F7D5C"/>
      </a:accent3>
      <a:accent4>
        <a:srgbClr val="D98324"/>
      </a:accent4>
      <a:accent5>
        <a:srgbClr val="5C6B8A"/>
      </a:accent5>
      <a:accent6>
        <a:srgbClr val="94A3B8"/>
      </a:accent6>
      <a:hlink>
        <a:srgbClr val="0F4C81"/>
      </a:hlink>
      <a:folHlink>
        <a:srgbClr val="5C6B8A"/>
      </a:folHlink>
    </a:clrScheme>
    <a:fontScheme name="OCO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Convex Optimization based tuning of Mixture of Experts</dc:title>
  <dc:subject>PptxGenJS Presentation</dc:subject>
  <dc:creator>Stefanos Mousadis</dc:creator>
  <cp:lastModifiedBy>Stefanos Mousadis</cp:lastModifiedBy>
  <cp:revision>1</cp:revision>
  <dcterms:created xsi:type="dcterms:W3CDTF">2026-10-04T12:36:57Z</dcterms:created>
  <dcterms:modified xsi:type="dcterms:W3CDTF">2026-10-04T12:36:57Z</dcterms:modified>
</cp:coreProperties>
</file>